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6707" autoAdjust="0"/>
  </p:normalViewPr>
  <p:slideViewPr>
    <p:cSldViewPr snapToGrid="0">
      <p:cViewPr varScale="1">
        <p:scale>
          <a:sx n="74" d="100"/>
          <a:sy n="74" d="100"/>
        </p:scale>
        <p:origin x="195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Bonjour, je suis Kevin, lead full-stack et responsable technique d’Alcide. L’application aide une personne à préparer, retrouver et suivre son entraînement. Mon objectif est de préparer un premier essai avec 5 pratiquants. Je vais montrer comment j’organise la réalisation, comment je traite les difficultés et quels éléments permettront au commanditaire de décider de cette ouverture.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Je présente le projet, l’équipe et notre méthode, puis le planning et le budget. J’explique les choix sur le PDF et l’interface, les risques et les tests, puis le travail en équipe. Après la démonstration de l’application, je termine par l’état du projet et les prochaines étapes.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Je reprends Nina, le persona du bloc 1. Imaginons qu’elle dispose de 30 minutes pour s’entraîner. Elle doit pouvoir demander une séance, la retrouver, la suivre avec le minuteur et renseigner son ressenti.</a:t>
            </a:r>
          </a:p>
          <a:p>
            <a:endParaRPr/>
          </a:p>
          <a:p>
            <a:r>
              <a:t>La connexion, la génération et la sauvegarde constituent la priorité initiale. Les programmes et le suivi enrichissent ensuite ce parcours. C’est ce service que je montrerai dans la démonstration.</a:t>
            </a:r>
          </a:p>
          <a:p>
            <a:endParaRPr/>
          </a:p>
          <a:p>
            <a:r>
              <a:t>Le premier objectif proposé est un pilote avec 5 pratiquants. Leurs essais serviront à comprendre ce qui fonctionne pour eux et ce qu’il faut améliorer. Pour y parvenir, je dois organiser la réalisation et les contrôles. Le PO porte les priorités et le commanditaire arbitre le périmètre.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Je reprends l’équipe fictive du bloc 1. Le PO porte les priorités et les échanges avec le commanditaire. Je coordonne la technique, le développement et la livraison. QA conduit la recette, le référent sécurité contrôle les accès et le référent sport évalue les séances. Le commanditaire, coach ou structure sportive, arbitre et accepte le résultat.</a:t>
            </a:r>
          </a:p>
          <a:p>
            <a:endParaRPr/>
          </a:p>
          <a:p>
            <a:r>
              <a:t>Dans cette mise en situation, la personne chargée de QA est malentendante. Les adaptations sont définies avec elle pour rendre les échanges et la formation accessibles. Ce besoin est distinct du cas de baisse de disponibilité présenté ensuite. Cette équipe répartit donc la réalisation du parcours et les avis nécessaires à son acceptation.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matrice précise qui fait quoi. R réalise le travail, A répond du résultat, S apporte son aide, C donne un avis et I reçoit l’information. Chaque ligne a 1 seul A.</a:t>
            </a:r>
          </a:p>
          <a:p>
            <a:endParaRPr/>
          </a:p>
          <a:p>
            <a:r>
              <a:t>Je porte l’architecture et le développement. QA exécute la recette avec mon appui technique. Le PO rassemble les résultats et les avis. Le commanditaire décide de l’acceptation, puis je réalise la livraison après les contrôles nécessaires.</a:t>
            </a:r>
          </a:p>
          <a:p>
            <a:endParaRPr/>
          </a:p>
          <a:p>
            <a:r>
              <a:t>Cette répartition permet de savoir qui apporte chaque élément nécessaire à la décision du commanditaire.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Je </a:t>
            </a:r>
            <a:r>
              <a:rPr dirty="0" err="1"/>
              <a:t>retiens</a:t>
            </a:r>
            <a:r>
              <a:rPr dirty="0"/>
              <a:t> </a:t>
            </a:r>
            <a:r>
              <a:rPr dirty="0" err="1"/>
              <a:t>une</a:t>
            </a:r>
            <a:r>
              <a:rPr dirty="0"/>
              <a:t> démarche par </a:t>
            </a:r>
            <a:r>
              <a:rPr dirty="0" err="1"/>
              <a:t>incréments</a:t>
            </a:r>
            <a:r>
              <a:rPr dirty="0"/>
              <a:t>, avec un tableau Kanban pour </a:t>
            </a:r>
            <a:r>
              <a:rPr dirty="0" err="1"/>
              <a:t>suivre</a:t>
            </a:r>
            <a:r>
              <a:rPr dirty="0"/>
              <a:t> le travail. Les petits lots </a:t>
            </a:r>
            <a:r>
              <a:rPr dirty="0" err="1"/>
              <a:t>permettent</a:t>
            </a:r>
            <a:r>
              <a:rPr dirty="0"/>
              <a:t> de </a:t>
            </a:r>
            <a:r>
              <a:rPr dirty="0" err="1"/>
              <a:t>vérifier</a:t>
            </a:r>
            <a:r>
              <a:rPr dirty="0"/>
              <a:t> </a:t>
            </a:r>
            <a:r>
              <a:rPr dirty="0" err="1"/>
              <a:t>rapidement</a:t>
            </a:r>
            <a:r>
              <a:rPr dirty="0"/>
              <a:t> </a:t>
            </a:r>
            <a:r>
              <a:rPr dirty="0" err="1"/>
              <a:t>une</a:t>
            </a:r>
            <a:r>
              <a:rPr dirty="0"/>
              <a:t> </a:t>
            </a:r>
            <a:r>
              <a:rPr dirty="0" err="1"/>
              <a:t>partie</a:t>
            </a:r>
            <a:r>
              <a:rPr dirty="0"/>
              <a:t> du </a:t>
            </a:r>
            <a:r>
              <a:rPr dirty="0" err="1"/>
              <a:t>parcours</a:t>
            </a:r>
            <a:r>
              <a:rPr dirty="0"/>
              <a:t> et </a:t>
            </a:r>
            <a:r>
              <a:rPr dirty="0" err="1"/>
              <a:t>d’ajuster</a:t>
            </a:r>
            <a:r>
              <a:rPr dirty="0"/>
              <a:t> les </a:t>
            </a:r>
            <a:r>
              <a:rPr dirty="0" err="1"/>
              <a:t>résultats</a:t>
            </a:r>
            <a:r>
              <a:rPr dirty="0"/>
              <a:t> de </a:t>
            </a:r>
            <a:r>
              <a:rPr dirty="0" err="1"/>
              <a:t>l’IA</a:t>
            </a:r>
            <a:r>
              <a:rPr dirty="0"/>
              <a:t>. Les </a:t>
            </a:r>
            <a:r>
              <a:rPr dirty="0" err="1"/>
              <a:t>colonnes</a:t>
            </a:r>
            <a:r>
              <a:rPr dirty="0"/>
              <a:t> </a:t>
            </a:r>
            <a:r>
              <a:rPr dirty="0" err="1"/>
              <a:t>montrent</a:t>
            </a:r>
            <a:r>
              <a:rPr dirty="0"/>
              <a:t> le travail à faire, </a:t>
            </a:r>
            <a:r>
              <a:rPr dirty="0" err="1"/>
              <a:t>en</a:t>
            </a:r>
            <a:r>
              <a:rPr dirty="0"/>
              <a:t> </a:t>
            </a:r>
            <a:r>
              <a:rPr dirty="0" err="1"/>
              <a:t>cours</a:t>
            </a:r>
            <a:r>
              <a:rPr dirty="0"/>
              <a:t> et </a:t>
            </a:r>
            <a:r>
              <a:rPr dirty="0" err="1"/>
              <a:t>terminé</a:t>
            </a:r>
            <a:r>
              <a:rPr dirty="0"/>
              <a:t>.</a:t>
            </a:r>
          </a:p>
          <a:p>
            <a:endParaRPr dirty="0"/>
          </a:p>
          <a:p>
            <a:r>
              <a:rPr dirty="0"/>
              <a:t>GitHub Projects </a:t>
            </a:r>
            <a:r>
              <a:rPr dirty="0" err="1"/>
              <a:t>relie</a:t>
            </a:r>
            <a:r>
              <a:rPr dirty="0"/>
              <a:t> </a:t>
            </a:r>
            <a:r>
              <a:rPr dirty="0" err="1"/>
              <a:t>chaque</a:t>
            </a:r>
            <a:r>
              <a:rPr dirty="0"/>
              <a:t> </a:t>
            </a:r>
            <a:r>
              <a:rPr dirty="0" err="1"/>
              <a:t>tâche</a:t>
            </a:r>
            <a:r>
              <a:rPr dirty="0"/>
              <a:t> à </a:t>
            </a:r>
            <a:r>
              <a:rPr dirty="0" err="1"/>
              <a:t>ses</a:t>
            </a:r>
            <a:r>
              <a:rPr dirty="0"/>
              <a:t> </a:t>
            </a:r>
            <a:r>
              <a:rPr dirty="0" err="1"/>
              <a:t>résultats</a:t>
            </a:r>
            <a:r>
              <a:rPr dirty="0"/>
              <a:t>, </a:t>
            </a:r>
            <a:r>
              <a:rPr dirty="0" err="1"/>
              <a:t>ses</a:t>
            </a:r>
            <a:r>
              <a:rPr dirty="0"/>
              <a:t> </a:t>
            </a:r>
            <a:r>
              <a:rPr dirty="0" err="1"/>
              <a:t>blocages</a:t>
            </a:r>
            <a:r>
              <a:rPr dirty="0"/>
              <a:t> et </a:t>
            </a:r>
            <a:r>
              <a:rPr dirty="0" err="1"/>
              <a:t>sa</a:t>
            </a:r>
            <a:r>
              <a:rPr dirty="0"/>
              <a:t> </a:t>
            </a:r>
            <a:r>
              <a:rPr dirty="0" err="1"/>
              <a:t>prochaine</a:t>
            </a:r>
            <a:r>
              <a:rPr dirty="0"/>
              <a:t> </a:t>
            </a:r>
            <a:r>
              <a:rPr dirty="0" err="1"/>
              <a:t>décision</a:t>
            </a:r>
            <a:r>
              <a:rPr dirty="0"/>
              <a:t>. Le </a:t>
            </a:r>
            <a:r>
              <a:rPr dirty="0" err="1"/>
              <a:t>dépôt</a:t>
            </a:r>
            <a:r>
              <a:rPr dirty="0"/>
              <a:t> </a:t>
            </a:r>
            <a:r>
              <a:rPr dirty="0" err="1"/>
              <a:t>partagé</a:t>
            </a:r>
            <a:r>
              <a:rPr dirty="0"/>
              <a:t> conserve le code, les guides, les rapports et les </a:t>
            </a:r>
            <a:r>
              <a:rPr dirty="0" err="1"/>
              <a:t>comptes</a:t>
            </a:r>
            <a:r>
              <a:rPr dirty="0"/>
              <a:t> </a:t>
            </a:r>
            <a:r>
              <a:rPr dirty="0" err="1"/>
              <a:t>rendus</a:t>
            </a:r>
            <a:r>
              <a:rPr dirty="0"/>
              <a:t>. </a:t>
            </a:r>
            <a:r>
              <a:rPr dirty="0" err="1"/>
              <a:t>L’équipe</a:t>
            </a:r>
            <a:r>
              <a:rPr dirty="0"/>
              <a:t> </a:t>
            </a:r>
            <a:r>
              <a:rPr dirty="0" err="1"/>
              <a:t>retrouve</a:t>
            </a:r>
            <a:r>
              <a:rPr dirty="0"/>
              <a:t> </a:t>
            </a:r>
            <a:r>
              <a:rPr dirty="0" err="1"/>
              <a:t>ainsi</a:t>
            </a:r>
            <a:r>
              <a:rPr dirty="0"/>
              <a:t> la </a:t>
            </a:r>
            <a:r>
              <a:rPr dirty="0" err="1"/>
              <a:t>même</a:t>
            </a:r>
            <a:r>
              <a:rPr dirty="0"/>
              <a:t> version des </a:t>
            </a:r>
            <a:r>
              <a:rPr dirty="0" err="1"/>
              <a:t>ressources</a:t>
            </a:r>
            <a:r>
              <a:rPr dirty="0"/>
              <a:t>.</a:t>
            </a:r>
          </a:p>
          <a:p>
            <a:endParaRPr dirty="0"/>
          </a:p>
          <a:p>
            <a:r>
              <a:rPr dirty="0"/>
              <a:t>Je propose </a:t>
            </a:r>
            <a:r>
              <a:rPr dirty="0" err="1"/>
              <a:t>une</a:t>
            </a:r>
            <a:r>
              <a:rPr dirty="0"/>
              <a:t> mise à jour </a:t>
            </a:r>
            <a:r>
              <a:rPr dirty="0" err="1"/>
              <a:t>écrite</a:t>
            </a:r>
            <a:r>
              <a:rPr dirty="0"/>
              <a:t> </a:t>
            </a:r>
            <a:r>
              <a:rPr dirty="0" err="1"/>
              <a:t>chaque</a:t>
            </a:r>
            <a:r>
              <a:rPr dirty="0"/>
              <a:t> jour avant 10 h. Le </a:t>
            </a:r>
            <a:r>
              <a:rPr dirty="0" err="1"/>
              <a:t>mardi</a:t>
            </a:r>
            <a:r>
              <a:rPr dirty="0"/>
              <a:t> et le </a:t>
            </a:r>
            <a:r>
              <a:rPr dirty="0" err="1"/>
              <a:t>jeudi</a:t>
            </a:r>
            <a:r>
              <a:rPr dirty="0"/>
              <a:t>, le PO, QA et moi </a:t>
            </a:r>
            <a:r>
              <a:rPr dirty="0" err="1"/>
              <a:t>traitons</a:t>
            </a:r>
            <a:r>
              <a:rPr dirty="0"/>
              <a:t> les </a:t>
            </a:r>
            <a:r>
              <a:rPr dirty="0" err="1"/>
              <a:t>blocages</a:t>
            </a:r>
            <a:r>
              <a:rPr dirty="0"/>
              <a:t> pendant 15 minutes. Le </a:t>
            </a:r>
            <a:r>
              <a:rPr dirty="0" err="1"/>
              <a:t>vendredi</a:t>
            </a:r>
            <a:r>
              <a:rPr dirty="0"/>
              <a:t>, </a:t>
            </a:r>
            <a:r>
              <a:rPr dirty="0" err="1"/>
              <a:t>une</a:t>
            </a:r>
            <a:r>
              <a:rPr dirty="0"/>
              <a:t> revue de 30 minutes examine la charge, les </a:t>
            </a:r>
            <a:r>
              <a:rPr dirty="0" err="1"/>
              <a:t>risques</a:t>
            </a:r>
            <a:r>
              <a:rPr dirty="0"/>
              <a:t> et les </a:t>
            </a:r>
            <a:r>
              <a:rPr dirty="0" err="1"/>
              <a:t>décisions</a:t>
            </a:r>
            <a:r>
              <a:rPr dirty="0"/>
              <a:t>, avec les </a:t>
            </a:r>
            <a:r>
              <a:rPr dirty="0" err="1"/>
              <a:t>référents</a:t>
            </a:r>
            <a:r>
              <a:rPr dirty="0"/>
              <a:t> </a:t>
            </a:r>
            <a:r>
              <a:rPr dirty="0" err="1"/>
              <a:t>concernés</a:t>
            </a:r>
            <a:r>
              <a:rPr dirty="0"/>
              <a:t> et le commanditaire </a:t>
            </a:r>
            <a:r>
              <a:rPr dirty="0" err="1"/>
              <a:t>si</a:t>
            </a:r>
            <a:r>
              <a:rPr dirty="0"/>
              <a:t> un arbitrage est </a:t>
            </a:r>
            <a:r>
              <a:rPr dirty="0" err="1"/>
              <a:t>nécessaire</a:t>
            </a:r>
            <a:r>
              <a:rPr dirty="0"/>
              <a:t>.</a:t>
            </a:r>
          </a:p>
          <a:p>
            <a:endParaRPr dirty="0"/>
          </a:p>
          <a:p>
            <a:r>
              <a:rPr dirty="0" err="1"/>
              <a:t>Chaque</a:t>
            </a:r>
            <a:r>
              <a:rPr dirty="0"/>
              <a:t> point </a:t>
            </a:r>
            <a:r>
              <a:rPr dirty="0" err="1"/>
              <a:t>produit</a:t>
            </a:r>
            <a:r>
              <a:rPr dirty="0"/>
              <a:t> des cartes </a:t>
            </a:r>
            <a:r>
              <a:rPr dirty="0" err="1"/>
              <a:t>actualisées</a:t>
            </a:r>
            <a:r>
              <a:rPr dirty="0"/>
              <a:t> et un compte </a:t>
            </a:r>
            <a:r>
              <a:rPr dirty="0" err="1"/>
              <a:t>rendu</a:t>
            </a:r>
            <a:r>
              <a:rPr dirty="0"/>
              <a:t> avec </a:t>
            </a:r>
            <a:r>
              <a:rPr dirty="0" err="1"/>
              <a:t>responsable</a:t>
            </a:r>
            <a:r>
              <a:rPr dirty="0"/>
              <a:t> et prochain </a:t>
            </a:r>
            <a:r>
              <a:rPr dirty="0" err="1"/>
              <a:t>contrôle</a:t>
            </a:r>
            <a:r>
              <a:rPr dirty="0"/>
              <a:t>. Cette cadence </a:t>
            </a:r>
            <a:r>
              <a:rPr dirty="0" err="1"/>
              <a:t>organise</a:t>
            </a:r>
            <a:r>
              <a:rPr dirty="0"/>
              <a:t> </a:t>
            </a:r>
            <a:r>
              <a:rPr dirty="0" err="1"/>
              <a:t>l’équipe</a:t>
            </a:r>
            <a:r>
              <a:rPr dirty="0"/>
              <a:t> du </a:t>
            </a:r>
            <a:r>
              <a:rPr dirty="0" err="1"/>
              <a:t>scénario</a:t>
            </a:r>
            <a:r>
              <a:rPr dirty="0"/>
              <a:t>. La trace disponible est la consolidation </a:t>
            </a:r>
            <a:r>
              <a:rPr dirty="0" err="1"/>
              <a:t>documentaire</a:t>
            </a:r>
            <a:r>
              <a:rPr dirty="0"/>
              <a:t> du 14 </a:t>
            </a:r>
            <a:r>
              <a:rPr dirty="0" err="1"/>
              <a:t>septembre</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Cette </a:t>
            </a:r>
            <a:r>
              <a:rPr dirty="0" err="1"/>
              <a:t>tâche</a:t>
            </a:r>
            <a:r>
              <a:rPr dirty="0"/>
              <a:t> </a:t>
            </a:r>
            <a:r>
              <a:rPr dirty="0" err="1"/>
              <a:t>donne</a:t>
            </a:r>
            <a:r>
              <a:rPr dirty="0"/>
              <a:t> un </a:t>
            </a:r>
            <a:r>
              <a:rPr dirty="0" err="1"/>
              <a:t>résultat</a:t>
            </a:r>
            <a:r>
              <a:rPr dirty="0"/>
              <a:t> </a:t>
            </a:r>
            <a:r>
              <a:rPr dirty="0" err="1"/>
              <a:t>attendu</a:t>
            </a:r>
            <a:r>
              <a:rPr dirty="0"/>
              <a:t> précis : </a:t>
            </a:r>
            <a:r>
              <a:rPr dirty="0" err="1"/>
              <a:t>une</a:t>
            </a:r>
            <a:r>
              <a:rPr dirty="0"/>
              <a:t> séance </a:t>
            </a:r>
            <a:r>
              <a:rPr dirty="0" err="1"/>
              <a:t>structurée</a:t>
            </a:r>
            <a:r>
              <a:rPr dirty="0"/>
              <a:t>, </a:t>
            </a:r>
            <a:r>
              <a:rPr dirty="0" err="1"/>
              <a:t>enregistrée</a:t>
            </a:r>
            <a:r>
              <a:rPr dirty="0"/>
              <a:t> pour le bon </a:t>
            </a:r>
            <a:r>
              <a:rPr dirty="0" err="1"/>
              <a:t>utilisateur</a:t>
            </a:r>
            <a:r>
              <a:rPr dirty="0"/>
              <a:t> et consultable ensuite. Je </a:t>
            </a:r>
            <a:r>
              <a:rPr dirty="0" err="1"/>
              <a:t>réalise</a:t>
            </a:r>
            <a:r>
              <a:rPr dirty="0"/>
              <a:t> </a:t>
            </a:r>
            <a:r>
              <a:rPr dirty="0" err="1"/>
              <a:t>l’intégration</a:t>
            </a:r>
            <a:r>
              <a:rPr dirty="0"/>
              <a:t>. QA </a:t>
            </a:r>
            <a:r>
              <a:rPr dirty="0" err="1"/>
              <a:t>vérifie</a:t>
            </a:r>
            <a:r>
              <a:rPr dirty="0"/>
              <a:t> le </a:t>
            </a:r>
            <a:r>
              <a:rPr dirty="0" err="1"/>
              <a:t>parcours</a:t>
            </a:r>
            <a:r>
              <a:rPr dirty="0"/>
              <a:t> et les </a:t>
            </a:r>
            <a:r>
              <a:rPr dirty="0" err="1"/>
              <a:t>référents</a:t>
            </a:r>
            <a:r>
              <a:rPr dirty="0"/>
              <a:t> </a:t>
            </a:r>
            <a:r>
              <a:rPr dirty="0" err="1"/>
              <a:t>apportent</a:t>
            </a:r>
            <a:r>
              <a:rPr dirty="0"/>
              <a:t> </a:t>
            </a:r>
            <a:r>
              <a:rPr dirty="0" err="1"/>
              <a:t>leurs</a:t>
            </a:r>
            <a:r>
              <a:rPr dirty="0"/>
              <a:t> avis.</a:t>
            </a:r>
          </a:p>
          <a:p>
            <a:endParaRPr dirty="0"/>
          </a:p>
          <a:p>
            <a:r>
              <a:rPr dirty="0"/>
              <a:t>Le planning </a:t>
            </a:r>
            <a:r>
              <a:rPr dirty="0" err="1"/>
              <a:t>reconstitué</a:t>
            </a:r>
            <a:r>
              <a:rPr dirty="0"/>
              <a:t> </a:t>
            </a:r>
            <a:r>
              <a:rPr dirty="0" err="1"/>
              <a:t>situe</a:t>
            </a:r>
            <a:r>
              <a:rPr dirty="0"/>
              <a:t> le travail du 24 </a:t>
            </a:r>
            <a:r>
              <a:rPr dirty="0" err="1"/>
              <a:t>avril</a:t>
            </a:r>
            <a:r>
              <a:rPr dirty="0"/>
              <a:t> au 4 </a:t>
            </a:r>
            <a:r>
              <a:rPr dirty="0" err="1"/>
              <a:t>mai</a:t>
            </a:r>
            <a:r>
              <a:rPr dirty="0"/>
              <a:t>. Les premiers </a:t>
            </a:r>
            <a:r>
              <a:rPr dirty="0" err="1"/>
              <a:t>résultats</a:t>
            </a:r>
            <a:r>
              <a:rPr dirty="0"/>
              <a:t> techniques </a:t>
            </a:r>
            <a:r>
              <a:rPr dirty="0" err="1"/>
              <a:t>sont</a:t>
            </a:r>
            <a:r>
              <a:rPr dirty="0"/>
              <a:t> </a:t>
            </a:r>
            <a:r>
              <a:rPr dirty="0" err="1"/>
              <a:t>datés</a:t>
            </a:r>
            <a:r>
              <a:rPr dirty="0"/>
              <a:t> du 13 </a:t>
            </a:r>
            <a:r>
              <a:rPr dirty="0" err="1"/>
              <a:t>avril</a:t>
            </a:r>
            <a:r>
              <a:rPr dirty="0"/>
              <a:t>. Je distingue </a:t>
            </a:r>
            <a:r>
              <a:rPr dirty="0" err="1"/>
              <a:t>donc</a:t>
            </a:r>
            <a:r>
              <a:rPr dirty="0"/>
              <a:t> la </a:t>
            </a:r>
            <a:r>
              <a:rPr dirty="0" err="1"/>
              <a:t>période</a:t>
            </a:r>
            <a:r>
              <a:rPr dirty="0"/>
              <a:t> </a:t>
            </a:r>
            <a:r>
              <a:rPr dirty="0" err="1"/>
              <a:t>prévue</a:t>
            </a:r>
            <a:r>
              <a:rPr dirty="0"/>
              <a:t> des dates </a:t>
            </a:r>
            <a:r>
              <a:rPr dirty="0" err="1"/>
              <a:t>réelles</a:t>
            </a:r>
            <a:r>
              <a:rPr dirty="0"/>
              <a:t> des </a:t>
            </a:r>
            <a:r>
              <a:rPr dirty="0" err="1"/>
              <a:t>preuves</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calendrier initial va du cadrage à la stabilisation, d’avril à août. Le Gantt donne une vue des phases et des jalons. Le détail des tâches précise les dépendances. Il complète le Kanban utilisé pour suivre le travail quotidien.</a:t>
            </a:r>
          </a:p>
          <a:p>
            <a:endParaRPr/>
          </a:p>
          <a:p>
            <a:r>
              <a:t>L’étude du besoin précède la conception et la réalisation. Les contrôles mesurent la qualité et les revues présentent le résultat. À chaque jalon, le PO vérifie les critères et le commanditaire arbitre l’acceptation du lot.</a:t>
            </a:r>
          </a:p>
          <a:p>
            <a:endParaRPr/>
          </a:p>
          <a:p>
            <a:r>
              <a:t>Je vérifie la disponibilité avant chaque affectation. La cible est de 80 % du créneau réservé. Mes 11 jours sur le socle demandent donc 13,75 jours disponibles.</a:t>
            </a:r>
          </a:p>
          <a:p>
            <a:endParaRPr/>
          </a:p>
          <a:p>
            <a:r>
              <a:t>L’équipe utilise des ordinateurs, un navigateur, le dépôt partagé et des environnements de test et de production, avec la base de données et le service IA. S05 détaille les supports accessibles, les outils et la formation QA : 14 heures collectives, soit 2 jours-homme inclus dans les 81 jours. Les dates de septembre organisent la suite proposée.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 détail montre les 16 tâches produit et leurs dépendances. La génération dépend de l’API et de l’enregistrement des données. Les contrôles précèdent la livraison. Les programmes et le suivi complètent ensuite le service.</a:t>
            </a:r>
          </a:p>
          <a:p>
            <a:endParaRPr/>
          </a:p>
          <a:p>
            <a:r>
              <a:t>Je conserve les dates historiques. Pour piloter la suite, je regarde le résultat attendu, les blocages et le travail restant, au-delà du nombre de cartes terminées.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Les 81 jours-homme représentent 567 heures, à raison de 7 heures par jour. Avec un taux moyen de 450 € HT, la valeur du travail atteint 36 450 € HT. Mes 40 jours représentent par exemple 18 000 € HT.</a:t>
            </a:r>
          </a:p>
          <a:p>
            <a:endParaRPr/>
          </a:p>
          <a:p>
            <a:r>
              <a:t>La réserve de 15 % est arrondie à 5 468 €. Avec 900 € d’accompagnement externe, le budget prévisionnel atteint 42 818 € HT. Le travail de déploiement de l’équipe est déjà compris dans les jours prévus.</a:t>
            </a:r>
          </a:p>
          <a:p>
            <a:endParaRPr/>
          </a:p>
          <a:p>
            <a:r>
              <a:t>Je distingue cette estimation des dépenses réellement constatées. Pour calculer un écart réel, il faut les temps consommés et les justificatifs de coût. La réserve finance seulement un écart autorisé.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Chaque ligne donne la charge d’une phase et chaque colonne celle d’un profil. Le total reste de 81 jours-homme : 40 pour moi, 16 pour QA, 10 pour le PO, 10 pour la sécurité et 5 pour le sport.</a:t>
            </a:r>
          </a:p>
          <a:p>
            <a:endParaRPr/>
          </a:p>
          <a:p>
            <a:r>
              <a:t>Les échanges, les contrôles et les actions de développement détaillent cette enveloppe. La préparation accessible de QA est affectée aux lots existants, sans recompter ces heures.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parcours de Nina permet déjà de consulter sa séance dans l’application. Le commanditaire souhaite avancer l’export PDF avant le pilote. Cette option existait dans le bloc 1, hors du lot prioritaire. Je l’estime à 2 jours de développement et 1 jour de tests, soit 1 350 € HT.</a:t>
            </a:r>
          </a:p>
          <a:p>
            <a:endParaRPr/>
          </a:p>
          <a:p>
            <a:r>
              <a:t>Je recommande de terminer les contrôles et les conditions d’ouverture du parcours existant. Le PO présente les conséquences. Dans le scénario, le commanditaire conserve le report du PDF après les retours du pilote. La décision CHG-PDF-01 maintient la base de 81 jours et 42 818 € HT, sans mobiliser la réserve.</a:t>
            </a:r>
          </a:p>
          <a:p>
            <a:endParaRPr/>
          </a:p>
          <a:p>
            <a:r>
              <a:t>Le compte rendu du 14 septembre conserve la demande, l’estimation, la décision et son responsable. Le PO réexamine l’utilité du PDF au bilan proposé du 28 septembre. Si le besoin est confirmé, QA et moi réestimons le travail, puis le commanditaire arbitre.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Nina doit comprendre comment préparer son entraînement. Lors de la revue du 23 juillet, le formulaire présentait le modèle d’IA, un coût estimé et une pastille Sortie. La page Coach exposait aussi la configuration du moteur.</a:t>
            </a:r>
          </a:p>
          <a:p>
            <a:endParaRPr/>
          </a:p>
          <a:p>
            <a:r>
              <a:t>Je présente 2 options : conserver ces réglages avec leurs explications, ou centrer l’écran sur l’entraînement. Je retiens la simplification. Les informations utiles à l’objectif, à la durée et aux contraintes restent dans le parcours. L’équipe gère la configuration côté serveur.</a:t>
            </a:r>
          </a:p>
          <a:p>
            <a:endParaRPr/>
          </a:p>
          <a:p>
            <a:r>
              <a:t>Le logigramme montre la décision et son contrôle. Dans l’organisation d’équipe, QA vérifie Génération et Coach. Si un critère échoue, je corrige puis QA rejoue le cas. Sinon, le résultat est consigné. Le pilote permettra ensuite d’évaluer la compréhension. Le compromis est que l’équipe prend en charge les réglages techniques.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L’écran du 21 juillet montre les pastilles Modèle, Estimé et Sortie. Celui du 11 septembre présente un état ultérieur, avec une autre présentation graphique. Je compare les informations proposées à l’utilisateur.</a:t>
            </a:r>
          </a:p>
          <a:p>
            <a:endParaRPr/>
          </a:p>
          <a:p>
            <a:r>
              <a:t>La recette du 23 juillet confirme leur retrait sur Génération et Coach, sans erreur console. Les 261 tests réussissent. Aucune génération n’est lancée pendant cette contre-recette. Le pilote permettra ensuite d’évaluer la compréhension des utilisateurs.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Pour que Nina retrouve sa séance et puisse la suivre, je relie chaque risque à un signal et à une action. Au-delà de 5 % de réponses IA rejetées, j’analyse les erreurs avec QA et le référent sport. Je corrige, puis QA reteste.</a:t>
            </a:r>
          </a:p>
          <a:p>
            <a:endParaRPr/>
          </a:p>
          <a:p>
            <a:r>
              <a:t>Le repère de coût IA est fixé à 70 % d’une enveloppe de 20 € par mois, soit 14 €. Je vérifie aussi la projection de fin de mois.</a:t>
            </a:r>
          </a:p>
          <a:p>
            <a:endParaRPr/>
          </a:p>
          <a:p>
            <a:r>
              <a:t>Un défaut d’accès aux données bloque la livraison concernée. Si une migration échoue, j’applique la procédure de reprise et QA vérifie le parcours. Chaque résultat garde sa date et le lot concerné.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Je reviens sur un incident technique du 13 avril : la couverture atteint 54,21 %, sous le seuil de 70 %. Les tests unitaires fonctionnent alors sans PostgreSQL. J’ajoute 17 tests et je retire du calcul des fichiers d’accès aux données et des routes. Le résultat atteint 96,08 % sur un périmètre plus petit.</a:t>
            </a:r>
          </a:p>
          <a:p>
            <a:endParaRPr/>
          </a:p>
          <a:p>
            <a:r>
              <a:t>Il reste alors à vérifier les échanges avec la base de données. Le 20 juillet, les tests d’intégration PostgreSQL réussissent à 8 sur 8, localement après correction. Au 7 septembre, les 261 tests unitaires réussissent.</a:t>
            </a:r>
          </a:p>
          <a:p>
            <a:endParaRPr/>
          </a:p>
          <a:p>
            <a:r>
              <a:t>Dans l’équipe, je corrige et documente le périmètre, puis QA refait les tests. Le PO suit les tests restant à faire. Si leur réalisation change le délai ou le contenu de la livraison, le commanditaire décide. Ces preuves datées complètent la recette du parcours. Elles ne mesurent pas encore l’expérience des pratiquants.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 cas se situe dans la planification fictive d’un lot, avant son engagement. Il montre comment je réagis à une disponibilité QA de 1 jour au lieu de 2. Cette contrainte est indépendante de sa malentendance. À 80 % du créneau, je peux planifier 0,8 jour-homme de contrôles.</a:t>
            </a:r>
          </a:p>
          <a:p>
            <a:endParaRPr/>
          </a:p>
          <a:p>
            <a:r>
              <a:t>Avec QA et le PO, je conserve 0,35 jour pour le parcours connecté et la sauvegarde, 0,25 pour les accès et 0,20 pour le clavier. Nous proposons de reporter les évolutions des filtres et du tableau de bord avec leurs tests. Le commanditaire arbitre le lot. Ce cas explique une règle d’affectation. Le tableau de bord existe dans la version actuelle.</a:t>
            </a:r>
          </a:p>
          <a:p>
            <a:endParaRPr/>
          </a:p>
          <a:p>
            <a:r>
              <a:t>Mon style est participatif pour chercher une solution avec QA, directif sur les contrôles indispensables, puis délégatif quand QA organise et exécute les cas.</a:t>
            </a:r>
          </a:p>
          <a:p>
            <a:endParaRPr/>
          </a:p>
          <a:p>
            <a:r>
              <a:t>Ma limite est de vouloir résoudre trop vite le problème technique. Je prévois donc un point intermédiaire : QA reformule sa mission, signale ses blocages et propose ses ajustements. Je vérifie les résultats avant de reprendre une tâche à sa place.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mission de QA est de vérifier le parcours avec autonomie. Je définis les adaptations avec elle et je vérifie qu’elles lui conviennent.</a:t>
            </a:r>
          </a:p>
          <a:p>
            <a:endParaRPr/>
          </a:p>
          <a:p>
            <a:r>
              <a:t>Pour les consignes, je fournis un objectif écrit, les étapes et le résultat attendu. QA reformule la tâche. Pour les réunions, je prévois l’ordre du jour, les sous-titres, le chat et 1 personne qui parle à la fois. Le compte rendu permet de retrouver les décisions.</a:t>
            </a:r>
          </a:p>
          <a:p>
            <a:endParaRPr/>
          </a:p>
          <a:p>
            <a:r>
              <a:t>Les supports de formation arrivent avant la séance. Les démonstrations ont des sous-titres et une transcription. QA avance à son rythme, puis réalise l’exercice pratique. Le PO recueille son retour pour ajuster les moyens. La compétence se mesure au résultat du travail, séparément de l’accessibilité.</a:t>
            </a:r>
          </a:p>
          <a:p>
            <a:endParaRPr/>
          </a:p>
          <a:p>
            <a:r>
              <a:t>Si l’équipe travaille avec d’autres langues ou fuseaux horaires, je partage un glossaire français-anglais, des horaires explicites et une synthèse écrite. Je fais reformuler les attentes et je vérifie les disponibilités. Ces modalités facilitent les échanges dans un contexte multiculturel sans supposer que chacun interprète les consignes de la même façon.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Dans ce scénario, je prévois un accompagnement adapté aux compétences à développer. L’objectif est que chacun puisse réaliser sa mission en autonomie. Le niveau initial 2 signifie réaliser une tâche délimitée. Le niveau visé 3 signifie préparer, réaliser et vérifier la mission complète. Ce positionnement sera confirmé par un exercice.</a:t>
            </a:r>
          </a:p>
          <a:p>
            <a:endParaRPr/>
          </a:p>
          <a:p>
            <a:r>
              <a:t>Les besoins concernent le budget pour le PO, la transmission du projet pour moi, les tests pour QA, les accès pour la sécurité et l’évaluation des séances pour le sport.</a:t>
            </a:r>
          </a:p>
          <a:p>
            <a:endParaRPr/>
          </a:p>
          <a:p>
            <a:r>
              <a:t>Prenons QA : l’atelier de 7 h porte sur la préparation des tests, leur exécution et la vérification d’une correction. Les consignes sont écrites et la démonstration sous-titrée, avec des adaptations définies avec elle.</a:t>
            </a:r>
          </a:p>
          <a:p>
            <a:endParaRPr/>
          </a:p>
          <a:p>
            <a:r>
              <a:t>Pour vérifier les acquis, je prévois un exercice : tester un parcours, décrire une anomalie et vérifier sa correction. Le PO et le référent sécurité examinent les résultats. Si une difficulté persiste, nous prévoyons du tutorat et un nouvel essai, puis un renfort si nécessaire. Le PO transmet le besoin aux RH et le commanditaire décide du renfort après chiffrage.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[Afficher le site de production et la session de démonstration. Relever les compteurs avant l’essai.]</a:t>
            </a:r>
          </a:p>
          <a:p>
            <a:endParaRPr/>
          </a:p>
          <a:p>
            <a:r>
              <a:t>Je reprends le besoin de Nina annoncé au départ : demander une séance, la retrouver, puis utiliser les fonctions de suivi. Je commence par choisir l’objectif et la durée de l’entraînement.</a:t>
            </a:r>
          </a:p>
          <a:p>
            <a:endParaRPr/>
          </a:p>
          <a:p>
            <a:r>
              <a:t>[Renseigner le formulaire. Lancer 1 génération et attendre la réponse.]</a:t>
            </a:r>
          </a:p>
          <a:p>
            <a:endParaRPr/>
          </a:p>
          <a:p>
            <a:r>
              <a:t>Je lance la génération. Je vais vérifier la durée, les différentes phases et les consignes de la séance obtenue.</a:t>
            </a:r>
          </a:p>
          <a:p>
            <a:endParaRPr/>
          </a:p>
          <a:p>
            <a:r>
              <a:t>[Si la génération réussit, commenter le résultat affiché, puis ouvrir la liste des séances.]</a:t>
            </a:r>
          </a:p>
          <a:p>
            <a:endParaRPr/>
          </a:p>
          <a:p>
            <a:r>
              <a:t>L’enregistrement fait partie du parcours de génération. Je vérifie maintenant que la séance apparaît dans la liste, puis je la rouvre après actualisation. Cela permet de contrôler qu’elle a bien été conservée.</a:t>
            </a:r>
          </a:p>
          <a:p>
            <a:endParaRPr/>
          </a:p>
          <a:p>
            <a:r>
              <a:t>[Retrouver la séance, actualiser, puis ouvrir son détail.]</a:t>
            </a:r>
          </a:p>
          <a:p>
            <a:endParaRPr/>
          </a:p>
          <a:p>
            <a:r>
              <a:t>Je démarre le minuteur, je le mets en pause et je le reprends. Je passe ensuite les phases avec les commandes de l’application.</a:t>
            </a:r>
          </a:p>
          <a:p>
            <a:endParaRPr/>
          </a:p>
          <a:p>
            <a:r>
              <a:t>[Utiliser le minuteur, puis ouvrir le retour de séance.]</a:t>
            </a:r>
          </a:p>
          <a:p>
            <a:endParaRPr/>
          </a:p>
          <a:p>
            <a:r>
              <a:t>J’enregistre un ressenti d’exemple de 6/10. J’ajoute une note indiquant qu’il s’agit d’un essai de démonstration.</a:t>
            </a:r>
          </a:p>
          <a:p>
            <a:endParaRPr/>
          </a:p>
          <a:p>
            <a:r>
              <a:t>[Attendre la confirmation, puis ouvrir le suivi.]</a:t>
            </a:r>
          </a:p>
          <a:p>
            <a:endParaRPr/>
          </a:p>
          <a:p>
            <a:r>
              <a:t>Je vérifie que le retour est consultable et je compare le suivi à son état de départ. Les valeurs affichées peuvent aussi comprendre les essais précédents.</a:t>
            </a:r>
          </a:p>
          <a:p>
            <a:endParaRPr/>
          </a:p>
          <a:p>
            <a:r>
              <a:t>[Ouvrir le programme de démonstration préparé, puis une séance.]</a:t>
            </a:r>
          </a:p>
          <a:p>
            <a:endParaRPr/>
          </a:p>
          <a:p>
            <a:r>
              <a:t>Le programme permet d’organiser les séances dans le temps. Je passe d’une semaine à l’autre et j’ouvre une séance pour montrer la continuité du parcours.</a:t>
            </a:r>
          </a:p>
          <a:p>
            <a:endParaRPr/>
          </a:p>
          <a:p>
            <a:r>
              <a:t>Le crédit utilisé dans l’application est distinct du coût facturé par le fournisseur d’IA. Pour connaître le coût de cette génération, je dois consulter le relevé d’usage correspondant.</a:t>
            </a:r>
          </a:p>
          <a:p>
            <a:endParaRPr/>
          </a:p>
          <a:p>
            <a:r>
              <a:t>[Revenir au diaporama.]</a:t>
            </a:r>
          </a:p>
          <a:p>
            <a:endParaRPr/>
          </a:p>
          <a:p>
            <a:r>
              <a:t>Je reviens maintenant aux critères qui permettent de décider de la suite.</a:t>
            </a:r>
          </a:p>
          <a:p>
            <a:endParaRPr/>
          </a:p>
          <a:p>
            <a:r>
              <a:t>[En cas d’échec ou après 60 secondes d’attente, ne pas relancer. Utiliser le secours préparé et dire la phrase suivante.]</a:t>
            </a:r>
          </a:p>
          <a:p>
            <a:endParaRPr/>
          </a:p>
          <a:p>
            <a:r>
              <a:t>La génération ne peut pas être montrée dans cet essai. Je poursuis avec une séance préparée pour présenter la consultation et le suivi. Le problème de génération reste à vérifier.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 tableau rassemble ce qui est terminé et ce qu’il reste à vérifier. Les 16 cartes produit sont terminées et le relevé du 14 septembre indique que le parcours a été testé. Les avis QA, sécurité et sport restent à obtenir.</a:t>
            </a:r>
          </a:p>
          <a:p>
            <a:endParaRPr/>
          </a:p>
          <a:p>
            <a:r>
              <a:t>L’acceptation au jalon initial du 10 août n’est pas confirmée. L’écart reste à établir. Le budget de 42 818 € HT reste une prévision : les dépenses et le temps réellement consommés doivent encore être consolidés. Les accès et le coût fournisseur IA restent à confirmer.</a:t>
            </a:r>
          </a:p>
          <a:p>
            <a:endParaRPr/>
          </a:p>
          <a:p>
            <a:r>
              <a:t>Dans le scénario, le PO réserve les disponibilités restantes. Les 5,25 jours-homme estimés sont inclus dans les 81 jours-homme prévus. Les responsables complètent les contrôles. Je propose ensuite une décision du commanditaire le 18 septembre sur l’ouverture du pilote.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Après la démonstration, je demande au commanditaire si le parcours présenté répond à son besoin : préparer une séance, la retrouver et suivre son entraînement.</a:t>
            </a:r>
          </a:p>
          <a:p>
            <a:endParaRPr/>
          </a:p>
          <a:p>
            <a:r>
              <a:t>Je lui pose cette question : « Quelles fonctionnalités acceptez-vous et quelles corrections demandez-vous ? » Une réserve correspond à un point restant à corriger ou à vérifier.</a:t>
            </a:r>
          </a:p>
          <a:p>
            <a:endParaRPr/>
          </a:p>
          <a:p>
            <a:r>
              <a:t>Je prévois de consigner les fonctionnalités acceptées et les réserves dans le compte rendu. Pour chaque correction, je précise un responsable, une échéance et un contrôle du résultat.</a:t>
            </a:r>
          </a:p>
          <a:p>
            <a:endParaRPr/>
          </a:p>
          <a:p>
            <a:r>
              <a:t>Cette validation reste à obtenir dans le scénario. Elle prépare la décision d’ouverture du pilote proposée le 18 septembre, après les avis QA, sécurité et sport et l’identification du déploiement.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Après la validation et la décision d’ouverture, les essais doivent nous renseigner sur l’usage réel. Je propose un pilote avec 5 pratiquants, dont 2 débutants et 3 réguliers, avec l’avis d’1 coach. La décision d’ouverture est prévue le 18 septembre. Les essais se dérouleraient du 21 au 25 septembre, avec une synthèse le 28 septembre.</a:t>
            </a:r>
          </a:p>
          <a:p>
            <a:endParaRPr/>
          </a:p>
          <a:p>
            <a:r>
              <a:t>Le questionnaire porte sur la compréhension, l’utilité des séances et l’acceptabilité de l’attente. La cible est une note d’au moins 4/5. Je relève séparément le temps mesuré et le ressenti. Les contrôles couvrent 100 % des parcours critiques et aucun blocage critique ne doit subsister avant un élargissement.</a:t>
            </a:r>
          </a:p>
          <a:p>
            <a:endParaRPr/>
          </a:p>
          <a:p>
            <a:r>
              <a:t>Le PO rassemble les réussites, les difficultés et les commentaires. QA qualifie les anomalies et le référent sport donne son avis sur les séances. Le commanditaire utilise cette synthèse pour choisir les corrections, réexaminer le PDF et décider de la suite.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point de départ était le besoin de Nina : préparer une séance, la retrouver et la suivre. Le pilotage a organisé les responsabilités et les moyens autour de ce parcours. Les choix sur le PDF et l’interface gardent cet objectif au centre du travail. Les actions de progression préparent l’autonomie de l’équipe.</a:t>
            </a:r>
          </a:p>
          <a:p>
            <a:endParaRPr/>
          </a:p>
          <a:p>
            <a:r>
              <a:t>La recette du 14 septembre apporte des résultats techniques. Les avis et vérifications restants préparent la décision du commanditaire sur le pilote proposé avec 5 pratiquants. Le bilan du 28 septembre permettra de choisir les améliorations, dont le réexamen du PDF, et les conditions d’élargissement.</a:t>
            </a:r>
          </a:p>
          <a:p>
            <a:endParaRPr/>
          </a:p>
          <a:p>
            <a:r>
              <a:t>Merci pour votre attention.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923"/>
        </a:solidFill>
        <a:effectLst/>
      </p:bgPr>
    </p:bg>
    <p:spTree>
      <p:nvGrpSpPr>
        <p:cNvPr id="1" name=""/>
        <p:cNvGrpSpPr/>
        <p:nvPr/>
      </p:nvGrpSpPr>
      <p:grpSpPr>
        <a:xfrm>
          <a:off x="0" y="0"/>
          <a:ext cx="0" cy="0"/>
          <a:chOff x="0" y="0"/>
          <a:chExt cx="0" cy="0"/>
        </a:xfrm>
      </p:grpSpPr>
      <p:pic>
        <p:nvPicPr>
          <p:cNvPr id="22" name="Image 21"/>
          <p:cNvPicPr>
            <a:picLocks noChangeAspect="1"/>
          </p:cNvPicPr>
          <p:nvPr/>
        </p:nvPicPr>
        <p:blipFill>
          <a:blip r:embed="rId3"/>
          <a:srcRect t="27" b="27"/>
          <a:stretch>
            <a:fillRect/>
          </a:stretch>
        </p:blipFill>
        <p:spPr>
          <a:xfrm>
            <a:off x="0" y="0"/>
            <a:ext cx="12192000" cy="6858000"/>
          </a:xfrm>
          <a:prstGeom prst="rect">
            <a:avLst/>
          </a:prstGeom>
        </p:spPr>
      </p:pic>
      <p:sp>
        <p:nvSpPr>
          <p:cNvPr id="10" name="Rectangle 9">
            <a:extLst>
              <a:ext uri="{FF2B5EF4-FFF2-40B4-BE49-F238E27FC236}">
                <a16:creationId xmlns:a16="http://schemas.microsoft.com/office/drawing/2014/main" id="{1FC09F94-E0CC-43AF-886E-EE4791707F6A}"/>
              </a:ext>
            </a:extLst>
          </p:cNvPr>
          <p:cNvSpPr>
            <a:spLocks noGrp="1"/>
          </p:cNvSpPr>
          <p:nvPr/>
        </p:nvSpPr>
        <p:spPr>
          <a:xfrm>
            <a:off x="609600" y="6457950"/>
            <a:ext cx="8382000" cy="219075"/>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Alcide / Pilotage du projet</a:t>
            </a:r>
          </a:p>
        </p:txBody>
      </p:sp>
      <p:sp>
        <p:nvSpPr>
          <p:cNvPr id="12" name="Rectangle 11">
            <a:extLst>
              <a:ext uri="{FF2B5EF4-FFF2-40B4-BE49-F238E27FC236}">
                <a16:creationId xmlns:a16="http://schemas.microsoft.com/office/drawing/2014/main" id="{36EAF268-5A96-4C35-AE9B-D17CDBE2305C}"/>
              </a:ext>
            </a:extLst>
          </p:cNvPr>
          <p:cNvSpPr>
            <a:spLocks noGrp="1"/>
          </p:cNvSpPr>
          <p:nvPr/>
        </p:nvSpPr>
        <p:spPr>
          <a:xfrm>
            <a:off x="609600" y="609600"/>
            <a:ext cx="10972800" cy="704850"/>
          </a:xfrm>
          <a:prstGeom prst="rect">
            <a:avLst/>
          </a:prstGeom>
          <a:noFill/>
          <a:ln w="0">
            <a:noFill/>
          </a:ln>
        </p:spPr>
        <p:txBody>
          <a:bodyPr wrap="square" lIns="0" tIns="0" rIns="0" bIns="0" anchor="t">
            <a:noAutofit/>
          </a:bodyPr>
          <a:lstStyle/>
          <a:p>
            <a:endParaRPr/>
          </a:p>
        </p:txBody>
      </p:sp>
      <p:sp>
        <p:nvSpPr>
          <p:cNvPr id="13" name="Rectangle 12">
            <a:extLst>
              <a:ext uri="{FF2B5EF4-FFF2-40B4-BE49-F238E27FC236}">
                <a16:creationId xmlns:a16="http://schemas.microsoft.com/office/drawing/2014/main" id="{D3930B5E-1947-439F-BB09-F8127197711D}"/>
              </a:ext>
            </a:extLst>
          </p:cNvPr>
          <p:cNvSpPr>
            <a:spLocks noGrp="1"/>
          </p:cNvSpPr>
          <p:nvPr/>
        </p:nvSpPr>
        <p:spPr>
          <a:xfrm>
            <a:off x="647700" y="571500"/>
            <a:ext cx="6667500" cy="381000"/>
          </a:xfrm>
          <a:prstGeom prst="rect">
            <a:avLst/>
          </a:prstGeom>
          <a:noFill/>
          <a:ln w="0">
            <a:noFill/>
          </a:ln>
        </p:spPr>
        <p:txBody>
          <a:bodyPr wrap="square" lIns="0" tIns="0" rIns="0" bIns="0" anchor="t">
            <a:noAutofit/>
          </a:bodyPr>
          <a:lstStyle/>
          <a:p>
            <a:pPr algn="l">
              <a:buNone/>
              <a:defRPr sz="1875" b="0">
                <a:solidFill>
                  <a:srgbClr val="C1D0C1"/>
                </a:solidFill>
                <a:latin typeface="Segoe UI"/>
                <a:ea typeface="Segoe UI"/>
                <a:cs typeface="Segoe UI"/>
              </a:defRPr>
            </a:pPr>
            <a:r>
              <a:rPr sz="1875" b="0">
                <a:solidFill>
                  <a:srgbClr val="C1D0C1"/>
                </a:solidFill>
                <a:latin typeface="Segoe UI"/>
                <a:ea typeface="Segoe UI"/>
                <a:cs typeface="Segoe UI"/>
              </a:rPr>
              <a:t>Septembre 2026</a:t>
            </a:r>
          </a:p>
        </p:txBody>
      </p:sp>
      <p:sp>
        <p:nvSpPr>
          <p:cNvPr id="14" name="Rectangle 13">
            <a:extLst>
              <a:ext uri="{FF2B5EF4-FFF2-40B4-BE49-F238E27FC236}">
                <a16:creationId xmlns:a16="http://schemas.microsoft.com/office/drawing/2014/main" id="{9AADE265-8B00-4ED5-9B57-A13AF7444001}"/>
              </a:ext>
            </a:extLst>
          </p:cNvPr>
          <p:cNvSpPr>
            <a:spLocks noGrp="1"/>
          </p:cNvSpPr>
          <p:nvPr/>
        </p:nvSpPr>
        <p:spPr>
          <a:xfrm>
            <a:off x="609600" y="1828800"/>
            <a:ext cx="9525000" cy="1333500"/>
          </a:xfrm>
          <a:prstGeom prst="rect">
            <a:avLst/>
          </a:prstGeom>
          <a:noFill/>
          <a:ln w="0">
            <a:noFill/>
          </a:ln>
        </p:spPr>
        <p:txBody>
          <a:bodyPr wrap="square" lIns="0" tIns="0" rIns="0" bIns="0" anchor="t">
            <a:noAutofit/>
          </a:bodyPr>
          <a:lstStyle/>
          <a:p>
            <a:pPr algn="l">
              <a:buNone/>
              <a:defRPr sz="8400" b="1">
                <a:solidFill>
                  <a:srgbClr val="F4F7F3"/>
                </a:solidFill>
                <a:latin typeface="Segoe UI"/>
                <a:ea typeface="Segoe UI"/>
                <a:cs typeface="Segoe UI"/>
              </a:defRPr>
            </a:pPr>
            <a:r>
              <a:rPr sz="8400" b="1">
                <a:solidFill>
                  <a:srgbClr val="F4F7F3"/>
                </a:solidFill>
                <a:latin typeface="Segoe UI"/>
                <a:ea typeface="Segoe UI"/>
                <a:cs typeface="Segoe UI"/>
              </a:rPr>
              <a:t>Alcide</a:t>
            </a:r>
          </a:p>
        </p:txBody>
      </p:sp>
      <p:sp>
        <p:nvSpPr>
          <p:cNvPr id="15" name="Rectangle 14">
            <a:extLst>
              <a:ext uri="{FF2B5EF4-FFF2-40B4-BE49-F238E27FC236}">
                <a16:creationId xmlns:a16="http://schemas.microsoft.com/office/drawing/2014/main" id="{FA970D48-455E-48AE-98D3-970B23F988ED}"/>
              </a:ext>
            </a:extLst>
          </p:cNvPr>
          <p:cNvSpPr>
            <a:spLocks noGrp="1"/>
          </p:cNvSpPr>
          <p:nvPr/>
        </p:nvSpPr>
        <p:spPr>
          <a:xfrm>
            <a:off x="647700" y="3438525"/>
            <a:ext cx="9906000" cy="685800"/>
          </a:xfrm>
          <a:prstGeom prst="rect">
            <a:avLst/>
          </a:prstGeom>
          <a:noFill/>
          <a:ln w="0">
            <a:noFill/>
          </a:ln>
        </p:spPr>
        <p:txBody>
          <a:bodyPr wrap="square" lIns="0" tIns="0" rIns="0" bIns="0" anchor="t">
            <a:noAutofit/>
          </a:bodyPr>
          <a:lstStyle/>
          <a:p>
            <a:pPr algn="l">
              <a:buNone/>
              <a:defRPr sz="3750" b="0">
                <a:solidFill>
                  <a:srgbClr val="BACDB7"/>
                </a:solidFill>
                <a:latin typeface="Segoe UI"/>
                <a:ea typeface="Segoe UI"/>
                <a:cs typeface="Segoe UI"/>
              </a:defRPr>
            </a:pPr>
            <a:r>
              <a:rPr sz="3750" b="0">
                <a:solidFill>
                  <a:srgbClr val="BACDB7"/>
                </a:solidFill>
                <a:latin typeface="Segoe UI"/>
                <a:ea typeface="Segoe UI"/>
                <a:cs typeface="Segoe UI"/>
              </a:rPr>
              <a:t>Gestion du projet</a:t>
            </a:r>
          </a:p>
        </p:txBody>
      </p:sp>
      <p:sp>
        <p:nvSpPr>
          <p:cNvPr id="16" name="Rectangle 15">
            <a:extLst>
              <a:ext uri="{FF2B5EF4-FFF2-40B4-BE49-F238E27FC236}">
                <a16:creationId xmlns:a16="http://schemas.microsoft.com/office/drawing/2014/main" id="{F1E3C405-E208-40CB-8D69-FF0B560C30A7}"/>
              </a:ext>
            </a:extLst>
          </p:cNvPr>
          <p:cNvSpPr>
            <a:spLocks noGrp="1"/>
          </p:cNvSpPr>
          <p:nvPr/>
        </p:nvSpPr>
        <p:spPr>
          <a:xfrm>
            <a:off x="666750" y="5514975"/>
            <a:ext cx="8572500" cy="409575"/>
          </a:xfrm>
          <a:prstGeom prst="rect">
            <a:avLst/>
          </a:prstGeom>
          <a:noFill/>
          <a:ln w="0">
            <a:noFill/>
          </a:ln>
        </p:spPr>
        <p:txBody>
          <a:bodyPr wrap="square" lIns="0" tIns="0" rIns="0" bIns="0" anchor="t">
            <a:noAutofit/>
          </a:bodyPr>
          <a:lstStyle/>
          <a:p>
            <a:pPr algn="l">
              <a:buNone/>
              <a:defRPr sz="2175" b="0">
                <a:solidFill>
                  <a:srgbClr val="C1D0C1"/>
                </a:solidFill>
                <a:latin typeface="Segoe UI"/>
                <a:ea typeface="Segoe UI"/>
                <a:cs typeface="Segoe UI"/>
              </a:defRPr>
            </a:pPr>
            <a:r>
              <a:rPr sz="2175" b="0">
                <a:solidFill>
                  <a:srgbClr val="C1D0C1"/>
                </a:solidFill>
                <a:latin typeface="Segoe UI"/>
                <a:ea typeface="Segoe UI"/>
                <a:cs typeface="Segoe UI"/>
              </a:rPr>
              <a:t>Kevin Marguet</a:t>
            </a:r>
          </a:p>
        </p:txBody>
      </p:sp>
      <p:sp>
        <p:nvSpPr>
          <p:cNvPr id="18" name="Rectangle 17">
            <a:extLst>
              <a:ext uri="{FF2B5EF4-FFF2-40B4-BE49-F238E27FC236}">
                <a16:creationId xmlns:a16="http://schemas.microsoft.com/office/drawing/2014/main" id="{7D6C8B85-03E7-4CE5-9D51-26DB9874C200}"/>
              </a:ext>
            </a:extLst>
          </p:cNvPr>
          <p:cNvSpPr>
            <a:spLocks noGrp="1"/>
          </p:cNvSpPr>
          <p:nvPr/>
        </p:nvSpPr>
        <p:spPr>
          <a:xfrm>
            <a:off x="666750" y="5972175"/>
            <a:ext cx="9906000" cy="333375"/>
          </a:xfrm>
          <a:prstGeom prst="rect">
            <a:avLst/>
          </a:prstGeom>
          <a:noFill/>
          <a:ln w="0">
            <a:noFill/>
          </a:ln>
        </p:spPr>
        <p:txBody>
          <a:bodyPr wrap="square" lIns="0" tIns="0" rIns="0" bIns="0" anchor="t">
            <a:noAutofit/>
          </a:bodyPr>
          <a:lstStyle/>
          <a:p>
            <a:pPr algn="l">
              <a:buNone/>
              <a:defRPr sz="1800" b="0">
                <a:solidFill>
                  <a:srgbClr val="BACDB7"/>
                </a:solidFill>
                <a:latin typeface="Segoe UI"/>
                <a:ea typeface="Segoe UI"/>
                <a:cs typeface="Segoe UI"/>
              </a:defRPr>
            </a:pPr>
            <a:r>
              <a:rPr sz="1800" b="0">
                <a:solidFill>
                  <a:srgbClr val="BACDB7"/>
                </a:solidFill>
                <a:latin typeface="Segoe UI"/>
                <a:ea typeface="Segoe UI"/>
                <a:cs typeface="Segoe UI"/>
              </a:rPr>
              <a:t>Lead full-stack et responsable technique</a:t>
            </a:r>
          </a:p>
        </p:txBody>
      </p:sp>
      <p:sp>
        <p:nvSpPr>
          <p:cNvPr id="20" name="Rectangle 19">
            <a:extLst>
              <a:ext uri="{FF2B5EF4-FFF2-40B4-BE49-F238E27FC236}">
                <a16:creationId xmlns:a16="http://schemas.microsoft.com/office/drawing/2014/main" id="{E9B36985-6AA7-425D-B5E8-9E18582501DB}"/>
              </a:ext>
            </a:extLst>
          </p:cNvPr>
          <p:cNvSpPr>
            <a:spLocks noGrp="1"/>
          </p:cNvSpPr>
          <p:nvPr/>
        </p:nvSpPr>
        <p:spPr>
          <a:xfrm>
            <a:off x="11049000" y="6438900"/>
            <a:ext cx="533400" cy="228600"/>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01</a:t>
            </a:r>
          </a:p>
        </p:txBody>
      </p:sp>
    </p:spTree>
    <p:extLst>
      <p:ext uri="{BB962C8B-B14F-4D97-AF65-F5344CB8AC3E}">
        <p14:creationId xmlns:p14="http://schemas.microsoft.com/office/powerpoint/2010/main" val="19467356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2923"/>
        </a:solidFill>
        <a:effectLst/>
      </p:bgPr>
    </p:bg>
    <p:spTree>
      <p:nvGrpSpPr>
        <p:cNvPr id="1" name=""/>
        <p:cNvGrpSpPr/>
        <p:nvPr/>
      </p:nvGrpSpPr>
      <p:grpSpPr>
        <a:xfrm>
          <a:off x="0" y="0"/>
          <a:ext cx="0" cy="0"/>
          <a:chOff x="0" y="0"/>
          <a:chExt cx="0" cy="0"/>
        </a:xfrm>
      </p:grpSpPr>
      <p:pic>
        <p:nvPicPr>
          <p:cNvPr id="58" name="Image 57"/>
          <p:cNvPicPr>
            <a:picLocks noChangeAspect="1"/>
          </p:cNvPicPr>
          <p:nvPr/>
        </p:nvPicPr>
        <p:blipFill>
          <a:blip r:embed="rId3"/>
          <a:srcRect t="27" b="27"/>
          <a:stretch>
            <a:fillRect/>
          </a:stretch>
        </p:blipFill>
        <p:spPr>
          <a:xfrm>
            <a:off x="0" y="0"/>
            <a:ext cx="12192000" cy="6858000"/>
          </a:xfrm>
          <a:prstGeom prst="rect">
            <a:avLst/>
          </a:prstGeom>
        </p:spPr>
      </p:pic>
      <p:sp>
        <p:nvSpPr>
          <p:cNvPr id="39" name="Rectangle 38">
            <a:extLst>
              <a:ext uri="{FF2B5EF4-FFF2-40B4-BE49-F238E27FC236}">
                <a16:creationId xmlns:a16="http://schemas.microsoft.com/office/drawing/2014/main" id="{75F1CBA8-5B6B-421F-99FB-9D21EB48692E}"/>
              </a:ext>
            </a:extLst>
          </p:cNvPr>
          <p:cNvSpPr>
            <a:spLocks noGrp="1"/>
          </p:cNvSpPr>
          <p:nvPr/>
        </p:nvSpPr>
        <p:spPr>
          <a:xfrm>
            <a:off x="609600" y="609600"/>
            <a:ext cx="10972800" cy="704850"/>
          </a:xfrm>
          <a:prstGeom prst="rect">
            <a:avLst/>
          </a:prstGeom>
          <a:noFill/>
          <a:ln w="0">
            <a:noFill/>
          </a:ln>
        </p:spPr>
        <p:txBody>
          <a:bodyPr wrap="square" lIns="0" tIns="0" rIns="0" bIns="0" anchor="t">
            <a:noAutofit/>
          </a:bodyPr>
          <a:lstStyle/>
          <a:p>
            <a:pPr algn="l">
              <a:buNone/>
              <a:defRPr sz="3450" b="1">
                <a:solidFill>
                  <a:srgbClr val="F4F7F3"/>
                </a:solidFill>
                <a:latin typeface="Segoe UI"/>
                <a:ea typeface="Segoe UI"/>
                <a:cs typeface="Segoe UI"/>
              </a:defRPr>
            </a:pPr>
            <a:r>
              <a:rPr sz="3450" b="1">
                <a:solidFill>
                  <a:srgbClr val="F4F7F3"/>
                </a:solidFill>
                <a:latin typeface="Segoe UI"/>
                <a:ea typeface="Segoe UI"/>
                <a:cs typeface="Segoe UI"/>
              </a:rPr>
              <a:t>Sommaire</a:t>
            </a:r>
          </a:p>
        </p:txBody>
      </p:sp>
      <p:sp>
        <p:nvSpPr>
          <p:cNvPr id="40" name="Rectangle 39">
            <a:extLst>
              <a:ext uri="{FF2B5EF4-FFF2-40B4-BE49-F238E27FC236}">
                <a16:creationId xmlns:a16="http://schemas.microsoft.com/office/drawing/2014/main" id="{0015024C-745B-483C-9008-A2F4584BF691}"/>
              </a:ext>
            </a:extLst>
          </p:cNvPr>
          <p:cNvSpPr>
            <a:spLocks noGrp="1"/>
          </p:cNvSpPr>
          <p:nvPr/>
        </p:nvSpPr>
        <p:spPr>
          <a:xfrm>
            <a:off x="609600" y="1809750"/>
            <a:ext cx="762000" cy="523875"/>
          </a:xfrm>
          <a:prstGeom prst="rect">
            <a:avLst/>
          </a:prstGeom>
          <a:noFill/>
          <a:ln w="0">
            <a:noFill/>
          </a:ln>
        </p:spPr>
        <p:txBody>
          <a:bodyPr wrap="square" lIns="0" tIns="0" rIns="0" bIns="0" anchor="t">
            <a:noAutofit/>
          </a:bodyPr>
          <a:lstStyle/>
          <a:p>
            <a:pPr algn="l">
              <a:buNone/>
              <a:defRPr sz="2625" b="1">
                <a:solidFill>
                  <a:srgbClr val="D9BC7F"/>
                </a:solidFill>
                <a:latin typeface="Segoe UI"/>
                <a:ea typeface="Segoe UI"/>
                <a:cs typeface="Segoe UI"/>
              </a:defRPr>
            </a:pPr>
            <a:r>
              <a:rPr sz="2625" b="1">
                <a:solidFill>
                  <a:srgbClr val="D9BC7F"/>
                </a:solidFill>
                <a:latin typeface="Segoe UI"/>
                <a:ea typeface="Segoe UI"/>
                <a:cs typeface="Segoe UI"/>
              </a:rPr>
              <a:t>01</a:t>
            </a:r>
          </a:p>
        </p:txBody>
      </p:sp>
      <p:sp>
        <p:nvSpPr>
          <p:cNvPr id="41" name="Rectangle 40">
            <a:extLst>
              <a:ext uri="{FF2B5EF4-FFF2-40B4-BE49-F238E27FC236}">
                <a16:creationId xmlns:a16="http://schemas.microsoft.com/office/drawing/2014/main" id="{79499B3F-800C-448C-9FA0-2A5C778A0D92}"/>
              </a:ext>
            </a:extLst>
          </p:cNvPr>
          <p:cNvSpPr>
            <a:spLocks noGrp="1"/>
          </p:cNvSpPr>
          <p:nvPr/>
        </p:nvSpPr>
        <p:spPr>
          <a:xfrm>
            <a:off x="1619250" y="1809750"/>
            <a:ext cx="8191500" cy="523875"/>
          </a:xfrm>
          <a:prstGeom prst="rect">
            <a:avLst/>
          </a:prstGeom>
          <a:noFill/>
          <a:ln w="0">
            <a:noFill/>
          </a:ln>
        </p:spPr>
        <p:txBody>
          <a:bodyPr wrap="square" lIns="0" tIns="0" rIns="0" bIns="0" anchor="t">
            <a:noAutofit/>
          </a:bodyPr>
          <a:lstStyle/>
          <a:p>
            <a:pPr algn="l">
              <a:buNone/>
              <a:defRPr sz="2550" b="1">
                <a:solidFill>
                  <a:srgbClr val="F4F7F3"/>
                </a:solidFill>
                <a:latin typeface="Segoe UI"/>
                <a:ea typeface="Segoe UI"/>
                <a:cs typeface="Segoe UI"/>
              </a:defRPr>
            </a:pPr>
            <a:r>
              <a:rPr sz="2550" b="1">
                <a:solidFill>
                  <a:srgbClr val="F4F7F3"/>
                </a:solidFill>
                <a:latin typeface="Segoe UI"/>
                <a:ea typeface="Segoe UI"/>
                <a:cs typeface="Segoe UI"/>
              </a:rPr>
              <a:t>Projet, équipe et méthode</a:t>
            </a:r>
          </a:p>
        </p:txBody>
      </p:sp>
      <p:sp>
        <p:nvSpPr>
          <p:cNvPr id="42" name="Rectangle 41">
            <a:extLst>
              <a:ext uri="{FF2B5EF4-FFF2-40B4-BE49-F238E27FC236}">
                <a16:creationId xmlns:a16="http://schemas.microsoft.com/office/drawing/2014/main" id="{1ADC137F-9C87-4147-9A24-D02645DCCF63}"/>
              </a:ext>
            </a:extLst>
          </p:cNvPr>
          <p:cNvSpPr>
            <a:spLocks noGrp="1"/>
          </p:cNvSpPr>
          <p:nvPr/>
        </p:nvSpPr>
        <p:spPr>
          <a:xfrm>
            <a:off x="10382250" y="1866900"/>
            <a:ext cx="1200150" cy="400050"/>
          </a:xfrm>
          <a:prstGeom prst="rect">
            <a:avLst/>
          </a:prstGeom>
          <a:noFill/>
          <a:ln w="0">
            <a:noFill/>
          </a:ln>
        </p:spPr>
        <p:txBody>
          <a:bodyPr wrap="square" lIns="0" tIns="0" rIns="0" bIns="0" anchor="t">
            <a:noAutofit/>
          </a:bodyPr>
          <a:lstStyle/>
          <a:p>
            <a:pPr algn="l">
              <a:buNone/>
              <a:defRPr sz="2025" b="0">
                <a:solidFill>
                  <a:srgbClr val="BACDB7"/>
                </a:solidFill>
                <a:latin typeface="Segoe UI"/>
                <a:ea typeface="Segoe UI"/>
                <a:cs typeface="Segoe UI"/>
              </a:defRPr>
            </a:pPr>
            <a:r>
              <a:rPr sz="2025" b="0">
                <a:solidFill>
                  <a:srgbClr val="BACDB7"/>
                </a:solidFill>
                <a:latin typeface="Segoe UI"/>
                <a:ea typeface="Segoe UI"/>
                <a:cs typeface="Segoe UI"/>
              </a:rPr>
              <a:t>3–7</a:t>
            </a:r>
          </a:p>
        </p:txBody>
      </p:sp>
      <p:sp>
        <p:nvSpPr>
          <p:cNvPr id="43" name="Rectangle 42">
            <a:extLst>
              <a:ext uri="{FF2B5EF4-FFF2-40B4-BE49-F238E27FC236}">
                <a16:creationId xmlns:a16="http://schemas.microsoft.com/office/drawing/2014/main" id="{A3EDA1C4-26D9-441A-922A-8941F676E704}"/>
              </a:ext>
            </a:extLst>
          </p:cNvPr>
          <p:cNvSpPr>
            <a:spLocks noGrp="1"/>
          </p:cNvSpPr>
          <p:nvPr/>
        </p:nvSpPr>
        <p:spPr>
          <a:xfrm>
            <a:off x="609600" y="2381250"/>
            <a:ext cx="762000" cy="523875"/>
          </a:xfrm>
          <a:prstGeom prst="rect">
            <a:avLst/>
          </a:prstGeom>
          <a:noFill/>
          <a:ln w="0">
            <a:noFill/>
          </a:ln>
        </p:spPr>
        <p:txBody>
          <a:bodyPr wrap="square" lIns="0" tIns="0" rIns="0" bIns="0" anchor="t">
            <a:noAutofit/>
          </a:bodyPr>
          <a:lstStyle/>
          <a:p>
            <a:pPr algn="l">
              <a:buNone/>
              <a:defRPr sz="2625" b="1">
                <a:solidFill>
                  <a:srgbClr val="D9BC7F"/>
                </a:solidFill>
                <a:latin typeface="Segoe UI"/>
                <a:ea typeface="Segoe UI"/>
                <a:cs typeface="Segoe UI"/>
              </a:defRPr>
            </a:pPr>
            <a:r>
              <a:rPr sz="2625" b="1">
                <a:solidFill>
                  <a:srgbClr val="D9BC7F"/>
                </a:solidFill>
                <a:latin typeface="Segoe UI"/>
                <a:ea typeface="Segoe UI"/>
                <a:cs typeface="Segoe UI"/>
              </a:rPr>
              <a:t>02</a:t>
            </a:r>
          </a:p>
        </p:txBody>
      </p:sp>
      <p:sp>
        <p:nvSpPr>
          <p:cNvPr id="44" name="Rectangle 43">
            <a:extLst>
              <a:ext uri="{FF2B5EF4-FFF2-40B4-BE49-F238E27FC236}">
                <a16:creationId xmlns:a16="http://schemas.microsoft.com/office/drawing/2014/main" id="{9DA97311-9623-45E0-A4FE-F349F519054D}"/>
              </a:ext>
            </a:extLst>
          </p:cNvPr>
          <p:cNvSpPr>
            <a:spLocks noGrp="1"/>
          </p:cNvSpPr>
          <p:nvPr/>
        </p:nvSpPr>
        <p:spPr>
          <a:xfrm>
            <a:off x="1619250" y="2381250"/>
            <a:ext cx="8191500" cy="523875"/>
          </a:xfrm>
          <a:prstGeom prst="rect">
            <a:avLst/>
          </a:prstGeom>
          <a:noFill/>
          <a:ln w="0">
            <a:noFill/>
          </a:ln>
        </p:spPr>
        <p:txBody>
          <a:bodyPr wrap="square" lIns="0" tIns="0" rIns="0" bIns="0" anchor="t">
            <a:noAutofit/>
          </a:bodyPr>
          <a:lstStyle/>
          <a:p>
            <a:pPr algn="l">
              <a:buNone/>
              <a:defRPr sz="2550" b="1">
                <a:solidFill>
                  <a:srgbClr val="F4F7F3"/>
                </a:solidFill>
                <a:latin typeface="Segoe UI"/>
                <a:ea typeface="Segoe UI"/>
                <a:cs typeface="Segoe UI"/>
              </a:defRPr>
            </a:pPr>
            <a:r>
              <a:rPr sz="2550" b="1">
                <a:solidFill>
                  <a:srgbClr val="F4F7F3"/>
                </a:solidFill>
                <a:latin typeface="Segoe UI"/>
                <a:ea typeface="Segoe UI"/>
                <a:cs typeface="Segoe UI"/>
              </a:rPr>
              <a:t>Planning et budget</a:t>
            </a:r>
          </a:p>
        </p:txBody>
      </p:sp>
      <p:sp>
        <p:nvSpPr>
          <p:cNvPr id="45" name="Rectangle 44">
            <a:extLst>
              <a:ext uri="{FF2B5EF4-FFF2-40B4-BE49-F238E27FC236}">
                <a16:creationId xmlns:a16="http://schemas.microsoft.com/office/drawing/2014/main" id="{DA656575-B690-4B09-9B6E-DBDA020AEDA2}"/>
              </a:ext>
            </a:extLst>
          </p:cNvPr>
          <p:cNvSpPr>
            <a:spLocks noGrp="1"/>
          </p:cNvSpPr>
          <p:nvPr/>
        </p:nvSpPr>
        <p:spPr>
          <a:xfrm>
            <a:off x="10382250" y="2438400"/>
            <a:ext cx="1200150" cy="400050"/>
          </a:xfrm>
          <a:prstGeom prst="rect">
            <a:avLst/>
          </a:prstGeom>
          <a:noFill/>
          <a:ln w="0">
            <a:noFill/>
          </a:ln>
        </p:spPr>
        <p:txBody>
          <a:bodyPr wrap="square" lIns="0" tIns="0" rIns="0" bIns="0" anchor="t">
            <a:noAutofit/>
          </a:bodyPr>
          <a:lstStyle/>
          <a:p>
            <a:pPr algn="l">
              <a:buNone/>
              <a:defRPr sz="2025" b="0">
                <a:solidFill>
                  <a:srgbClr val="BACDB7"/>
                </a:solidFill>
                <a:latin typeface="Segoe UI"/>
                <a:ea typeface="Segoe UI"/>
                <a:cs typeface="Segoe UI"/>
              </a:defRPr>
            </a:pPr>
            <a:r>
              <a:rPr sz="2025" b="0">
                <a:solidFill>
                  <a:srgbClr val="BACDB7"/>
                </a:solidFill>
                <a:latin typeface="Segoe UI"/>
                <a:ea typeface="Segoe UI"/>
                <a:cs typeface="Segoe UI"/>
              </a:rPr>
              <a:t>8–11</a:t>
            </a:r>
          </a:p>
        </p:txBody>
      </p:sp>
      <p:sp>
        <p:nvSpPr>
          <p:cNvPr id="46" name="Rectangle 45">
            <a:extLst>
              <a:ext uri="{FF2B5EF4-FFF2-40B4-BE49-F238E27FC236}">
                <a16:creationId xmlns:a16="http://schemas.microsoft.com/office/drawing/2014/main" id="{BEDC8535-8E5C-4463-8E7A-2A6A946806C7}"/>
              </a:ext>
            </a:extLst>
          </p:cNvPr>
          <p:cNvSpPr>
            <a:spLocks noGrp="1"/>
          </p:cNvSpPr>
          <p:nvPr/>
        </p:nvSpPr>
        <p:spPr>
          <a:xfrm>
            <a:off x="609600" y="2952750"/>
            <a:ext cx="762000" cy="523875"/>
          </a:xfrm>
          <a:prstGeom prst="rect">
            <a:avLst/>
          </a:prstGeom>
          <a:noFill/>
          <a:ln w="0">
            <a:noFill/>
          </a:ln>
        </p:spPr>
        <p:txBody>
          <a:bodyPr wrap="square" lIns="0" tIns="0" rIns="0" bIns="0" anchor="t">
            <a:noAutofit/>
          </a:bodyPr>
          <a:lstStyle/>
          <a:p>
            <a:pPr algn="l">
              <a:buNone/>
              <a:defRPr sz="2625" b="1">
                <a:solidFill>
                  <a:srgbClr val="D9BC7F"/>
                </a:solidFill>
                <a:latin typeface="Segoe UI"/>
                <a:ea typeface="Segoe UI"/>
                <a:cs typeface="Segoe UI"/>
              </a:defRPr>
            </a:pPr>
            <a:r>
              <a:rPr sz="2625" b="1">
                <a:solidFill>
                  <a:srgbClr val="D9BC7F"/>
                </a:solidFill>
                <a:latin typeface="Segoe UI"/>
                <a:ea typeface="Segoe UI"/>
                <a:cs typeface="Segoe UI"/>
              </a:rPr>
              <a:t>03</a:t>
            </a:r>
          </a:p>
        </p:txBody>
      </p:sp>
      <p:sp>
        <p:nvSpPr>
          <p:cNvPr id="47" name="Rectangle 46">
            <a:extLst>
              <a:ext uri="{FF2B5EF4-FFF2-40B4-BE49-F238E27FC236}">
                <a16:creationId xmlns:a16="http://schemas.microsoft.com/office/drawing/2014/main" id="{D3266A76-61C9-4D42-867E-4876C600FB8A}"/>
              </a:ext>
            </a:extLst>
          </p:cNvPr>
          <p:cNvSpPr>
            <a:spLocks noGrp="1"/>
          </p:cNvSpPr>
          <p:nvPr/>
        </p:nvSpPr>
        <p:spPr>
          <a:xfrm>
            <a:off x="1619250" y="2952750"/>
            <a:ext cx="8191500" cy="523875"/>
          </a:xfrm>
          <a:prstGeom prst="rect">
            <a:avLst/>
          </a:prstGeom>
          <a:noFill/>
          <a:ln w="0">
            <a:noFill/>
          </a:ln>
        </p:spPr>
        <p:txBody>
          <a:bodyPr wrap="square" lIns="0" tIns="0" rIns="0" bIns="0" anchor="t">
            <a:noAutofit/>
          </a:bodyPr>
          <a:lstStyle/>
          <a:p>
            <a:pPr algn="l">
              <a:buNone/>
              <a:defRPr sz="2550" b="1">
                <a:solidFill>
                  <a:srgbClr val="F4F7F3"/>
                </a:solidFill>
                <a:latin typeface="Segoe UI"/>
                <a:ea typeface="Segoe UI"/>
                <a:cs typeface="Segoe UI"/>
              </a:defRPr>
            </a:pPr>
            <a:r>
              <a:rPr sz="2550" b="1">
                <a:solidFill>
                  <a:srgbClr val="F4F7F3"/>
                </a:solidFill>
                <a:latin typeface="Segoe UI"/>
                <a:ea typeface="Segoe UI"/>
                <a:cs typeface="Segoe UI"/>
              </a:rPr>
              <a:t>Export PDF et interface</a:t>
            </a:r>
          </a:p>
        </p:txBody>
      </p:sp>
      <p:sp>
        <p:nvSpPr>
          <p:cNvPr id="48" name="Rectangle 47">
            <a:extLst>
              <a:ext uri="{FF2B5EF4-FFF2-40B4-BE49-F238E27FC236}">
                <a16:creationId xmlns:a16="http://schemas.microsoft.com/office/drawing/2014/main" id="{402624C1-C626-4F8E-A5A8-1AB6DFA61D7B}"/>
              </a:ext>
            </a:extLst>
          </p:cNvPr>
          <p:cNvSpPr>
            <a:spLocks noGrp="1"/>
          </p:cNvSpPr>
          <p:nvPr/>
        </p:nvSpPr>
        <p:spPr>
          <a:xfrm>
            <a:off x="10382250" y="3009900"/>
            <a:ext cx="1200150" cy="400050"/>
          </a:xfrm>
          <a:prstGeom prst="rect">
            <a:avLst/>
          </a:prstGeom>
          <a:noFill/>
          <a:ln w="0">
            <a:noFill/>
          </a:ln>
        </p:spPr>
        <p:txBody>
          <a:bodyPr wrap="square" lIns="0" tIns="0" rIns="0" bIns="0" anchor="t">
            <a:noAutofit/>
          </a:bodyPr>
          <a:lstStyle/>
          <a:p>
            <a:pPr algn="l">
              <a:buNone/>
              <a:defRPr sz="2025" b="0">
                <a:solidFill>
                  <a:srgbClr val="BACDB7"/>
                </a:solidFill>
                <a:latin typeface="Segoe UI"/>
                <a:ea typeface="Segoe UI"/>
                <a:cs typeface="Segoe UI"/>
              </a:defRPr>
            </a:pPr>
            <a:r>
              <a:rPr sz="2025" b="0">
                <a:solidFill>
                  <a:srgbClr val="BACDB7"/>
                </a:solidFill>
                <a:latin typeface="Segoe UI"/>
                <a:ea typeface="Segoe UI"/>
                <a:cs typeface="Segoe UI"/>
              </a:rPr>
              <a:t>12–14</a:t>
            </a:r>
          </a:p>
        </p:txBody>
      </p:sp>
      <p:sp>
        <p:nvSpPr>
          <p:cNvPr id="49" name="Rectangle 48">
            <a:extLst>
              <a:ext uri="{FF2B5EF4-FFF2-40B4-BE49-F238E27FC236}">
                <a16:creationId xmlns:a16="http://schemas.microsoft.com/office/drawing/2014/main" id="{4C582B20-6578-42AD-86A4-4A7E1A29D6A2}"/>
              </a:ext>
            </a:extLst>
          </p:cNvPr>
          <p:cNvSpPr>
            <a:spLocks noGrp="1"/>
          </p:cNvSpPr>
          <p:nvPr/>
        </p:nvSpPr>
        <p:spPr>
          <a:xfrm>
            <a:off x="609600" y="3524250"/>
            <a:ext cx="762000" cy="523875"/>
          </a:xfrm>
          <a:prstGeom prst="rect">
            <a:avLst/>
          </a:prstGeom>
          <a:noFill/>
          <a:ln w="0">
            <a:noFill/>
          </a:ln>
        </p:spPr>
        <p:txBody>
          <a:bodyPr wrap="square" lIns="0" tIns="0" rIns="0" bIns="0" anchor="t">
            <a:noAutofit/>
          </a:bodyPr>
          <a:lstStyle/>
          <a:p>
            <a:pPr algn="l">
              <a:buNone/>
              <a:defRPr sz="2625" b="1">
                <a:solidFill>
                  <a:srgbClr val="D9BC7F"/>
                </a:solidFill>
                <a:latin typeface="Segoe UI"/>
                <a:ea typeface="Segoe UI"/>
                <a:cs typeface="Segoe UI"/>
              </a:defRPr>
            </a:pPr>
            <a:r>
              <a:rPr sz="2625" b="1">
                <a:solidFill>
                  <a:srgbClr val="D9BC7F"/>
                </a:solidFill>
                <a:latin typeface="Segoe UI"/>
                <a:ea typeface="Segoe UI"/>
                <a:cs typeface="Segoe UI"/>
              </a:rPr>
              <a:t>04</a:t>
            </a:r>
          </a:p>
        </p:txBody>
      </p:sp>
      <p:sp>
        <p:nvSpPr>
          <p:cNvPr id="50" name="Rectangle 49">
            <a:extLst>
              <a:ext uri="{FF2B5EF4-FFF2-40B4-BE49-F238E27FC236}">
                <a16:creationId xmlns:a16="http://schemas.microsoft.com/office/drawing/2014/main" id="{FC461F6D-137F-4C97-9A86-3CD6EEA27247}"/>
              </a:ext>
            </a:extLst>
          </p:cNvPr>
          <p:cNvSpPr>
            <a:spLocks noGrp="1"/>
          </p:cNvSpPr>
          <p:nvPr/>
        </p:nvSpPr>
        <p:spPr>
          <a:xfrm>
            <a:off x="1619250" y="3524250"/>
            <a:ext cx="8191500" cy="523875"/>
          </a:xfrm>
          <a:prstGeom prst="rect">
            <a:avLst/>
          </a:prstGeom>
          <a:noFill/>
          <a:ln w="0">
            <a:noFill/>
          </a:ln>
        </p:spPr>
        <p:txBody>
          <a:bodyPr wrap="square" lIns="0" tIns="0" rIns="0" bIns="0" anchor="t">
            <a:noAutofit/>
          </a:bodyPr>
          <a:lstStyle/>
          <a:p>
            <a:pPr algn="l">
              <a:buNone/>
              <a:defRPr sz="2550" b="1">
                <a:solidFill>
                  <a:srgbClr val="F4F7F3"/>
                </a:solidFill>
                <a:latin typeface="Segoe UI"/>
                <a:ea typeface="Segoe UI"/>
                <a:cs typeface="Segoe UI"/>
              </a:defRPr>
            </a:pPr>
            <a:r>
              <a:rPr sz="2550" b="1">
                <a:solidFill>
                  <a:srgbClr val="F4F7F3"/>
                </a:solidFill>
                <a:latin typeface="Segoe UI"/>
                <a:ea typeface="Segoe UI"/>
                <a:cs typeface="Segoe UI"/>
              </a:rPr>
              <a:t>Risques et tests</a:t>
            </a:r>
          </a:p>
        </p:txBody>
      </p:sp>
      <p:sp>
        <p:nvSpPr>
          <p:cNvPr id="51" name="Rectangle 50">
            <a:extLst>
              <a:ext uri="{FF2B5EF4-FFF2-40B4-BE49-F238E27FC236}">
                <a16:creationId xmlns:a16="http://schemas.microsoft.com/office/drawing/2014/main" id="{7D54C4D7-2519-4B27-9C44-5D2365818627}"/>
              </a:ext>
            </a:extLst>
          </p:cNvPr>
          <p:cNvSpPr>
            <a:spLocks noGrp="1"/>
          </p:cNvSpPr>
          <p:nvPr/>
        </p:nvSpPr>
        <p:spPr>
          <a:xfrm>
            <a:off x="10382250" y="3581400"/>
            <a:ext cx="1200150" cy="400050"/>
          </a:xfrm>
          <a:prstGeom prst="rect">
            <a:avLst/>
          </a:prstGeom>
          <a:noFill/>
          <a:ln w="0">
            <a:noFill/>
          </a:ln>
        </p:spPr>
        <p:txBody>
          <a:bodyPr wrap="square" lIns="0" tIns="0" rIns="0" bIns="0" anchor="t">
            <a:noAutofit/>
          </a:bodyPr>
          <a:lstStyle/>
          <a:p>
            <a:pPr algn="l">
              <a:buNone/>
              <a:defRPr sz="2025" b="0">
                <a:solidFill>
                  <a:srgbClr val="BACDB7"/>
                </a:solidFill>
                <a:latin typeface="Segoe UI"/>
                <a:ea typeface="Segoe UI"/>
                <a:cs typeface="Segoe UI"/>
              </a:defRPr>
            </a:pPr>
            <a:r>
              <a:rPr sz="2025" b="0">
                <a:solidFill>
                  <a:srgbClr val="BACDB7"/>
                </a:solidFill>
                <a:latin typeface="Segoe UI"/>
                <a:ea typeface="Segoe UI"/>
                <a:cs typeface="Segoe UI"/>
              </a:rPr>
              <a:t>15–16</a:t>
            </a:r>
          </a:p>
        </p:txBody>
      </p:sp>
      <p:sp>
        <p:nvSpPr>
          <p:cNvPr id="52" name="Rectangle 51">
            <a:extLst>
              <a:ext uri="{FF2B5EF4-FFF2-40B4-BE49-F238E27FC236}">
                <a16:creationId xmlns:a16="http://schemas.microsoft.com/office/drawing/2014/main" id="{B199595A-95C1-4039-9E4C-B8F0CD5137B2}"/>
              </a:ext>
            </a:extLst>
          </p:cNvPr>
          <p:cNvSpPr>
            <a:spLocks noGrp="1"/>
          </p:cNvSpPr>
          <p:nvPr/>
        </p:nvSpPr>
        <p:spPr>
          <a:xfrm>
            <a:off x="609600" y="4095750"/>
            <a:ext cx="762000" cy="523875"/>
          </a:xfrm>
          <a:prstGeom prst="rect">
            <a:avLst/>
          </a:prstGeom>
          <a:noFill/>
          <a:ln w="0">
            <a:noFill/>
          </a:ln>
        </p:spPr>
        <p:txBody>
          <a:bodyPr wrap="square" lIns="0" tIns="0" rIns="0" bIns="0" anchor="t">
            <a:noAutofit/>
          </a:bodyPr>
          <a:lstStyle/>
          <a:p>
            <a:pPr algn="l">
              <a:buNone/>
              <a:defRPr sz="2625" b="1">
                <a:solidFill>
                  <a:srgbClr val="D9BC7F"/>
                </a:solidFill>
                <a:latin typeface="Segoe UI"/>
                <a:ea typeface="Segoe UI"/>
                <a:cs typeface="Segoe UI"/>
              </a:defRPr>
            </a:pPr>
            <a:r>
              <a:rPr sz="2625" b="1">
                <a:solidFill>
                  <a:srgbClr val="D9BC7F"/>
                </a:solidFill>
                <a:latin typeface="Segoe UI"/>
                <a:ea typeface="Segoe UI"/>
                <a:cs typeface="Segoe UI"/>
              </a:rPr>
              <a:t>05</a:t>
            </a:r>
          </a:p>
        </p:txBody>
      </p:sp>
      <p:sp>
        <p:nvSpPr>
          <p:cNvPr id="53" name="Rectangle 52">
            <a:extLst>
              <a:ext uri="{FF2B5EF4-FFF2-40B4-BE49-F238E27FC236}">
                <a16:creationId xmlns:a16="http://schemas.microsoft.com/office/drawing/2014/main" id="{19096290-8E38-449F-BC5B-C5F86FA70FF3}"/>
              </a:ext>
            </a:extLst>
          </p:cNvPr>
          <p:cNvSpPr>
            <a:spLocks noGrp="1"/>
          </p:cNvSpPr>
          <p:nvPr/>
        </p:nvSpPr>
        <p:spPr>
          <a:xfrm>
            <a:off x="1619250" y="4095750"/>
            <a:ext cx="8191500" cy="523875"/>
          </a:xfrm>
          <a:prstGeom prst="rect">
            <a:avLst/>
          </a:prstGeom>
          <a:noFill/>
          <a:ln w="0">
            <a:noFill/>
          </a:ln>
        </p:spPr>
        <p:txBody>
          <a:bodyPr wrap="square" lIns="0" tIns="0" rIns="0" bIns="0" anchor="t">
            <a:noAutofit/>
          </a:bodyPr>
          <a:lstStyle/>
          <a:p>
            <a:pPr algn="l">
              <a:buNone/>
              <a:defRPr sz="2550" b="1">
                <a:solidFill>
                  <a:srgbClr val="F4F7F3"/>
                </a:solidFill>
                <a:latin typeface="Segoe UI"/>
                <a:ea typeface="Segoe UI"/>
                <a:cs typeface="Segoe UI"/>
              </a:defRPr>
            </a:pPr>
            <a:r>
              <a:rPr sz="2550" b="1">
                <a:solidFill>
                  <a:srgbClr val="F4F7F3"/>
                </a:solidFill>
                <a:latin typeface="Segoe UI"/>
                <a:ea typeface="Segoe UI"/>
                <a:cs typeface="Segoe UI"/>
              </a:rPr>
              <a:t>Travail et compétences de l’équipe</a:t>
            </a:r>
          </a:p>
        </p:txBody>
      </p:sp>
      <p:sp>
        <p:nvSpPr>
          <p:cNvPr id="54" name="Rectangle 53">
            <a:extLst>
              <a:ext uri="{FF2B5EF4-FFF2-40B4-BE49-F238E27FC236}">
                <a16:creationId xmlns:a16="http://schemas.microsoft.com/office/drawing/2014/main" id="{00A1BC43-88D6-4908-BF95-97D105B97E98}"/>
              </a:ext>
            </a:extLst>
          </p:cNvPr>
          <p:cNvSpPr>
            <a:spLocks noGrp="1"/>
          </p:cNvSpPr>
          <p:nvPr/>
        </p:nvSpPr>
        <p:spPr>
          <a:xfrm>
            <a:off x="10382250" y="4152900"/>
            <a:ext cx="1200150" cy="400050"/>
          </a:xfrm>
          <a:prstGeom prst="rect">
            <a:avLst/>
          </a:prstGeom>
          <a:noFill/>
          <a:ln w="0">
            <a:noFill/>
          </a:ln>
        </p:spPr>
        <p:txBody>
          <a:bodyPr wrap="square" lIns="0" tIns="0" rIns="0" bIns="0" anchor="t">
            <a:noAutofit/>
          </a:bodyPr>
          <a:lstStyle/>
          <a:p>
            <a:pPr algn="l">
              <a:buNone/>
              <a:defRPr sz="2025" b="0">
                <a:solidFill>
                  <a:srgbClr val="BACDB7"/>
                </a:solidFill>
                <a:latin typeface="Segoe UI"/>
                <a:ea typeface="Segoe UI"/>
                <a:cs typeface="Segoe UI"/>
              </a:defRPr>
            </a:pPr>
            <a:r>
              <a:rPr sz="2025" b="0">
                <a:solidFill>
                  <a:srgbClr val="BACDB7"/>
                </a:solidFill>
                <a:latin typeface="Segoe UI"/>
                <a:ea typeface="Segoe UI"/>
                <a:cs typeface="Segoe UI"/>
              </a:rPr>
              <a:t>17–19</a:t>
            </a:r>
          </a:p>
        </p:txBody>
      </p:sp>
      <p:sp>
        <p:nvSpPr>
          <p:cNvPr id="59" name="Agenda 6 1">
            <a:extLst>
              <a:ext uri="{FF2B5EF4-FFF2-40B4-BE49-F238E27FC236}">
                <a16:creationId xmlns:a16="http://schemas.microsoft.com/office/drawing/2014/main" id="{E2E11D14-4C90-4E72-8E5C-82AB0F1BBDB1}"/>
              </a:ext>
            </a:extLst>
          </p:cNvPr>
          <p:cNvSpPr>
            <a:spLocks noGrp="1"/>
          </p:cNvSpPr>
          <p:nvPr/>
        </p:nvSpPr>
        <p:spPr>
          <a:xfrm>
            <a:off x="609600" y="4667250"/>
            <a:ext cx="762000" cy="523875"/>
          </a:xfrm>
          <a:prstGeom prst="rect">
            <a:avLst/>
          </a:prstGeom>
          <a:noFill/>
          <a:ln w="0">
            <a:noFill/>
          </a:ln>
        </p:spPr>
        <p:txBody>
          <a:bodyPr wrap="square" lIns="0" tIns="0" rIns="0" bIns="0" anchor="t">
            <a:noAutofit/>
          </a:bodyPr>
          <a:lstStyle/>
          <a:p>
            <a:pPr algn="l">
              <a:defRPr sz="2625" b="1">
                <a:solidFill>
                  <a:srgbClr val="D9BC7F"/>
                </a:solidFill>
                <a:latin typeface="Segoe UI"/>
                <a:ea typeface="Segoe UI"/>
                <a:cs typeface="Segoe UI"/>
              </a:defRPr>
            </a:pPr>
            <a:r>
              <a:rPr sz="2625" b="1">
                <a:solidFill>
                  <a:srgbClr val="D9BC7F"/>
                </a:solidFill>
                <a:latin typeface="Segoe UI"/>
                <a:ea typeface="Segoe UI"/>
                <a:cs typeface="Segoe UI"/>
              </a:rPr>
              <a:t>06</a:t>
            </a:r>
          </a:p>
        </p:txBody>
      </p:sp>
      <p:sp>
        <p:nvSpPr>
          <p:cNvPr id="60" name="Agenda 6 2">
            <a:extLst>
              <a:ext uri="{FF2B5EF4-FFF2-40B4-BE49-F238E27FC236}">
                <a16:creationId xmlns:a16="http://schemas.microsoft.com/office/drawing/2014/main" id="{7787A6F9-2997-4DB2-BE0A-8569647DC10A}"/>
              </a:ext>
            </a:extLst>
          </p:cNvPr>
          <p:cNvSpPr>
            <a:spLocks noGrp="1"/>
          </p:cNvSpPr>
          <p:nvPr/>
        </p:nvSpPr>
        <p:spPr>
          <a:xfrm>
            <a:off x="1619250" y="4667250"/>
            <a:ext cx="8191500" cy="523875"/>
          </a:xfrm>
          <a:prstGeom prst="rect">
            <a:avLst/>
          </a:prstGeom>
          <a:noFill/>
          <a:ln w="0">
            <a:noFill/>
          </a:ln>
        </p:spPr>
        <p:txBody>
          <a:bodyPr wrap="square" lIns="0" tIns="0" rIns="0" bIns="0" anchor="t">
            <a:noAutofit/>
          </a:bodyPr>
          <a:lstStyle/>
          <a:p>
            <a:pPr algn="l">
              <a:defRPr sz="2550" b="1">
                <a:solidFill>
                  <a:srgbClr val="F4F7F3"/>
                </a:solidFill>
                <a:latin typeface="Segoe UI"/>
                <a:ea typeface="Segoe UI"/>
                <a:cs typeface="Segoe UI"/>
              </a:defRPr>
            </a:pPr>
            <a:r>
              <a:rPr sz="2550" b="1">
                <a:solidFill>
                  <a:srgbClr val="F4F7F3"/>
                </a:solidFill>
                <a:latin typeface="Segoe UI"/>
                <a:ea typeface="Segoe UI"/>
                <a:cs typeface="Segoe UI"/>
              </a:rPr>
              <a:t>Démonstration de l’application</a:t>
            </a:r>
          </a:p>
        </p:txBody>
      </p:sp>
      <p:sp>
        <p:nvSpPr>
          <p:cNvPr id="61" name="Agenda 6 3">
            <a:extLst>
              <a:ext uri="{FF2B5EF4-FFF2-40B4-BE49-F238E27FC236}">
                <a16:creationId xmlns:a16="http://schemas.microsoft.com/office/drawing/2014/main" id="{CE251505-21D1-4B9E-8BEA-661FC4A5EEED}"/>
              </a:ext>
            </a:extLst>
          </p:cNvPr>
          <p:cNvSpPr>
            <a:spLocks noGrp="1"/>
          </p:cNvSpPr>
          <p:nvPr/>
        </p:nvSpPr>
        <p:spPr>
          <a:xfrm>
            <a:off x="10382250" y="4724400"/>
            <a:ext cx="1200150" cy="400050"/>
          </a:xfrm>
          <a:prstGeom prst="rect">
            <a:avLst/>
          </a:prstGeom>
          <a:noFill/>
          <a:ln w="0">
            <a:noFill/>
          </a:ln>
        </p:spPr>
        <p:txBody>
          <a:bodyPr wrap="square" lIns="0" tIns="0" rIns="0" bIns="0" anchor="t">
            <a:noAutofit/>
          </a:bodyPr>
          <a:lstStyle/>
          <a:p>
            <a:pPr algn="l">
              <a:defRPr sz="2025" b="0">
                <a:solidFill>
                  <a:srgbClr val="BACDB7"/>
                </a:solidFill>
                <a:latin typeface="Segoe UI"/>
                <a:ea typeface="Segoe UI"/>
                <a:cs typeface="Segoe UI"/>
              </a:defRPr>
            </a:pPr>
            <a:r>
              <a:rPr sz="2025" b="0">
                <a:solidFill>
                  <a:srgbClr val="BACDB7"/>
                </a:solidFill>
                <a:latin typeface="Segoe UI"/>
                <a:ea typeface="Segoe UI"/>
                <a:cs typeface="Segoe UI"/>
              </a:rPr>
              <a:t>20</a:t>
            </a:r>
          </a:p>
        </p:txBody>
      </p:sp>
      <p:sp>
        <p:nvSpPr>
          <p:cNvPr id="62" name="Agenda 7 1">
            <a:extLst>
              <a:ext uri="{FF2B5EF4-FFF2-40B4-BE49-F238E27FC236}">
                <a16:creationId xmlns:a16="http://schemas.microsoft.com/office/drawing/2014/main" id="{289E1967-DEE5-492C-A3E9-2769614357EA}"/>
              </a:ext>
            </a:extLst>
          </p:cNvPr>
          <p:cNvSpPr>
            <a:spLocks noGrp="1"/>
          </p:cNvSpPr>
          <p:nvPr/>
        </p:nvSpPr>
        <p:spPr>
          <a:xfrm>
            <a:off x="609600" y="5238750"/>
            <a:ext cx="762000" cy="523875"/>
          </a:xfrm>
          <a:prstGeom prst="rect">
            <a:avLst/>
          </a:prstGeom>
          <a:noFill/>
          <a:ln w="0">
            <a:noFill/>
          </a:ln>
        </p:spPr>
        <p:txBody>
          <a:bodyPr wrap="square" lIns="0" tIns="0" rIns="0" bIns="0" anchor="t">
            <a:noAutofit/>
          </a:bodyPr>
          <a:lstStyle/>
          <a:p>
            <a:pPr algn="l">
              <a:defRPr sz="2625" b="1">
                <a:solidFill>
                  <a:srgbClr val="D9BC7F"/>
                </a:solidFill>
                <a:latin typeface="Segoe UI"/>
                <a:ea typeface="Segoe UI"/>
                <a:cs typeface="Segoe UI"/>
              </a:defRPr>
            </a:pPr>
            <a:r>
              <a:rPr sz="2625" b="1">
                <a:solidFill>
                  <a:srgbClr val="D9BC7F"/>
                </a:solidFill>
                <a:latin typeface="Segoe UI"/>
                <a:ea typeface="Segoe UI"/>
                <a:cs typeface="Segoe UI"/>
              </a:rPr>
              <a:t>07</a:t>
            </a:r>
          </a:p>
        </p:txBody>
      </p:sp>
      <p:sp>
        <p:nvSpPr>
          <p:cNvPr id="63" name="Agenda 7 2">
            <a:extLst>
              <a:ext uri="{FF2B5EF4-FFF2-40B4-BE49-F238E27FC236}">
                <a16:creationId xmlns:a16="http://schemas.microsoft.com/office/drawing/2014/main" id="{23B52B33-2D30-48DA-9EFE-74B2938FCF81}"/>
              </a:ext>
            </a:extLst>
          </p:cNvPr>
          <p:cNvSpPr>
            <a:spLocks noGrp="1"/>
          </p:cNvSpPr>
          <p:nvPr/>
        </p:nvSpPr>
        <p:spPr>
          <a:xfrm>
            <a:off x="1619250" y="5238750"/>
            <a:ext cx="8191500" cy="523875"/>
          </a:xfrm>
          <a:prstGeom prst="rect">
            <a:avLst/>
          </a:prstGeom>
          <a:noFill/>
          <a:ln w="0">
            <a:noFill/>
          </a:ln>
        </p:spPr>
        <p:txBody>
          <a:bodyPr wrap="square" lIns="0" tIns="0" rIns="0" bIns="0" anchor="t">
            <a:noAutofit/>
          </a:bodyPr>
          <a:lstStyle/>
          <a:p>
            <a:pPr algn="l">
              <a:defRPr sz="2550" b="1">
                <a:solidFill>
                  <a:srgbClr val="F4F7F3"/>
                </a:solidFill>
                <a:latin typeface="Segoe UI"/>
                <a:ea typeface="Segoe UI"/>
                <a:cs typeface="Segoe UI"/>
              </a:defRPr>
            </a:pPr>
            <a:r>
              <a:rPr sz="2550" b="1">
                <a:solidFill>
                  <a:srgbClr val="F4F7F3"/>
                </a:solidFill>
                <a:latin typeface="Segoe UI"/>
                <a:ea typeface="Segoe UI"/>
                <a:cs typeface="Segoe UI"/>
              </a:rPr>
              <a:t>État du projet et prochaines étapes</a:t>
            </a:r>
          </a:p>
        </p:txBody>
      </p:sp>
      <p:sp>
        <p:nvSpPr>
          <p:cNvPr id="64" name="Agenda 7 3">
            <a:extLst>
              <a:ext uri="{FF2B5EF4-FFF2-40B4-BE49-F238E27FC236}">
                <a16:creationId xmlns:a16="http://schemas.microsoft.com/office/drawing/2014/main" id="{13B3EE74-6CC3-4F3E-A2DC-CE2D9C325B78}"/>
              </a:ext>
            </a:extLst>
          </p:cNvPr>
          <p:cNvSpPr>
            <a:spLocks noGrp="1"/>
          </p:cNvSpPr>
          <p:nvPr/>
        </p:nvSpPr>
        <p:spPr>
          <a:xfrm>
            <a:off x="10382250" y="5295900"/>
            <a:ext cx="1200150" cy="400050"/>
          </a:xfrm>
          <a:prstGeom prst="rect">
            <a:avLst/>
          </a:prstGeom>
          <a:noFill/>
          <a:ln w="0">
            <a:noFill/>
          </a:ln>
        </p:spPr>
        <p:txBody>
          <a:bodyPr wrap="square" lIns="0" tIns="0" rIns="0" bIns="0" anchor="t">
            <a:noAutofit/>
          </a:bodyPr>
          <a:lstStyle/>
          <a:p>
            <a:pPr algn="l">
              <a:defRPr sz="2025" b="0">
                <a:solidFill>
                  <a:srgbClr val="BACDB7"/>
                </a:solidFill>
                <a:latin typeface="Segoe UI"/>
                <a:ea typeface="Segoe UI"/>
                <a:cs typeface="Segoe UI"/>
              </a:defRPr>
            </a:pPr>
            <a:r>
              <a:rPr sz="2025" b="0">
                <a:solidFill>
                  <a:srgbClr val="BACDB7"/>
                </a:solidFill>
                <a:latin typeface="Segoe UI"/>
                <a:ea typeface="Segoe UI"/>
                <a:cs typeface="Segoe UI"/>
              </a:rPr>
              <a:t>21–24</a:t>
            </a:r>
          </a:p>
        </p:txBody>
      </p:sp>
      <p:sp>
        <p:nvSpPr>
          <p:cNvPr id="65" name="Agenda plages">
            <a:extLst>
              <a:ext uri="{FF2B5EF4-FFF2-40B4-BE49-F238E27FC236}">
                <a16:creationId xmlns:a16="http://schemas.microsoft.com/office/drawing/2014/main" id="{64055D83-F527-4162-80BD-8E79F6FDA51F}"/>
              </a:ext>
            </a:extLst>
          </p:cNvPr>
          <p:cNvSpPr>
            <a:spLocks noGrp="1"/>
          </p:cNvSpPr>
          <p:nvPr/>
        </p:nvSpPr>
        <p:spPr>
          <a:xfrm>
            <a:off x="10382250" y="1447800"/>
            <a:ext cx="1200150" cy="304800"/>
          </a:xfrm>
          <a:prstGeom prst="rect">
            <a:avLst/>
          </a:prstGeom>
          <a:noFill/>
          <a:ln w="0">
            <a:noFill/>
          </a:ln>
        </p:spPr>
        <p:txBody>
          <a:bodyPr wrap="square" lIns="0" tIns="0" rIns="0" bIns="0" anchor="t">
            <a:noAutofit/>
          </a:bodyPr>
          <a:lstStyle/>
          <a:p>
            <a:pPr algn="l">
              <a:defRPr sz="1650" b="0">
                <a:solidFill>
                  <a:srgbClr val="BACDB7"/>
                </a:solidFill>
                <a:latin typeface="Segoe UI"/>
                <a:ea typeface="Segoe UI"/>
                <a:cs typeface="Segoe UI"/>
              </a:defRPr>
            </a:pPr>
            <a:r>
              <a:rPr sz="1650" b="0">
                <a:solidFill>
                  <a:srgbClr val="BACDB7"/>
                </a:solidFill>
                <a:latin typeface="Segoe UI"/>
                <a:ea typeface="Segoe UI"/>
                <a:cs typeface="Segoe UI"/>
              </a:rPr>
              <a:t>Diapos</a:t>
            </a:r>
          </a:p>
        </p:txBody>
      </p:sp>
      <p:sp>
        <p:nvSpPr>
          <p:cNvPr id="55" name="Rectangle 54">
            <a:extLst>
              <a:ext uri="{FF2B5EF4-FFF2-40B4-BE49-F238E27FC236}">
                <a16:creationId xmlns:a16="http://schemas.microsoft.com/office/drawing/2014/main" id="{122ECF40-79D6-4439-A0CC-196D8B3C3A29}"/>
              </a:ext>
            </a:extLst>
          </p:cNvPr>
          <p:cNvSpPr>
            <a:spLocks noGrp="1"/>
          </p:cNvSpPr>
          <p:nvPr/>
        </p:nvSpPr>
        <p:spPr>
          <a:xfrm>
            <a:off x="609600" y="6457950"/>
            <a:ext cx="8382000" cy="219075"/>
          </a:xfrm>
          <a:prstGeom prst="rect">
            <a:avLst/>
          </a:prstGeom>
          <a:noFill/>
          <a:ln w="0">
            <a:noFill/>
          </a:ln>
        </p:spPr>
        <p:txBody>
          <a:bodyPr wrap="square" lIns="0" tIns="0" rIns="0" bIns="0" anchor="t">
            <a:noAutofit/>
          </a:bodyPr>
          <a:lstStyle/>
          <a:p>
            <a:pPr algn="l">
              <a:buNone/>
              <a:defRPr sz="1125" b="0">
                <a:solidFill>
                  <a:srgbClr val="C1D0C1"/>
                </a:solidFill>
                <a:latin typeface="Segoe UI"/>
                <a:ea typeface="Segoe UI"/>
                <a:cs typeface="Segoe UI"/>
              </a:defRPr>
            </a:pPr>
            <a:r>
              <a:rPr sz="1125" b="0">
                <a:solidFill>
                  <a:srgbClr val="C1D0C1"/>
                </a:solidFill>
                <a:latin typeface="Segoe UI"/>
                <a:ea typeface="Segoe UI"/>
                <a:cs typeface="Segoe UI"/>
              </a:rPr>
              <a:t>Alcide / Pilotage du projet</a:t>
            </a:r>
          </a:p>
        </p:txBody>
      </p:sp>
      <p:sp>
        <p:nvSpPr>
          <p:cNvPr id="56" name="Rectangle 55">
            <a:extLst>
              <a:ext uri="{FF2B5EF4-FFF2-40B4-BE49-F238E27FC236}">
                <a16:creationId xmlns:a16="http://schemas.microsoft.com/office/drawing/2014/main" id="{8E67F436-A448-4079-A969-36678D6A8346}"/>
              </a:ext>
            </a:extLst>
          </p:cNvPr>
          <p:cNvSpPr>
            <a:spLocks noGrp="1"/>
          </p:cNvSpPr>
          <p:nvPr/>
        </p:nvSpPr>
        <p:spPr>
          <a:xfrm>
            <a:off x="11049000" y="6438900"/>
            <a:ext cx="533400" cy="228600"/>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02</a:t>
            </a:r>
          </a:p>
        </p:txBody>
      </p:sp>
    </p:spTree>
    <p:extLst>
      <p:ext uri="{BB962C8B-B14F-4D97-AF65-F5344CB8AC3E}">
        <p14:creationId xmlns:p14="http://schemas.microsoft.com/office/powerpoint/2010/main" val="1946735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B2923"/>
        </a:solidFill>
        <a:effectLst/>
      </p:bgPr>
    </p:bg>
    <p:spTree>
      <p:nvGrpSpPr>
        <p:cNvPr id="1" name=""/>
        <p:cNvGrpSpPr/>
        <p:nvPr/>
      </p:nvGrpSpPr>
      <p:grpSpPr>
        <a:xfrm>
          <a:off x="0" y="0"/>
          <a:ext cx="0" cy="0"/>
          <a:chOff x="0" y="0"/>
          <a:chExt cx="0" cy="0"/>
        </a:xfrm>
      </p:grpSpPr>
      <p:pic>
        <p:nvPicPr>
          <p:cNvPr id="31" name="Image 30"/>
          <p:cNvPicPr>
            <a:picLocks noChangeAspect="1"/>
          </p:cNvPicPr>
          <p:nvPr/>
        </p:nvPicPr>
        <p:blipFill>
          <a:blip r:embed="rId3"/>
          <a:srcRect t="27" b="27"/>
          <a:stretch>
            <a:fillRect/>
          </a:stretch>
        </p:blipFill>
        <p:spPr>
          <a:xfrm>
            <a:off x="0" y="0"/>
            <a:ext cx="12192000" cy="6858000"/>
          </a:xfrm>
          <a:prstGeom prst="rect">
            <a:avLst/>
          </a:prstGeom>
        </p:spPr>
      </p:pic>
      <p:sp>
        <p:nvSpPr>
          <p:cNvPr id="10" name="Rectangle 9">
            <a:extLst>
              <a:ext uri="{FF2B5EF4-FFF2-40B4-BE49-F238E27FC236}">
                <a16:creationId xmlns:a16="http://schemas.microsoft.com/office/drawing/2014/main" id="{AF96C79E-9105-4184-91D4-43980F0CC7E0}"/>
              </a:ext>
            </a:extLst>
          </p:cNvPr>
          <p:cNvSpPr>
            <a:spLocks noGrp="1"/>
          </p:cNvSpPr>
          <p:nvPr/>
        </p:nvSpPr>
        <p:spPr>
          <a:xfrm>
            <a:off x="609600" y="6457950"/>
            <a:ext cx="8382000" cy="219075"/>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Alcide / Pilotage du projet</a:t>
            </a:r>
          </a:p>
        </p:txBody>
      </p:sp>
      <p:sp>
        <p:nvSpPr>
          <p:cNvPr id="12" name="Rectangle 11">
            <a:extLst>
              <a:ext uri="{FF2B5EF4-FFF2-40B4-BE49-F238E27FC236}">
                <a16:creationId xmlns:a16="http://schemas.microsoft.com/office/drawing/2014/main" id="{0B153A72-2CE2-4CBA-AFDB-1679DD0A0A89}"/>
              </a:ext>
            </a:extLst>
          </p:cNvPr>
          <p:cNvSpPr>
            <a:spLocks noGrp="1"/>
          </p:cNvSpPr>
          <p:nvPr/>
        </p:nvSpPr>
        <p:spPr>
          <a:xfrm>
            <a:off x="609600" y="609600"/>
            <a:ext cx="10972800" cy="704850"/>
          </a:xfrm>
          <a:prstGeom prst="rect">
            <a:avLst/>
          </a:prstGeom>
          <a:noFill/>
          <a:ln w="0">
            <a:noFill/>
          </a:ln>
        </p:spPr>
        <p:txBody>
          <a:bodyPr wrap="square" lIns="0" tIns="0" rIns="0" bIns="0" anchor="t">
            <a:noAutofit/>
          </a:bodyPr>
          <a:lstStyle/>
          <a:p>
            <a:pPr algn="l">
              <a:buNone/>
              <a:defRPr sz="3750" b="1">
                <a:solidFill>
                  <a:srgbClr val="F4F7F3"/>
                </a:solidFill>
                <a:latin typeface="Segoe UI"/>
                <a:ea typeface="Segoe UI"/>
                <a:cs typeface="Segoe UI"/>
              </a:defRPr>
            </a:pPr>
            <a:r>
              <a:rPr sz="3750" b="1">
                <a:solidFill>
                  <a:srgbClr val="F4F7F3"/>
                </a:solidFill>
                <a:latin typeface="Segoe UI"/>
                <a:ea typeface="Segoe UI"/>
                <a:cs typeface="Segoe UI"/>
              </a:rPr>
              <a:t>Le besoin des utilisateurs</a:t>
            </a:r>
          </a:p>
        </p:txBody>
      </p:sp>
      <p:sp>
        <p:nvSpPr>
          <p:cNvPr id="13" name="Rectangle 12">
            <a:extLst>
              <a:ext uri="{FF2B5EF4-FFF2-40B4-BE49-F238E27FC236}">
                <a16:creationId xmlns:a16="http://schemas.microsoft.com/office/drawing/2014/main" id="{8E2AD561-898F-4DB7-8A9D-3ECFF65C5940}"/>
              </a:ext>
            </a:extLst>
          </p:cNvPr>
          <p:cNvSpPr>
            <a:spLocks noGrp="1"/>
          </p:cNvSpPr>
          <p:nvPr/>
        </p:nvSpPr>
        <p:spPr>
          <a:xfrm>
            <a:off x="609600" y="2076450"/>
            <a:ext cx="3171825" cy="457200"/>
          </a:xfrm>
          <a:prstGeom prst="rect">
            <a:avLst/>
          </a:prstGeom>
          <a:noFill/>
          <a:ln w="0">
            <a:noFill/>
          </a:ln>
        </p:spPr>
        <p:txBody>
          <a:bodyPr wrap="square" lIns="0" tIns="0" rIns="0" bIns="0" anchor="t">
            <a:noAutofit/>
          </a:bodyPr>
          <a:lstStyle/>
          <a:p>
            <a:pPr algn="l">
              <a:buNone/>
              <a:defRPr sz="2400" b="1">
                <a:solidFill>
                  <a:srgbClr val="BACDB7"/>
                </a:solidFill>
                <a:latin typeface="Segoe UI"/>
                <a:ea typeface="Segoe UI"/>
                <a:cs typeface="Segoe UI"/>
              </a:defRPr>
            </a:pPr>
            <a:r>
              <a:rPr sz="2400" b="1">
                <a:solidFill>
                  <a:srgbClr val="BACDB7"/>
                </a:solidFill>
                <a:latin typeface="Segoe UI"/>
                <a:ea typeface="Segoe UI"/>
                <a:cs typeface="Segoe UI"/>
              </a:rPr>
              <a:t>Préparer</a:t>
            </a:r>
          </a:p>
        </p:txBody>
      </p:sp>
      <p:sp>
        <p:nvSpPr>
          <p:cNvPr id="14" name="Rectangle 13">
            <a:extLst>
              <a:ext uri="{FF2B5EF4-FFF2-40B4-BE49-F238E27FC236}">
                <a16:creationId xmlns:a16="http://schemas.microsoft.com/office/drawing/2014/main" id="{008BF703-70D3-4E35-AD33-8AA076DA35D1}"/>
              </a:ext>
            </a:extLst>
          </p:cNvPr>
          <p:cNvSpPr>
            <a:spLocks noGrp="1"/>
          </p:cNvSpPr>
          <p:nvPr/>
        </p:nvSpPr>
        <p:spPr>
          <a:xfrm>
            <a:off x="609600" y="2638425"/>
            <a:ext cx="3171825" cy="9525"/>
          </a:xfrm>
          <a:prstGeom prst="rect">
            <a:avLst/>
          </a:prstGeom>
          <a:solidFill>
            <a:srgbClr val="5F7B69"/>
          </a:solidFill>
          <a:ln w="0">
            <a:noFill/>
          </a:ln>
        </p:spPr>
        <p:txBody>
          <a:bodyPr/>
          <a:lstStyle/>
          <a:p>
            <a:endParaRPr lang="fr-FR"/>
          </a:p>
        </p:txBody>
      </p:sp>
      <p:sp>
        <p:nvSpPr>
          <p:cNvPr id="15" name="Rectangle 14">
            <a:extLst>
              <a:ext uri="{FF2B5EF4-FFF2-40B4-BE49-F238E27FC236}">
                <a16:creationId xmlns:a16="http://schemas.microsoft.com/office/drawing/2014/main" id="{09B113BF-4116-4709-AE9C-E02FFBA945FB}"/>
              </a:ext>
            </a:extLst>
          </p:cNvPr>
          <p:cNvSpPr>
            <a:spLocks noGrp="1"/>
          </p:cNvSpPr>
          <p:nvPr/>
        </p:nvSpPr>
        <p:spPr>
          <a:xfrm>
            <a:off x="609600" y="2867025"/>
            <a:ext cx="3171825" cy="1257300"/>
          </a:xfrm>
          <a:prstGeom prst="rect">
            <a:avLst/>
          </a:prstGeom>
          <a:noFill/>
          <a:ln w="0">
            <a:noFill/>
          </a:ln>
        </p:spPr>
        <p:txBody>
          <a:bodyPr wrap="square" lIns="0" tIns="0" rIns="0" bIns="0" anchor="t">
            <a:noAutofit/>
          </a:bodyPr>
          <a:lstStyle/>
          <a:p>
            <a:pPr algn="l">
              <a:buNone/>
              <a:defRPr sz="2175" b="0">
                <a:solidFill>
                  <a:srgbClr val="F4F7F3"/>
                </a:solidFill>
                <a:latin typeface="Segoe UI"/>
                <a:ea typeface="Segoe UI"/>
                <a:cs typeface="Segoe UI"/>
              </a:defRPr>
            </a:pPr>
            <a:r>
              <a:rPr sz="2175" b="0">
                <a:solidFill>
                  <a:srgbClr val="F4F7F3"/>
                </a:solidFill>
                <a:latin typeface="Segoe UI"/>
                <a:ea typeface="Segoe UI"/>
                <a:cs typeface="Segoe UI"/>
              </a:rPr>
              <a:t>Une séance adaptée, par exemple pour 30 minutes.</a:t>
            </a:r>
          </a:p>
        </p:txBody>
      </p:sp>
      <p:sp>
        <p:nvSpPr>
          <p:cNvPr id="16" name="Rectangle 15">
            <a:extLst>
              <a:ext uri="{FF2B5EF4-FFF2-40B4-BE49-F238E27FC236}">
                <a16:creationId xmlns:a16="http://schemas.microsoft.com/office/drawing/2014/main" id="{E7B7700A-0FBD-4773-A247-41BAF6D0CD7C}"/>
              </a:ext>
            </a:extLst>
          </p:cNvPr>
          <p:cNvSpPr>
            <a:spLocks noGrp="1"/>
          </p:cNvSpPr>
          <p:nvPr/>
        </p:nvSpPr>
        <p:spPr>
          <a:xfrm>
            <a:off x="4267200" y="2076450"/>
            <a:ext cx="3171825" cy="457200"/>
          </a:xfrm>
          <a:prstGeom prst="rect">
            <a:avLst/>
          </a:prstGeom>
          <a:noFill/>
          <a:ln w="0">
            <a:noFill/>
          </a:ln>
        </p:spPr>
        <p:txBody>
          <a:bodyPr wrap="square" lIns="0" tIns="0" rIns="0" bIns="0" anchor="t">
            <a:noAutofit/>
          </a:bodyPr>
          <a:lstStyle/>
          <a:p>
            <a:pPr algn="l">
              <a:buNone/>
              <a:defRPr sz="2400" b="1">
                <a:solidFill>
                  <a:srgbClr val="BACDB7"/>
                </a:solidFill>
                <a:latin typeface="Segoe UI"/>
                <a:ea typeface="Segoe UI"/>
                <a:cs typeface="Segoe UI"/>
              </a:defRPr>
            </a:pPr>
            <a:r>
              <a:rPr sz="2400" b="1">
                <a:solidFill>
                  <a:srgbClr val="BACDB7"/>
                </a:solidFill>
                <a:latin typeface="Segoe UI"/>
                <a:ea typeface="Segoe UI"/>
                <a:cs typeface="Segoe UI"/>
              </a:rPr>
              <a:t>Retrouver</a:t>
            </a:r>
          </a:p>
        </p:txBody>
      </p:sp>
      <p:sp>
        <p:nvSpPr>
          <p:cNvPr id="17" name="Rectangle 16">
            <a:extLst>
              <a:ext uri="{FF2B5EF4-FFF2-40B4-BE49-F238E27FC236}">
                <a16:creationId xmlns:a16="http://schemas.microsoft.com/office/drawing/2014/main" id="{3DCBF30A-165E-4EBB-BFC6-128F3E986BF0}"/>
              </a:ext>
            </a:extLst>
          </p:cNvPr>
          <p:cNvSpPr>
            <a:spLocks noGrp="1"/>
          </p:cNvSpPr>
          <p:nvPr/>
        </p:nvSpPr>
        <p:spPr>
          <a:xfrm>
            <a:off x="4267200" y="2638425"/>
            <a:ext cx="3171825" cy="9525"/>
          </a:xfrm>
          <a:prstGeom prst="rect">
            <a:avLst/>
          </a:prstGeom>
          <a:solidFill>
            <a:srgbClr val="5F7B69"/>
          </a:solidFill>
          <a:ln w="0">
            <a:noFill/>
          </a:ln>
        </p:spPr>
        <p:txBody>
          <a:bodyPr/>
          <a:lstStyle/>
          <a:p>
            <a:endParaRPr lang="fr-FR"/>
          </a:p>
        </p:txBody>
      </p:sp>
      <p:sp>
        <p:nvSpPr>
          <p:cNvPr id="18" name="Rectangle 17">
            <a:extLst>
              <a:ext uri="{FF2B5EF4-FFF2-40B4-BE49-F238E27FC236}">
                <a16:creationId xmlns:a16="http://schemas.microsoft.com/office/drawing/2014/main" id="{E48F2860-16BA-42BF-A551-E2A2686EDEA2}"/>
              </a:ext>
            </a:extLst>
          </p:cNvPr>
          <p:cNvSpPr>
            <a:spLocks noGrp="1"/>
          </p:cNvSpPr>
          <p:nvPr/>
        </p:nvSpPr>
        <p:spPr>
          <a:xfrm>
            <a:off x="4267200" y="2867025"/>
            <a:ext cx="3171825" cy="1257300"/>
          </a:xfrm>
          <a:prstGeom prst="rect">
            <a:avLst/>
          </a:prstGeom>
          <a:noFill/>
          <a:ln w="0">
            <a:noFill/>
          </a:ln>
        </p:spPr>
        <p:txBody>
          <a:bodyPr wrap="square" lIns="0" tIns="0" rIns="0" bIns="0" anchor="t">
            <a:noAutofit/>
          </a:bodyPr>
          <a:lstStyle/>
          <a:p>
            <a:pPr algn="l">
              <a:buNone/>
              <a:defRPr sz="2175" b="0">
                <a:solidFill>
                  <a:srgbClr val="F4F7F3"/>
                </a:solidFill>
                <a:latin typeface="Segoe UI"/>
                <a:ea typeface="Segoe UI"/>
                <a:cs typeface="Segoe UI"/>
              </a:defRPr>
            </a:pPr>
            <a:r>
              <a:rPr sz="2175" b="0">
                <a:solidFill>
                  <a:srgbClr val="F4F7F3"/>
                </a:solidFill>
                <a:latin typeface="Segoe UI"/>
                <a:ea typeface="Segoe UI"/>
                <a:cs typeface="Segoe UI"/>
              </a:rPr>
              <a:t>La séance et le programme enregistrés.</a:t>
            </a:r>
          </a:p>
        </p:txBody>
      </p:sp>
      <p:sp>
        <p:nvSpPr>
          <p:cNvPr id="19" name="Rectangle 18">
            <a:extLst>
              <a:ext uri="{FF2B5EF4-FFF2-40B4-BE49-F238E27FC236}">
                <a16:creationId xmlns:a16="http://schemas.microsoft.com/office/drawing/2014/main" id="{177363D9-9D62-4960-8D9B-202643F899B6}"/>
              </a:ext>
            </a:extLst>
          </p:cNvPr>
          <p:cNvSpPr>
            <a:spLocks noGrp="1"/>
          </p:cNvSpPr>
          <p:nvPr/>
        </p:nvSpPr>
        <p:spPr>
          <a:xfrm>
            <a:off x="7924800" y="2076450"/>
            <a:ext cx="3171825" cy="457200"/>
          </a:xfrm>
          <a:prstGeom prst="rect">
            <a:avLst/>
          </a:prstGeom>
          <a:noFill/>
          <a:ln w="0">
            <a:noFill/>
          </a:ln>
        </p:spPr>
        <p:txBody>
          <a:bodyPr wrap="square" lIns="0" tIns="0" rIns="0" bIns="0" anchor="t">
            <a:noAutofit/>
          </a:bodyPr>
          <a:lstStyle/>
          <a:p>
            <a:pPr algn="l">
              <a:buNone/>
              <a:defRPr sz="2400" b="1">
                <a:solidFill>
                  <a:srgbClr val="BACDB7"/>
                </a:solidFill>
                <a:latin typeface="Segoe UI"/>
                <a:ea typeface="Segoe UI"/>
                <a:cs typeface="Segoe UI"/>
              </a:defRPr>
            </a:pPr>
            <a:r>
              <a:rPr sz="2400" b="1">
                <a:solidFill>
                  <a:srgbClr val="BACDB7"/>
                </a:solidFill>
                <a:latin typeface="Segoe UI"/>
                <a:ea typeface="Segoe UI"/>
                <a:cs typeface="Segoe UI"/>
              </a:rPr>
              <a:t>Suivre</a:t>
            </a:r>
          </a:p>
        </p:txBody>
      </p:sp>
      <p:sp>
        <p:nvSpPr>
          <p:cNvPr id="20" name="Rectangle 19">
            <a:extLst>
              <a:ext uri="{FF2B5EF4-FFF2-40B4-BE49-F238E27FC236}">
                <a16:creationId xmlns:a16="http://schemas.microsoft.com/office/drawing/2014/main" id="{3623B71A-954F-4355-80FD-027111763C58}"/>
              </a:ext>
            </a:extLst>
          </p:cNvPr>
          <p:cNvSpPr>
            <a:spLocks noGrp="1"/>
          </p:cNvSpPr>
          <p:nvPr/>
        </p:nvSpPr>
        <p:spPr>
          <a:xfrm>
            <a:off x="7924800" y="2638425"/>
            <a:ext cx="3171825" cy="9525"/>
          </a:xfrm>
          <a:prstGeom prst="rect">
            <a:avLst/>
          </a:prstGeom>
          <a:solidFill>
            <a:srgbClr val="5F7B69"/>
          </a:solidFill>
          <a:ln w="0">
            <a:noFill/>
          </a:ln>
        </p:spPr>
        <p:txBody>
          <a:bodyPr/>
          <a:lstStyle/>
          <a:p>
            <a:endParaRPr lang="fr-FR"/>
          </a:p>
        </p:txBody>
      </p:sp>
      <p:sp>
        <p:nvSpPr>
          <p:cNvPr id="21" name="Rectangle 20">
            <a:extLst>
              <a:ext uri="{FF2B5EF4-FFF2-40B4-BE49-F238E27FC236}">
                <a16:creationId xmlns:a16="http://schemas.microsoft.com/office/drawing/2014/main" id="{C0EC2DC6-9C6F-4811-A844-123782E00A5F}"/>
              </a:ext>
            </a:extLst>
          </p:cNvPr>
          <p:cNvSpPr>
            <a:spLocks noGrp="1"/>
          </p:cNvSpPr>
          <p:nvPr/>
        </p:nvSpPr>
        <p:spPr>
          <a:xfrm>
            <a:off x="7924800" y="2867025"/>
            <a:ext cx="3171825" cy="1257300"/>
          </a:xfrm>
          <a:prstGeom prst="rect">
            <a:avLst/>
          </a:prstGeom>
          <a:noFill/>
          <a:ln w="0">
            <a:noFill/>
          </a:ln>
        </p:spPr>
        <p:txBody>
          <a:bodyPr wrap="square" lIns="0" tIns="0" rIns="0" bIns="0" anchor="t">
            <a:noAutofit/>
          </a:bodyPr>
          <a:lstStyle/>
          <a:p>
            <a:pPr algn="l">
              <a:buNone/>
              <a:defRPr sz="2175" b="0">
                <a:solidFill>
                  <a:srgbClr val="F4F7F3"/>
                </a:solidFill>
                <a:latin typeface="Segoe UI"/>
                <a:ea typeface="Segoe UI"/>
                <a:cs typeface="Segoe UI"/>
              </a:defRPr>
            </a:pPr>
            <a:r>
              <a:rPr sz="2175" b="0">
                <a:solidFill>
                  <a:srgbClr val="F4F7F3"/>
                </a:solidFill>
                <a:latin typeface="Segoe UI"/>
                <a:ea typeface="Segoe UI"/>
                <a:cs typeface="Segoe UI"/>
              </a:rPr>
              <a:t>Le minuteur, le ressenti et la progression.</a:t>
            </a:r>
          </a:p>
        </p:txBody>
      </p:sp>
      <p:sp>
        <p:nvSpPr>
          <p:cNvPr id="22" name="Rectangle 21">
            <a:extLst>
              <a:ext uri="{FF2B5EF4-FFF2-40B4-BE49-F238E27FC236}">
                <a16:creationId xmlns:a16="http://schemas.microsoft.com/office/drawing/2014/main" id="{9166F276-74F5-4F82-873C-25F083C6B1D9}"/>
              </a:ext>
            </a:extLst>
          </p:cNvPr>
          <p:cNvSpPr>
            <a:spLocks noGrp="1"/>
          </p:cNvSpPr>
          <p:nvPr/>
        </p:nvSpPr>
        <p:spPr>
          <a:xfrm>
            <a:off x="609600" y="4524375"/>
            <a:ext cx="10972800" cy="9525"/>
          </a:xfrm>
          <a:prstGeom prst="rect">
            <a:avLst/>
          </a:prstGeom>
          <a:solidFill>
            <a:srgbClr val="5F7B69"/>
          </a:solidFill>
          <a:ln w="0">
            <a:noFill/>
          </a:ln>
        </p:spPr>
        <p:txBody>
          <a:bodyPr/>
          <a:lstStyle/>
          <a:p>
            <a:endParaRPr lang="fr-FR"/>
          </a:p>
        </p:txBody>
      </p:sp>
      <p:sp>
        <p:nvSpPr>
          <p:cNvPr id="23" name="Rectangle 22">
            <a:extLst>
              <a:ext uri="{FF2B5EF4-FFF2-40B4-BE49-F238E27FC236}">
                <a16:creationId xmlns:a16="http://schemas.microsoft.com/office/drawing/2014/main" id="{90EE078C-04E3-4284-8ECD-9A64FB8B4DDC}"/>
              </a:ext>
            </a:extLst>
          </p:cNvPr>
          <p:cNvSpPr>
            <a:spLocks noGrp="1"/>
          </p:cNvSpPr>
          <p:nvPr/>
        </p:nvSpPr>
        <p:spPr>
          <a:xfrm>
            <a:off x="609600" y="4857750"/>
            <a:ext cx="3429000" cy="457200"/>
          </a:xfrm>
          <a:prstGeom prst="rect">
            <a:avLst/>
          </a:prstGeom>
          <a:noFill/>
          <a:ln w="0">
            <a:noFill/>
          </a:ln>
        </p:spPr>
        <p:txBody>
          <a:bodyPr wrap="square" lIns="0" tIns="0" rIns="0" bIns="0" anchor="t">
            <a:noAutofit/>
          </a:bodyPr>
          <a:lstStyle/>
          <a:p>
            <a:pPr algn="l">
              <a:buNone/>
              <a:defRPr sz="2100" b="1">
                <a:solidFill>
                  <a:srgbClr val="BACDB7"/>
                </a:solidFill>
                <a:latin typeface="Segoe UI"/>
                <a:ea typeface="Segoe UI"/>
                <a:cs typeface="Segoe UI"/>
              </a:defRPr>
            </a:pPr>
            <a:r>
              <a:rPr sz="2100" b="1">
                <a:solidFill>
                  <a:srgbClr val="BACDB7"/>
                </a:solidFill>
                <a:latin typeface="Segoe UI"/>
                <a:ea typeface="Segoe UI"/>
                <a:cs typeface="Segoe UI"/>
              </a:rPr>
              <a:t>Priorités initiales</a:t>
            </a:r>
          </a:p>
        </p:txBody>
      </p:sp>
      <p:sp>
        <p:nvSpPr>
          <p:cNvPr id="24" name="Rectangle 23">
            <a:extLst>
              <a:ext uri="{FF2B5EF4-FFF2-40B4-BE49-F238E27FC236}">
                <a16:creationId xmlns:a16="http://schemas.microsoft.com/office/drawing/2014/main" id="{B07AC0AC-BD57-4D8A-8A42-62AD9C4630F1}"/>
              </a:ext>
            </a:extLst>
          </p:cNvPr>
          <p:cNvSpPr>
            <a:spLocks noGrp="1"/>
          </p:cNvSpPr>
          <p:nvPr/>
        </p:nvSpPr>
        <p:spPr>
          <a:xfrm>
            <a:off x="4267200" y="4857750"/>
            <a:ext cx="7315200" cy="762000"/>
          </a:xfrm>
          <a:prstGeom prst="rect">
            <a:avLst/>
          </a:prstGeom>
          <a:noFill/>
          <a:ln w="0">
            <a:noFill/>
          </a:ln>
        </p:spPr>
        <p:txBody>
          <a:bodyPr wrap="square" lIns="0" tIns="0" rIns="0" bIns="0" anchor="t">
            <a:noAutofit/>
          </a:bodyPr>
          <a:lstStyle/>
          <a:p>
            <a:pPr algn="l">
              <a:buNone/>
              <a:defRPr sz="2400" b="0">
                <a:solidFill>
                  <a:srgbClr val="F4F7F3"/>
                </a:solidFill>
                <a:latin typeface="Segoe UI"/>
                <a:ea typeface="Segoe UI"/>
                <a:cs typeface="Segoe UI"/>
              </a:defRPr>
            </a:pPr>
            <a:r>
              <a:rPr sz="2400" b="0">
                <a:solidFill>
                  <a:srgbClr val="F4F7F3"/>
                </a:solidFill>
                <a:latin typeface="Segoe UI"/>
                <a:ea typeface="Segoe UI"/>
                <a:cs typeface="Segoe UI"/>
              </a:rPr>
              <a:t>Connexion, génération et sauvegarde</a:t>
            </a:r>
          </a:p>
        </p:txBody>
      </p:sp>
      <p:sp>
        <p:nvSpPr>
          <p:cNvPr id="28" name="Rectangle 27">
            <a:extLst>
              <a:ext uri="{FF2B5EF4-FFF2-40B4-BE49-F238E27FC236}">
                <a16:creationId xmlns:a16="http://schemas.microsoft.com/office/drawing/2014/main" id="{0E7CFA79-B180-4608-A337-EF8710AE4D63}"/>
              </a:ext>
            </a:extLst>
          </p:cNvPr>
          <p:cNvSpPr>
            <a:spLocks noGrp="1"/>
          </p:cNvSpPr>
          <p:nvPr/>
        </p:nvSpPr>
        <p:spPr>
          <a:xfrm>
            <a:off x="11049000" y="6438900"/>
            <a:ext cx="533400" cy="228600"/>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03</a:t>
            </a:r>
          </a:p>
        </p:txBody>
      </p:sp>
    </p:spTree>
    <p:extLst>
      <p:ext uri="{BB962C8B-B14F-4D97-AF65-F5344CB8AC3E}">
        <p14:creationId xmlns:p14="http://schemas.microsoft.com/office/powerpoint/2010/main" val="1946735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2923"/>
        </a:solidFill>
        <a:effectLst/>
      </p:bgPr>
    </p:bg>
    <p:spTree>
      <p:nvGrpSpPr>
        <p:cNvPr id="1" name=""/>
        <p:cNvGrpSpPr/>
        <p:nvPr/>
      </p:nvGrpSpPr>
      <p:grpSpPr>
        <a:xfrm>
          <a:off x="0" y="0"/>
          <a:ext cx="0" cy="0"/>
          <a:chOff x="0" y="0"/>
          <a:chExt cx="0" cy="0"/>
        </a:xfrm>
      </p:grpSpPr>
      <p:pic>
        <p:nvPicPr>
          <p:cNvPr id="48" name="Image 47"/>
          <p:cNvPicPr>
            <a:picLocks noChangeAspect="1"/>
          </p:cNvPicPr>
          <p:nvPr/>
        </p:nvPicPr>
        <p:blipFill>
          <a:blip r:embed="rId3"/>
          <a:srcRect t="27" b="27"/>
          <a:stretch>
            <a:fillRect/>
          </a:stretch>
        </p:blipFill>
        <p:spPr>
          <a:xfrm>
            <a:off x="0" y="0"/>
            <a:ext cx="12192000" cy="6858000"/>
          </a:xfrm>
          <a:prstGeom prst="rect">
            <a:avLst/>
          </a:prstGeom>
        </p:spPr>
      </p:pic>
      <p:sp>
        <p:nvSpPr>
          <p:cNvPr id="39" name="Rectangle 38">
            <a:extLst>
              <a:ext uri="{FF2B5EF4-FFF2-40B4-BE49-F238E27FC236}">
                <a16:creationId xmlns:a16="http://schemas.microsoft.com/office/drawing/2014/main" id="{26027199-7303-4783-AD33-2ECD02536959}"/>
              </a:ext>
            </a:extLst>
          </p:cNvPr>
          <p:cNvSpPr>
            <a:spLocks noGrp="1"/>
          </p:cNvSpPr>
          <p:nvPr/>
        </p:nvSpPr>
        <p:spPr>
          <a:xfrm>
            <a:off x="609600" y="609600"/>
            <a:ext cx="10972800" cy="704850"/>
          </a:xfrm>
          <a:prstGeom prst="rect">
            <a:avLst/>
          </a:prstGeom>
          <a:noFill/>
          <a:ln w="0">
            <a:noFill/>
          </a:ln>
        </p:spPr>
        <p:txBody>
          <a:bodyPr wrap="square" lIns="0" tIns="0" rIns="0" bIns="0" anchor="t">
            <a:noAutofit/>
          </a:bodyPr>
          <a:lstStyle/>
          <a:p>
            <a:pPr algn="l">
              <a:buNone/>
              <a:defRPr sz="3450" b="1">
                <a:solidFill>
                  <a:srgbClr val="F4F7F3"/>
                </a:solidFill>
                <a:latin typeface="Segoe UI"/>
                <a:ea typeface="Segoe UI"/>
                <a:cs typeface="Segoe UI"/>
              </a:defRPr>
            </a:pPr>
            <a:r>
              <a:rPr sz="3450" b="1">
                <a:solidFill>
                  <a:srgbClr val="F4F7F3"/>
                </a:solidFill>
                <a:latin typeface="Segoe UI"/>
                <a:ea typeface="Segoe UI"/>
                <a:cs typeface="Segoe UI"/>
              </a:rPr>
              <a:t>L’équipe projet — scénario fictif</a:t>
            </a:r>
          </a:p>
        </p:txBody>
      </p:sp>
      <p:graphicFrame>
        <p:nvGraphicFramePr>
          <p:cNvPr id="51" name="Tableau 50"/>
          <p:cNvGraphicFramePr/>
          <p:nvPr/>
        </p:nvGraphicFramePr>
        <p:xfrm>
          <a:off x="609600" y="2019300"/>
          <a:ext cx="10972800" cy="2886078"/>
        </p:xfrm>
        <a:graphic>
          <a:graphicData uri="http://schemas.openxmlformats.org/drawingml/2006/table">
            <a:tbl>
              <a:tblPr/>
              <a:tblGrid>
                <a:gridCol w="3476625">
                  <a:extLst>
                    <a:ext uri="{9D8B030D-6E8A-4147-A177-3AD203B41FA5}">
                      <a16:colId xmlns:a16="http://schemas.microsoft.com/office/drawing/2014/main" val="20000"/>
                    </a:ext>
                  </a:extLst>
                </a:gridCol>
                <a:gridCol w="7496175">
                  <a:extLst>
                    <a:ext uri="{9D8B030D-6E8A-4147-A177-3AD203B41FA5}">
                      <a16:colId xmlns:a16="http://schemas.microsoft.com/office/drawing/2014/main" val="20001"/>
                    </a:ext>
                  </a:extLst>
                </a:gridCol>
              </a:tblGrid>
              <a:tr h="481013">
                <a:tc>
                  <a:txBody>
                    <a:bodyPr/>
                    <a:lstStyle/>
                    <a:p>
                      <a:pPr algn="l">
                        <a:buNone/>
                      </a:pPr>
                      <a:r>
                        <a:rPr sz="1875" b="1">
                          <a:solidFill>
                            <a:srgbClr val="BACDB7"/>
                          </a:solidFill>
                          <a:latin typeface="Segoe UI"/>
                          <a:ea typeface="Segoe UI"/>
                          <a:cs typeface="Segoe UI"/>
                        </a:rPr>
                        <a:t>Profil</a:t>
                      </a:r>
                    </a:p>
                  </a:txBody>
                  <a:tcPr marL="95250" marR="76200" marT="0" marB="0" anchor="ctr">
                    <a:solidFill>
                      <a:srgbClr val="213B2E"/>
                    </a:solidFill>
                  </a:tcPr>
                </a:tc>
                <a:tc>
                  <a:txBody>
                    <a:bodyPr/>
                    <a:lstStyle/>
                    <a:p>
                      <a:pPr algn="l">
                        <a:buNone/>
                      </a:pPr>
                      <a:r>
                        <a:rPr sz="1875" b="1">
                          <a:solidFill>
                            <a:srgbClr val="BACDB7"/>
                          </a:solidFill>
                          <a:latin typeface="Segoe UI"/>
                          <a:ea typeface="Segoe UI"/>
                          <a:cs typeface="Segoe UI"/>
                        </a:rPr>
                        <a:t>Responsabilité</a:t>
                      </a:r>
                    </a:p>
                  </a:txBody>
                  <a:tcPr marL="95250" marR="76200" marT="0" marB="0" anchor="ctr">
                    <a:solidFill>
                      <a:srgbClr val="213B2E"/>
                    </a:solidFill>
                  </a:tcPr>
                </a:tc>
                <a:extLst>
                  <a:ext uri="{0D108BD9-81ED-4DB2-BD59-A6C34878D82A}">
                    <a16:rowId xmlns:a16="http://schemas.microsoft.com/office/drawing/2014/main" val="10000"/>
                  </a:ext>
                </a:extLst>
              </a:tr>
              <a:tr h="481013">
                <a:tc>
                  <a:txBody>
                    <a:bodyPr/>
                    <a:lstStyle/>
                    <a:p>
                      <a:pPr algn="l">
                        <a:buNone/>
                      </a:pPr>
                      <a:r>
                        <a:rPr sz="1875" b="0">
                          <a:solidFill>
                            <a:srgbClr val="F4F7F3"/>
                          </a:solidFill>
                          <a:latin typeface="Segoe UI"/>
                          <a:ea typeface="Segoe UI"/>
                          <a:cs typeface="Segoe UI"/>
                        </a:rPr>
                        <a:t>PO</a:t>
                      </a:r>
                    </a:p>
                  </a:txBody>
                  <a:tcPr marL="95250" marR="76200" marT="0" marB="0" anchor="ctr">
                    <a:solidFill>
                      <a:srgbClr val="1B2923"/>
                    </a:solidFill>
                  </a:tcPr>
                </a:tc>
                <a:tc>
                  <a:txBody>
                    <a:bodyPr/>
                    <a:lstStyle/>
                    <a:p>
                      <a:pPr algn="l">
                        <a:buNone/>
                      </a:pPr>
                      <a:r>
                        <a:rPr sz="1875" b="0">
                          <a:solidFill>
                            <a:srgbClr val="F4F7F3"/>
                          </a:solidFill>
                          <a:latin typeface="Segoe UI"/>
                          <a:ea typeface="Segoe UI"/>
                          <a:cs typeface="Segoe UI"/>
                        </a:rPr>
                        <a:t>Besoin, priorités et relation avec le commanditaire</a:t>
                      </a:r>
                    </a:p>
                  </a:txBody>
                  <a:tcPr marL="95250" marR="76200" marT="0" marB="0" anchor="ctr">
                    <a:solidFill>
                      <a:srgbClr val="1B2923"/>
                    </a:solidFill>
                  </a:tcPr>
                </a:tc>
                <a:extLst>
                  <a:ext uri="{0D108BD9-81ED-4DB2-BD59-A6C34878D82A}">
                    <a16:rowId xmlns:a16="http://schemas.microsoft.com/office/drawing/2014/main" val="10001"/>
                  </a:ext>
                </a:extLst>
              </a:tr>
              <a:tr h="481013">
                <a:tc>
                  <a:txBody>
                    <a:bodyPr/>
                    <a:lstStyle/>
                    <a:p>
                      <a:pPr algn="l">
                        <a:buNone/>
                      </a:pPr>
                      <a:r>
                        <a:rPr sz="1875" b="0">
                          <a:solidFill>
                            <a:srgbClr val="F4F7F3"/>
                          </a:solidFill>
                          <a:latin typeface="Segoe UI"/>
                          <a:ea typeface="Segoe UI"/>
                          <a:cs typeface="Segoe UI"/>
                        </a:rPr>
                        <a:t>Kevin, lead full-stack</a:t>
                      </a:r>
                    </a:p>
                  </a:txBody>
                  <a:tcPr marL="95250" marR="76200" marT="0" marB="0" anchor="ctr">
                    <a:solidFill>
                      <a:srgbClr val="1B2923"/>
                    </a:solidFill>
                  </a:tcPr>
                </a:tc>
                <a:tc>
                  <a:txBody>
                    <a:bodyPr/>
                    <a:lstStyle/>
                    <a:p>
                      <a:pPr algn="l">
                        <a:buNone/>
                      </a:pPr>
                      <a:r>
                        <a:rPr sz="1875" b="0">
                          <a:solidFill>
                            <a:srgbClr val="F4F7F3"/>
                          </a:solidFill>
                          <a:latin typeface="Segoe UI"/>
                          <a:ea typeface="Segoe UI"/>
                          <a:cs typeface="Segoe UI"/>
                        </a:rPr>
                        <a:t>Coordination technique, développement et livraison</a:t>
                      </a:r>
                    </a:p>
                  </a:txBody>
                  <a:tcPr marL="95250" marR="76200" marT="0" marB="0" anchor="ctr">
                    <a:solidFill>
                      <a:srgbClr val="1B2923"/>
                    </a:solidFill>
                  </a:tcPr>
                </a:tc>
                <a:extLst>
                  <a:ext uri="{0D108BD9-81ED-4DB2-BD59-A6C34878D82A}">
                    <a16:rowId xmlns:a16="http://schemas.microsoft.com/office/drawing/2014/main" val="10002"/>
                  </a:ext>
                </a:extLst>
              </a:tr>
              <a:tr h="481013">
                <a:tc>
                  <a:txBody>
                    <a:bodyPr/>
                    <a:lstStyle/>
                    <a:p>
                      <a:pPr algn="l">
                        <a:buNone/>
                      </a:pPr>
                      <a:r>
                        <a:rPr sz="1875" b="0">
                          <a:solidFill>
                            <a:srgbClr val="F4F7F3"/>
                          </a:solidFill>
                          <a:latin typeface="Segoe UI"/>
                          <a:ea typeface="Segoe UI"/>
                          <a:cs typeface="Segoe UI"/>
                        </a:rPr>
                        <a:t>QA</a:t>
                      </a:r>
                    </a:p>
                  </a:txBody>
                  <a:tcPr marL="95250" marR="76200" marT="0" marB="0" anchor="ctr">
                    <a:solidFill>
                      <a:srgbClr val="1B2923"/>
                    </a:solidFill>
                  </a:tcPr>
                </a:tc>
                <a:tc>
                  <a:txBody>
                    <a:bodyPr/>
                    <a:lstStyle/>
                    <a:p>
                      <a:pPr algn="l">
                        <a:buNone/>
                      </a:pPr>
                      <a:r>
                        <a:rPr sz="1875" b="0">
                          <a:solidFill>
                            <a:srgbClr val="F4F7F3"/>
                          </a:solidFill>
                          <a:latin typeface="Segoe UI"/>
                          <a:ea typeface="Segoe UI"/>
                          <a:cs typeface="Segoe UI"/>
                        </a:rPr>
                        <a:t>Recette, anomalies et vérification des corrections</a:t>
                      </a:r>
                    </a:p>
                  </a:txBody>
                  <a:tcPr marL="95250" marR="76200" marT="0" marB="0" anchor="ctr">
                    <a:solidFill>
                      <a:srgbClr val="1B2923"/>
                    </a:solidFill>
                  </a:tcPr>
                </a:tc>
                <a:extLst>
                  <a:ext uri="{0D108BD9-81ED-4DB2-BD59-A6C34878D82A}">
                    <a16:rowId xmlns:a16="http://schemas.microsoft.com/office/drawing/2014/main" val="10003"/>
                  </a:ext>
                </a:extLst>
              </a:tr>
              <a:tr h="481013">
                <a:tc>
                  <a:txBody>
                    <a:bodyPr/>
                    <a:lstStyle/>
                    <a:p>
                      <a:pPr algn="l">
                        <a:buNone/>
                      </a:pPr>
                      <a:r>
                        <a:rPr sz="1875" b="0">
                          <a:solidFill>
                            <a:srgbClr val="F4F7F3"/>
                          </a:solidFill>
                          <a:latin typeface="Segoe UI"/>
                          <a:ea typeface="Segoe UI"/>
                          <a:cs typeface="Segoe UI"/>
                        </a:rPr>
                        <a:t>Référent sécurité</a:t>
                      </a:r>
                    </a:p>
                  </a:txBody>
                  <a:tcPr marL="95250" marR="76200" marT="0" marB="0" anchor="ctr">
                    <a:solidFill>
                      <a:srgbClr val="1B2923"/>
                    </a:solidFill>
                  </a:tcPr>
                </a:tc>
                <a:tc>
                  <a:txBody>
                    <a:bodyPr/>
                    <a:lstStyle/>
                    <a:p>
                      <a:pPr algn="l">
                        <a:buNone/>
                      </a:pPr>
                      <a:r>
                        <a:rPr sz="1875" b="0">
                          <a:solidFill>
                            <a:srgbClr val="F4F7F3"/>
                          </a:solidFill>
                          <a:latin typeface="Segoe UI"/>
                          <a:ea typeface="Segoe UI"/>
                          <a:cs typeface="Segoe UI"/>
                        </a:rPr>
                        <a:t>Accès, données et contrôles avant livraison</a:t>
                      </a:r>
                    </a:p>
                  </a:txBody>
                  <a:tcPr marL="95250" marR="76200" marT="0" marB="0" anchor="ctr">
                    <a:solidFill>
                      <a:srgbClr val="1B2923"/>
                    </a:solidFill>
                  </a:tcPr>
                </a:tc>
                <a:extLst>
                  <a:ext uri="{0D108BD9-81ED-4DB2-BD59-A6C34878D82A}">
                    <a16:rowId xmlns:a16="http://schemas.microsoft.com/office/drawing/2014/main" val="10004"/>
                  </a:ext>
                </a:extLst>
              </a:tr>
              <a:tr h="481013">
                <a:tc>
                  <a:txBody>
                    <a:bodyPr/>
                    <a:lstStyle/>
                    <a:p>
                      <a:pPr algn="l">
                        <a:buNone/>
                      </a:pPr>
                      <a:r>
                        <a:rPr sz="1875" b="0">
                          <a:solidFill>
                            <a:srgbClr val="F4F7F3"/>
                          </a:solidFill>
                          <a:latin typeface="Segoe UI"/>
                          <a:ea typeface="Segoe UI"/>
                          <a:cs typeface="Segoe UI"/>
                        </a:rPr>
                        <a:t>Référent sport</a:t>
                      </a:r>
                    </a:p>
                  </a:txBody>
                  <a:tcPr marL="95250" marR="76200" marT="0" marB="0" anchor="ctr">
                    <a:solidFill>
                      <a:srgbClr val="1B2923"/>
                    </a:solidFill>
                  </a:tcPr>
                </a:tc>
                <a:tc>
                  <a:txBody>
                    <a:bodyPr/>
                    <a:lstStyle/>
                    <a:p>
                      <a:pPr algn="l">
                        <a:buNone/>
                      </a:pPr>
                      <a:r>
                        <a:rPr sz="1875" b="0">
                          <a:solidFill>
                            <a:srgbClr val="F4F7F3"/>
                          </a:solidFill>
                          <a:latin typeface="Segoe UI"/>
                          <a:ea typeface="Segoe UI"/>
                          <a:cs typeface="Segoe UI"/>
                        </a:rPr>
                        <a:t>Cohérence des séances et avis métier</a:t>
                      </a:r>
                    </a:p>
                  </a:txBody>
                  <a:tcPr marL="95250" marR="76200" marT="0" marB="0" anchor="ctr">
                    <a:solidFill>
                      <a:srgbClr val="1B2923"/>
                    </a:solidFill>
                  </a:tcPr>
                </a:tc>
                <a:extLst>
                  <a:ext uri="{0D108BD9-81ED-4DB2-BD59-A6C34878D82A}">
                    <a16:rowId xmlns:a16="http://schemas.microsoft.com/office/drawing/2014/main" val="10005"/>
                  </a:ext>
                </a:extLst>
              </a:tr>
            </a:tbl>
          </a:graphicData>
        </a:graphic>
      </p:graphicFrame>
      <p:sp>
        <p:nvSpPr>
          <p:cNvPr id="42" name="Rectangle 41">
            <a:extLst>
              <a:ext uri="{FF2B5EF4-FFF2-40B4-BE49-F238E27FC236}">
                <a16:creationId xmlns:a16="http://schemas.microsoft.com/office/drawing/2014/main" id="{C388D619-FCF6-45E0-9813-BFDCF02F8C90}"/>
              </a:ext>
            </a:extLst>
          </p:cNvPr>
          <p:cNvSpPr>
            <a:spLocks noGrp="1"/>
          </p:cNvSpPr>
          <p:nvPr/>
        </p:nvSpPr>
        <p:spPr>
          <a:xfrm>
            <a:off x="609600" y="5172075"/>
            <a:ext cx="10972800" cy="647700"/>
          </a:xfrm>
          <a:prstGeom prst="rect">
            <a:avLst/>
          </a:prstGeom>
          <a:noFill/>
          <a:ln w="0">
            <a:noFill/>
          </a:ln>
        </p:spPr>
        <p:txBody>
          <a:bodyPr wrap="square" lIns="0" tIns="0" rIns="0" bIns="0" anchor="t">
            <a:noAutofit/>
          </a:bodyPr>
          <a:lstStyle/>
          <a:p>
            <a:pPr algn="l">
              <a:buNone/>
              <a:defRPr sz="1950" b="1">
                <a:solidFill>
                  <a:srgbClr val="BACDB7"/>
                </a:solidFill>
                <a:latin typeface="Segoe UI"/>
                <a:ea typeface="Segoe UI"/>
                <a:cs typeface="Segoe UI"/>
              </a:defRPr>
            </a:pPr>
            <a:r>
              <a:rPr sz="1950" b="1">
                <a:solidFill>
                  <a:srgbClr val="BACDB7"/>
                </a:solidFill>
                <a:latin typeface="Segoe UI"/>
                <a:ea typeface="Segoe UI"/>
                <a:cs typeface="Segoe UI"/>
              </a:rPr>
              <a:t>Dans cette mise en situation, la personne chargée de QA est malentendante.</a:t>
            </a:r>
          </a:p>
          <a:p>
            <a:pPr algn="l">
              <a:buNone/>
              <a:defRPr sz="1950" b="1">
                <a:solidFill>
                  <a:srgbClr val="BACDB7"/>
                </a:solidFill>
                <a:latin typeface="Segoe UI"/>
                <a:ea typeface="Segoe UI"/>
                <a:cs typeface="Segoe UI"/>
              </a:defRPr>
            </a:pPr>
            <a:r>
              <a:rPr sz="1950" b="1">
                <a:solidFill>
                  <a:srgbClr val="BACDB7"/>
                </a:solidFill>
                <a:latin typeface="Segoe UI"/>
                <a:ea typeface="Segoe UI"/>
                <a:cs typeface="Segoe UI"/>
              </a:rPr>
              <a:t>Les adaptations sont définies avec elle.</a:t>
            </a:r>
          </a:p>
        </p:txBody>
      </p:sp>
      <p:sp>
        <p:nvSpPr>
          <p:cNvPr id="43" name="Rectangle 42">
            <a:extLst>
              <a:ext uri="{FF2B5EF4-FFF2-40B4-BE49-F238E27FC236}">
                <a16:creationId xmlns:a16="http://schemas.microsoft.com/office/drawing/2014/main" id="{CFECFBA7-B5AF-430B-9D61-54B3BDA2E5B4}"/>
              </a:ext>
            </a:extLst>
          </p:cNvPr>
          <p:cNvSpPr>
            <a:spLocks noGrp="1"/>
          </p:cNvSpPr>
          <p:nvPr/>
        </p:nvSpPr>
        <p:spPr>
          <a:xfrm>
            <a:off x="609600" y="6076950"/>
            <a:ext cx="10972800" cy="304800"/>
          </a:xfrm>
          <a:prstGeom prst="rect">
            <a:avLst/>
          </a:prstGeom>
          <a:noFill/>
          <a:ln w="0">
            <a:noFill/>
          </a:ln>
        </p:spPr>
        <p:txBody>
          <a:bodyPr wrap="square" lIns="0" tIns="0" rIns="0" bIns="0" anchor="t">
            <a:noAutofit/>
          </a:bodyPr>
          <a:lstStyle/>
          <a:p>
            <a:pPr algn="l">
              <a:buNone/>
              <a:defRPr sz="1875" b="0">
                <a:solidFill>
                  <a:srgbClr val="C1D0C1"/>
                </a:solidFill>
                <a:latin typeface="Segoe UI"/>
                <a:ea typeface="Segoe UI"/>
                <a:cs typeface="Segoe UI"/>
              </a:defRPr>
            </a:pPr>
            <a:r>
              <a:rPr sz="1875" b="0" dirty="0">
                <a:solidFill>
                  <a:srgbClr val="C1D0C1"/>
                </a:solidFill>
                <a:latin typeface="Segoe UI"/>
                <a:ea typeface="Segoe UI"/>
                <a:cs typeface="Segoe UI"/>
              </a:rPr>
              <a:t>Commanditaire : structure sportive</a:t>
            </a:r>
          </a:p>
        </p:txBody>
      </p:sp>
      <p:sp>
        <p:nvSpPr>
          <p:cNvPr id="44" name="Rectangle 43">
            <a:extLst>
              <a:ext uri="{FF2B5EF4-FFF2-40B4-BE49-F238E27FC236}">
                <a16:creationId xmlns:a16="http://schemas.microsoft.com/office/drawing/2014/main" id="{302E6972-9B22-4542-83C1-7DA7B9AB5790}"/>
              </a:ext>
            </a:extLst>
          </p:cNvPr>
          <p:cNvSpPr>
            <a:spLocks noGrp="1"/>
          </p:cNvSpPr>
          <p:nvPr/>
        </p:nvSpPr>
        <p:spPr>
          <a:xfrm>
            <a:off x="609600" y="6457950"/>
            <a:ext cx="8382000" cy="219075"/>
          </a:xfrm>
          <a:prstGeom prst="rect">
            <a:avLst/>
          </a:prstGeom>
          <a:noFill/>
          <a:ln w="0">
            <a:noFill/>
          </a:ln>
        </p:spPr>
        <p:txBody>
          <a:bodyPr wrap="square" lIns="0" tIns="0" rIns="0" bIns="0" anchor="t">
            <a:noAutofit/>
          </a:bodyPr>
          <a:lstStyle/>
          <a:p>
            <a:pPr algn="l">
              <a:buNone/>
              <a:defRPr sz="1125" b="0">
                <a:solidFill>
                  <a:srgbClr val="C1D0C1"/>
                </a:solidFill>
                <a:latin typeface="Segoe UI"/>
                <a:ea typeface="Segoe UI"/>
                <a:cs typeface="Segoe UI"/>
              </a:defRPr>
            </a:pPr>
            <a:r>
              <a:rPr sz="1125" b="0">
                <a:solidFill>
                  <a:srgbClr val="C1D0C1"/>
                </a:solidFill>
                <a:latin typeface="Segoe UI"/>
                <a:ea typeface="Segoe UI"/>
                <a:cs typeface="Segoe UI"/>
              </a:rPr>
              <a:t>Alcide / Pilotage du projet</a:t>
            </a:r>
          </a:p>
        </p:txBody>
      </p:sp>
      <p:sp>
        <p:nvSpPr>
          <p:cNvPr id="45" name="Rectangle 44">
            <a:extLst>
              <a:ext uri="{FF2B5EF4-FFF2-40B4-BE49-F238E27FC236}">
                <a16:creationId xmlns:a16="http://schemas.microsoft.com/office/drawing/2014/main" id="{7D3F73E0-5562-492A-8071-FB5DE5EBDAA8}"/>
              </a:ext>
            </a:extLst>
          </p:cNvPr>
          <p:cNvSpPr>
            <a:spLocks noGrp="1"/>
          </p:cNvSpPr>
          <p:nvPr/>
        </p:nvSpPr>
        <p:spPr>
          <a:xfrm>
            <a:off x="11049000" y="6438900"/>
            <a:ext cx="533400" cy="228600"/>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04</a:t>
            </a:r>
          </a:p>
        </p:txBody>
      </p:sp>
    </p:spTree>
    <p:extLst>
      <p:ext uri="{BB962C8B-B14F-4D97-AF65-F5344CB8AC3E}">
        <p14:creationId xmlns:p14="http://schemas.microsoft.com/office/powerpoint/2010/main" val="1946735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B2923"/>
        </a:solidFill>
        <a:effectLst/>
      </p:bgPr>
    </p:bg>
    <p:spTree>
      <p:nvGrpSpPr>
        <p:cNvPr id="1" name=""/>
        <p:cNvGrpSpPr/>
        <p:nvPr/>
      </p:nvGrpSpPr>
      <p:grpSpPr>
        <a:xfrm>
          <a:off x="0" y="0"/>
          <a:ext cx="0" cy="0"/>
          <a:chOff x="0" y="0"/>
          <a:chExt cx="0" cy="0"/>
        </a:xfrm>
      </p:grpSpPr>
      <p:pic>
        <p:nvPicPr>
          <p:cNvPr id="34" name="Image 33"/>
          <p:cNvPicPr>
            <a:picLocks noChangeAspect="1"/>
          </p:cNvPicPr>
          <p:nvPr/>
        </p:nvPicPr>
        <p:blipFill>
          <a:blip r:embed="rId3"/>
          <a:srcRect t="27" b="27"/>
          <a:stretch>
            <a:fillRect/>
          </a:stretch>
        </p:blipFill>
        <p:spPr>
          <a:xfrm>
            <a:off x="0" y="0"/>
            <a:ext cx="12192000" cy="6858000"/>
          </a:xfrm>
          <a:prstGeom prst="rect">
            <a:avLst/>
          </a:prstGeom>
        </p:spPr>
      </p:pic>
      <p:sp>
        <p:nvSpPr>
          <p:cNvPr id="21" name="Rectangle 20">
            <a:extLst>
              <a:ext uri="{FF2B5EF4-FFF2-40B4-BE49-F238E27FC236}">
                <a16:creationId xmlns:a16="http://schemas.microsoft.com/office/drawing/2014/main" id="{0759B9BB-4B51-4134-B006-4C089951B265}"/>
              </a:ext>
            </a:extLst>
          </p:cNvPr>
          <p:cNvSpPr>
            <a:spLocks noGrp="1"/>
          </p:cNvSpPr>
          <p:nvPr/>
        </p:nvSpPr>
        <p:spPr>
          <a:xfrm>
            <a:off x="609600" y="6457950"/>
            <a:ext cx="8382000" cy="219075"/>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Alcide / Pilotage du projet</a:t>
            </a:r>
          </a:p>
        </p:txBody>
      </p:sp>
      <p:sp>
        <p:nvSpPr>
          <p:cNvPr id="24" name="Rectangle 23">
            <a:extLst>
              <a:ext uri="{FF2B5EF4-FFF2-40B4-BE49-F238E27FC236}">
                <a16:creationId xmlns:a16="http://schemas.microsoft.com/office/drawing/2014/main" id="{DC215381-1331-49C3-9146-B33A0CA1FEF7}"/>
              </a:ext>
            </a:extLst>
          </p:cNvPr>
          <p:cNvSpPr>
            <a:spLocks noGrp="1"/>
          </p:cNvSpPr>
          <p:nvPr/>
        </p:nvSpPr>
        <p:spPr>
          <a:xfrm>
            <a:off x="609600" y="609600"/>
            <a:ext cx="10972800" cy="704850"/>
          </a:xfrm>
          <a:prstGeom prst="rect">
            <a:avLst/>
          </a:prstGeom>
          <a:noFill/>
          <a:ln w="0">
            <a:noFill/>
          </a:ln>
        </p:spPr>
        <p:txBody>
          <a:bodyPr wrap="square" lIns="0" tIns="0" rIns="0" bIns="0" anchor="t">
            <a:noAutofit/>
          </a:bodyPr>
          <a:lstStyle/>
          <a:p>
            <a:pPr algn="l">
              <a:buNone/>
              <a:defRPr sz="3750" b="1">
                <a:solidFill>
                  <a:srgbClr val="F4F7F3"/>
                </a:solidFill>
                <a:latin typeface="Segoe UI"/>
                <a:ea typeface="Segoe UI"/>
                <a:cs typeface="Segoe UI"/>
              </a:defRPr>
            </a:pPr>
            <a:r>
              <a:rPr sz="3750" b="1">
                <a:solidFill>
                  <a:srgbClr val="F4F7F3"/>
                </a:solidFill>
                <a:latin typeface="Segoe UI"/>
                <a:ea typeface="Segoe UI"/>
                <a:cs typeface="Segoe UI"/>
              </a:rPr>
              <a:t>Les rôles de chacun</a:t>
            </a:r>
          </a:p>
        </p:txBody>
      </p:sp>
      <p:sp>
        <p:nvSpPr>
          <p:cNvPr id="25" name="Rectangle 24">
            <a:extLst>
              <a:ext uri="{FF2B5EF4-FFF2-40B4-BE49-F238E27FC236}">
                <a16:creationId xmlns:a16="http://schemas.microsoft.com/office/drawing/2014/main" id="{183D1AD9-A73D-4D78-8D40-2CF6E96F1131}"/>
              </a:ext>
            </a:extLst>
          </p:cNvPr>
          <p:cNvSpPr>
            <a:spLocks noGrp="1"/>
          </p:cNvSpPr>
          <p:nvPr/>
        </p:nvSpPr>
        <p:spPr>
          <a:xfrm>
            <a:off x="609600" y="1438275"/>
            <a:ext cx="10972800" cy="457200"/>
          </a:xfrm>
          <a:prstGeom prst="rect">
            <a:avLst/>
          </a:prstGeom>
          <a:noFill/>
          <a:ln w="0">
            <a:noFill/>
          </a:ln>
        </p:spPr>
        <p:txBody>
          <a:bodyPr wrap="square" lIns="0" tIns="0" rIns="0" bIns="0" anchor="t">
            <a:noAutofit/>
          </a:bodyPr>
          <a:lstStyle/>
          <a:p>
            <a:pPr algn="l">
              <a:buNone/>
              <a:defRPr sz="1875" b="0">
                <a:solidFill>
                  <a:srgbClr val="C1D0C1"/>
                </a:solidFill>
                <a:latin typeface="Segoe UI"/>
                <a:ea typeface="Segoe UI"/>
                <a:cs typeface="Segoe UI"/>
              </a:defRPr>
            </a:pPr>
            <a:r>
              <a:rPr sz="1875" b="0">
                <a:solidFill>
                  <a:srgbClr val="C1D0C1"/>
                </a:solidFill>
                <a:latin typeface="Segoe UI"/>
                <a:ea typeface="Segoe UI"/>
                <a:cs typeface="Segoe UI"/>
              </a:rPr>
              <a:t>RASCI de l’équipe projet</a:t>
            </a:r>
          </a:p>
        </p:txBody>
      </p:sp>
      <p:graphicFrame>
        <p:nvGraphicFramePr>
          <p:cNvPr id="38" name="Tableau 37"/>
          <p:cNvGraphicFramePr/>
          <p:nvPr/>
        </p:nvGraphicFramePr>
        <p:xfrm>
          <a:off x="609600" y="2057400"/>
          <a:ext cx="10972800" cy="3333750"/>
        </p:xfrm>
        <a:graphic>
          <a:graphicData uri="http://schemas.openxmlformats.org/drawingml/2006/table">
            <a:tbl>
              <a:tblPr/>
              <a:tblGrid>
                <a:gridCol w="43891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tblGrid>
              <a:tr h="476250">
                <a:tc>
                  <a:txBody>
                    <a:bodyPr/>
                    <a:lstStyle/>
                    <a:p>
                      <a:pPr algn="l">
                        <a:buNone/>
                      </a:pPr>
                      <a:r>
                        <a:rPr sz="1875" b="1">
                          <a:solidFill>
                            <a:srgbClr val="BACDB7"/>
                          </a:solidFill>
                          <a:latin typeface="Segoe UI"/>
                          <a:ea typeface="Segoe UI"/>
                          <a:cs typeface="Segoe UI"/>
                        </a:rPr>
                        <a:t>Mission</a:t>
                      </a:r>
                    </a:p>
                  </a:txBody>
                  <a:tcPr anchor="ctr">
                    <a:solidFill>
                      <a:srgbClr val="213B2E"/>
                    </a:solidFill>
                  </a:tcPr>
                </a:tc>
                <a:tc>
                  <a:txBody>
                    <a:bodyPr/>
                    <a:lstStyle/>
                    <a:p>
                      <a:pPr algn="l">
                        <a:buNone/>
                      </a:pPr>
                      <a:r>
                        <a:rPr sz="1875" b="1">
                          <a:solidFill>
                            <a:srgbClr val="BACDB7"/>
                          </a:solidFill>
                          <a:latin typeface="Segoe UI"/>
                          <a:ea typeface="Segoe UI"/>
                          <a:cs typeface="Segoe UI"/>
                        </a:rPr>
                        <a:t>PO</a:t>
                      </a:r>
                    </a:p>
                  </a:txBody>
                  <a:tcPr anchor="ctr">
                    <a:solidFill>
                      <a:srgbClr val="213B2E"/>
                    </a:solidFill>
                  </a:tcPr>
                </a:tc>
                <a:tc>
                  <a:txBody>
                    <a:bodyPr/>
                    <a:lstStyle/>
                    <a:p>
                      <a:pPr algn="l">
                        <a:buNone/>
                      </a:pPr>
                      <a:r>
                        <a:rPr sz="1875" b="1">
                          <a:solidFill>
                            <a:srgbClr val="BACDB7"/>
                          </a:solidFill>
                          <a:latin typeface="Segoe UI"/>
                          <a:ea typeface="Segoe UI"/>
                          <a:cs typeface="Segoe UI"/>
                        </a:rPr>
                        <a:t>Kevin</a:t>
                      </a:r>
                    </a:p>
                  </a:txBody>
                  <a:tcPr anchor="ctr">
                    <a:solidFill>
                      <a:srgbClr val="213B2E"/>
                    </a:solidFill>
                  </a:tcPr>
                </a:tc>
                <a:tc>
                  <a:txBody>
                    <a:bodyPr/>
                    <a:lstStyle/>
                    <a:p>
                      <a:pPr algn="l">
                        <a:buNone/>
                      </a:pPr>
                      <a:r>
                        <a:rPr sz="1875" b="1">
                          <a:solidFill>
                            <a:srgbClr val="BACDB7"/>
                          </a:solidFill>
                          <a:latin typeface="Segoe UI"/>
                          <a:ea typeface="Segoe UI"/>
                          <a:cs typeface="Segoe UI"/>
                        </a:rPr>
                        <a:t>QA</a:t>
                      </a:r>
                    </a:p>
                  </a:txBody>
                  <a:tcPr anchor="ctr">
                    <a:solidFill>
                      <a:srgbClr val="213B2E"/>
                    </a:solidFill>
                  </a:tcPr>
                </a:tc>
                <a:tc>
                  <a:txBody>
                    <a:bodyPr/>
                    <a:lstStyle/>
                    <a:p>
                      <a:pPr algn="l">
                        <a:buNone/>
                      </a:pPr>
                      <a:r>
                        <a:rPr sz="1875" b="1">
                          <a:solidFill>
                            <a:srgbClr val="BACDB7"/>
                          </a:solidFill>
                          <a:latin typeface="Segoe UI"/>
                          <a:ea typeface="Segoe UI"/>
                          <a:cs typeface="Segoe UI"/>
                        </a:rPr>
                        <a:t>Séc.</a:t>
                      </a:r>
                    </a:p>
                  </a:txBody>
                  <a:tcPr anchor="ctr">
                    <a:solidFill>
                      <a:srgbClr val="213B2E"/>
                    </a:solidFill>
                  </a:tcPr>
                </a:tc>
                <a:tc>
                  <a:txBody>
                    <a:bodyPr/>
                    <a:lstStyle/>
                    <a:p>
                      <a:pPr algn="l">
                        <a:buNone/>
                      </a:pPr>
                      <a:r>
                        <a:rPr sz="1875" b="1">
                          <a:solidFill>
                            <a:srgbClr val="BACDB7"/>
                          </a:solidFill>
                          <a:latin typeface="Segoe UI"/>
                          <a:ea typeface="Segoe UI"/>
                          <a:cs typeface="Segoe UI"/>
                        </a:rPr>
                        <a:t>Sport</a:t>
                      </a:r>
                    </a:p>
                  </a:txBody>
                  <a:tcPr anchor="ctr">
                    <a:solidFill>
                      <a:srgbClr val="213B2E"/>
                    </a:solidFill>
                  </a:tcPr>
                </a:tc>
                <a:tc>
                  <a:txBody>
                    <a:bodyPr/>
                    <a:lstStyle/>
                    <a:p>
                      <a:pPr algn="l">
                        <a:buNone/>
                      </a:pPr>
                      <a:r>
                        <a:rPr sz="1875" b="1">
                          <a:solidFill>
                            <a:srgbClr val="BACDB7"/>
                          </a:solidFill>
                          <a:latin typeface="Segoe UI"/>
                          <a:ea typeface="Segoe UI"/>
                          <a:cs typeface="Segoe UI"/>
                        </a:rPr>
                        <a:t>Cmd.</a:t>
                      </a:r>
                    </a:p>
                  </a:txBody>
                  <a:tcPr anchor="ctr">
                    <a:solidFill>
                      <a:srgbClr val="213B2E"/>
                    </a:solidFill>
                  </a:tcPr>
                </a:tc>
                <a:extLst>
                  <a:ext uri="{0D108BD9-81ED-4DB2-BD59-A6C34878D82A}">
                    <a16:rowId xmlns:a16="http://schemas.microsoft.com/office/drawing/2014/main" val="10000"/>
                  </a:ext>
                </a:extLst>
              </a:tr>
              <a:tr h="476250">
                <a:tc>
                  <a:txBody>
                    <a:bodyPr/>
                    <a:lstStyle/>
                    <a:p>
                      <a:pPr algn="l">
                        <a:buNone/>
                      </a:pPr>
                      <a:r>
                        <a:rPr sz="1875" b="0">
                          <a:solidFill>
                            <a:srgbClr val="F4F7F3"/>
                          </a:solidFill>
                          <a:latin typeface="Segoe UI"/>
                          <a:ea typeface="Segoe UI"/>
                          <a:cs typeface="Segoe UI"/>
                        </a:rPr>
                        <a:t>Besoin, priorités, budget</a:t>
                      </a:r>
                    </a:p>
                  </a:txBody>
                  <a:tcPr anchor="ctr">
                    <a:solidFill>
                      <a:srgbClr val="1B2923"/>
                    </a:solidFill>
                  </a:tcPr>
                </a:tc>
                <a:tc>
                  <a:txBody>
                    <a:bodyPr/>
                    <a:lstStyle/>
                    <a:p>
                      <a:pPr algn="l">
                        <a:buNone/>
                      </a:pPr>
                      <a:r>
                        <a:rPr sz="1875" b="0">
                          <a:solidFill>
                            <a:srgbClr val="F4F7F3"/>
                          </a:solidFill>
                          <a:latin typeface="Segoe UI"/>
                          <a:ea typeface="Segoe UI"/>
                          <a:cs typeface="Segoe UI"/>
                        </a:rPr>
                        <a:t>R</a:t>
                      </a:r>
                    </a:p>
                  </a:txBody>
                  <a:tcPr anchor="ctr">
                    <a:solidFill>
                      <a:srgbClr val="1B2923"/>
                    </a:solidFill>
                  </a:tcPr>
                </a:tc>
                <a:tc>
                  <a:txBody>
                    <a:bodyPr/>
                    <a:lstStyle/>
                    <a:p>
                      <a:pPr algn="l">
                        <a:buNone/>
                      </a:pPr>
                      <a:r>
                        <a:rPr sz="1875" b="0">
                          <a:solidFill>
                            <a:srgbClr val="F4F7F3"/>
                          </a:solidFill>
                          <a:latin typeface="Segoe UI"/>
                          <a:ea typeface="Segoe UI"/>
                          <a:cs typeface="Segoe UI"/>
                        </a:rPr>
                        <a:t>C</a:t>
                      </a:r>
                    </a:p>
                  </a:txBody>
                  <a:tcPr anchor="ctr">
                    <a:solidFill>
                      <a:srgbClr val="1B2923"/>
                    </a:solidFill>
                  </a:tcPr>
                </a:tc>
                <a:tc>
                  <a:txBody>
                    <a:bodyPr/>
                    <a:lstStyle/>
                    <a:p>
                      <a:pPr algn="l">
                        <a:buNone/>
                      </a:pPr>
                      <a:r>
                        <a:rPr sz="1875" b="0">
                          <a:solidFill>
                            <a:srgbClr val="F4F7F3"/>
                          </a:solidFill>
                          <a:latin typeface="Segoe UI"/>
                          <a:ea typeface="Segoe UI"/>
                          <a:cs typeface="Segoe UI"/>
                        </a:rPr>
                        <a:t>C</a:t>
                      </a:r>
                    </a:p>
                  </a:txBody>
                  <a:tcPr anchor="ctr">
                    <a:solidFill>
                      <a:srgbClr val="1B2923"/>
                    </a:solidFill>
                  </a:tcPr>
                </a:tc>
                <a:tc>
                  <a:txBody>
                    <a:bodyPr/>
                    <a:lstStyle/>
                    <a:p>
                      <a:pPr algn="l">
                        <a:buNone/>
                      </a:pPr>
                      <a:r>
                        <a:rPr sz="1875" b="0">
                          <a:solidFill>
                            <a:srgbClr val="F4F7F3"/>
                          </a:solidFill>
                          <a:latin typeface="Segoe UI"/>
                          <a:ea typeface="Segoe UI"/>
                          <a:cs typeface="Segoe UI"/>
                        </a:rPr>
                        <a:t>C</a:t>
                      </a:r>
                    </a:p>
                  </a:txBody>
                  <a:tcPr anchor="ctr">
                    <a:solidFill>
                      <a:srgbClr val="1B2923"/>
                    </a:solidFill>
                  </a:tcPr>
                </a:tc>
                <a:tc>
                  <a:txBody>
                    <a:bodyPr/>
                    <a:lstStyle/>
                    <a:p>
                      <a:pPr algn="l">
                        <a:buNone/>
                      </a:pPr>
                      <a:r>
                        <a:rPr sz="1875" b="0">
                          <a:solidFill>
                            <a:srgbClr val="F4F7F3"/>
                          </a:solidFill>
                          <a:latin typeface="Segoe UI"/>
                          <a:ea typeface="Segoe UI"/>
                          <a:cs typeface="Segoe UI"/>
                        </a:rPr>
                        <a:t>C</a:t>
                      </a:r>
                    </a:p>
                  </a:txBody>
                  <a:tcPr anchor="ctr">
                    <a:solidFill>
                      <a:srgbClr val="1B2923"/>
                    </a:solidFill>
                  </a:tcPr>
                </a:tc>
                <a:tc>
                  <a:txBody>
                    <a:bodyPr/>
                    <a:lstStyle/>
                    <a:p>
                      <a:pPr algn="l">
                        <a:buNone/>
                      </a:pPr>
                      <a:r>
                        <a:rPr sz="1875" b="0">
                          <a:solidFill>
                            <a:srgbClr val="F4F7F3"/>
                          </a:solidFill>
                          <a:latin typeface="Segoe UI"/>
                          <a:ea typeface="Segoe UI"/>
                          <a:cs typeface="Segoe UI"/>
                        </a:rPr>
                        <a:t>A</a:t>
                      </a:r>
                    </a:p>
                  </a:txBody>
                  <a:tcPr anchor="ctr">
                    <a:solidFill>
                      <a:srgbClr val="1B2923"/>
                    </a:solidFill>
                  </a:tcPr>
                </a:tc>
                <a:extLst>
                  <a:ext uri="{0D108BD9-81ED-4DB2-BD59-A6C34878D82A}">
                    <a16:rowId xmlns:a16="http://schemas.microsoft.com/office/drawing/2014/main" val="10001"/>
                  </a:ext>
                </a:extLst>
              </a:tr>
              <a:tr h="476250">
                <a:tc>
                  <a:txBody>
                    <a:bodyPr/>
                    <a:lstStyle/>
                    <a:p>
                      <a:pPr algn="l">
                        <a:buNone/>
                      </a:pPr>
                      <a:r>
                        <a:rPr sz="1875" b="0">
                          <a:solidFill>
                            <a:srgbClr val="F4F7F3"/>
                          </a:solidFill>
                          <a:latin typeface="Segoe UI"/>
                          <a:ea typeface="Segoe UI"/>
                          <a:cs typeface="Segoe UI"/>
                        </a:rPr>
                        <a:t>Architecture et développement</a:t>
                      </a:r>
                    </a:p>
                  </a:txBody>
                  <a:tcPr anchor="ctr">
                    <a:solidFill>
                      <a:srgbClr val="1B2923"/>
                    </a:solidFill>
                  </a:tcPr>
                </a:tc>
                <a:tc>
                  <a:txBody>
                    <a:bodyPr/>
                    <a:lstStyle/>
                    <a:p>
                      <a:pPr algn="l">
                        <a:buNone/>
                      </a:pPr>
                      <a:r>
                        <a:rPr sz="1875" b="0">
                          <a:solidFill>
                            <a:srgbClr val="F4F7F3"/>
                          </a:solidFill>
                          <a:latin typeface="Segoe UI"/>
                          <a:ea typeface="Segoe UI"/>
                          <a:cs typeface="Segoe UI"/>
                        </a:rPr>
                        <a:t>C</a:t>
                      </a:r>
                    </a:p>
                  </a:txBody>
                  <a:tcPr anchor="ctr">
                    <a:solidFill>
                      <a:srgbClr val="1B2923"/>
                    </a:solidFill>
                  </a:tcPr>
                </a:tc>
                <a:tc>
                  <a:txBody>
                    <a:bodyPr/>
                    <a:lstStyle/>
                    <a:p>
                      <a:pPr algn="l">
                        <a:buNone/>
                      </a:pPr>
                      <a:r>
                        <a:rPr sz="1875" b="0">
                          <a:solidFill>
                            <a:srgbClr val="F4F7F3"/>
                          </a:solidFill>
                          <a:latin typeface="Segoe UI"/>
                          <a:ea typeface="Segoe UI"/>
                          <a:cs typeface="Segoe UI"/>
                        </a:rPr>
                        <a:t>A/R</a:t>
                      </a:r>
                    </a:p>
                  </a:txBody>
                  <a:tcPr anchor="ctr">
                    <a:solidFill>
                      <a:srgbClr val="1B2923"/>
                    </a:solidFill>
                  </a:tcPr>
                </a:tc>
                <a:tc>
                  <a:txBody>
                    <a:bodyPr/>
                    <a:lstStyle/>
                    <a:p>
                      <a:pPr algn="l">
                        <a:buNone/>
                      </a:pPr>
                      <a:r>
                        <a:rPr sz="1875" b="0">
                          <a:solidFill>
                            <a:srgbClr val="F4F7F3"/>
                          </a:solidFill>
                          <a:latin typeface="Segoe UI"/>
                          <a:ea typeface="Segoe UI"/>
                          <a:cs typeface="Segoe UI"/>
                        </a:rPr>
                        <a:t>S</a:t>
                      </a:r>
                    </a:p>
                  </a:txBody>
                  <a:tcPr anchor="ctr">
                    <a:solidFill>
                      <a:srgbClr val="1B2923"/>
                    </a:solidFill>
                  </a:tcPr>
                </a:tc>
                <a:tc>
                  <a:txBody>
                    <a:bodyPr/>
                    <a:lstStyle/>
                    <a:p>
                      <a:pPr algn="l">
                        <a:buNone/>
                      </a:pPr>
                      <a:r>
                        <a:rPr sz="1875" b="0">
                          <a:solidFill>
                            <a:srgbClr val="F4F7F3"/>
                          </a:solidFill>
                          <a:latin typeface="Segoe UI"/>
                          <a:ea typeface="Segoe UI"/>
                          <a:cs typeface="Segoe UI"/>
                        </a:rPr>
                        <a:t>C</a:t>
                      </a:r>
                    </a:p>
                  </a:txBody>
                  <a:tcPr anchor="ctr">
                    <a:solidFill>
                      <a:srgbClr val="1B2923"/>
                    </a:solidFill>
                  </a:tcPr>
                </a:tc>
                <a:tc>
                  <a:txBody>
                    <a:bodyPr/>
                    <a:lstStyle/>
                    <a:p>
                      <a:pPr algn="l">
                        <a:buNone/>
                      </a:pPr>
                      <a:r>
                        <a:rPr sz="1875" b="0">
                          <a:solidFill>
                            <a:srgbClr val="F4F7F3"/>
                          </a:solidFill>
                          <a:latin typeface="Segoe UI"/>
                          <a:ea typeface="Segoe UI"/>
                          <a:cs typeface="Segoe UI"/>
                        </a:rPr>
                        <a:t>C</a:t>
                      </a:r>
                    </a:p>
                  </a:txBody>
                  <a:tcPr anchor="ctr">
                    <a:solidFill>
                      <a:srgbClr val="1B2923"/>
                    </a:solidFill>
                  </a:tcPr>
                </a:tc>
                <a:tc>
                  <a:txBody>
                    <a:bodyPr/>
                    <a:lstStyle/>
                    <a:p>
                      <a:pPr algn="l">
                        <a:buNone/>
                      </a:pPr>
                      <a:r>
                        <a:rPr sz="1875" b="0">
                          <a:solidFill>
                            <a:srgbClr val="F4F7F3"/>
                          </a:solidFill>
                          <a:latin typeface="Segoe UI"/>
                          <a:ea typeface="Segoe UI"/>
                          <a:cs typeface="Segoe UI"/>
                        </a:rPr>
                        <a:t>I</a:t>
                      </a:r>
                    </a:p>
                  </a:txBody>
                  <a:tcPr anchor="ctr">
                    <a:solidFill>
                      <a:srgbClr val="1B2923"/>
                    </a:solidFill>
                  </a:tcPr>
                </a:tc>
                <a:extLst>
                  <a:ext uri="{0D108BD9-81ED-4DB2-BD59-A6C34878D82A}">
                    <a16:rowId xmlns:a16="http://schemas.microsoft.com/office/drawing/2014/main" val="10002"/>
                  </a:ext>
                </a:extLst>
              </a:tr>
              <a:tr h="476250">
                <a:tc>
                  <a:txBody>
                    <a:bodyPr/>
                    <a:lstStyle/>
                    <a:p>
                      <a:pPr algn="l">
                        <a:buNone/>
                      </a:pPr>
                      <a:r>
                        <a:rPr sz="1875" b="0">
                          <a:solidFill>
                            <a:srgbClr val="F4F7F3"/>
                          </a:solidFill>
                          <a:latin typeface="Segoe UI"/>
                          <a:ea typeface="Segoe UI"/>
                          <a:cs typeface="Segoe UI"/>
                        </a:rPr>
                        <a:t>Recette et accessibilité</a:t>
                      </a:r>
                    </a:p>
                  </a:txBody>
                  <a:tcPr anchor="ctr">
                    <a:solidFill>
                      <a:srgbClr val="1B2923"/>
                    </a:solidFill>
                  </a:tcPr>
                </a:tc>
                <a:tc>
                  <a:txBody>
                    <a:bodyPr/>
                    <a:lstStyle/>
                    <a:p>
                      <a:pPr algn="l">
                        <a:buNone/>
                      </a:pPr>
                      <a:r>
                        <a:rPr sz="1875" b="0">
                          <a:solidFill>
                            <a:srgbClr val="F4F7F3"/>
                          </a:solidFill>
                          <a:latin typeface="Segoe UI"/>
                          <a:ea typeface="Segoe UI"/>
                          <a:cs typeface="Segoe UI"/>
                        </a:rPr>
                        <a:t>A</a:t>
                      </a:r>
                    </a:p>
                  </a:txBody>
                  <a:tcPr anchor="ctr">
                    <a:solidFill>
                      <a:srgbClr val="1B2923"/>
                    </a:solidFill>
                  </a:tcPr>
                </a:tc>
                <a:tc>
                  <a:txBody>
                    <a:bodyPr/>
                    <a:lstStyle/>
                    <a:p>
                      <a:pPr algn="l">
                        <a:buNone/>
                      </a:pPr>
                      <a:r>
                        <a:rPr sz="1875" b="0">
                          <a:solidFill>
                            <a:srgbClr val="F4F7F3"/>
                          </a:solidFill>
                          <a:latin typeface="Segoe UI"/>
                          <a:ea typeface="Segoe UI"/>
                          <a:cs typeface="Segoe UI"/>
                        </a:rPr>
                        <a:t>S</a:t>
                      </a:r>
                    </a:p>
                  </a:txBody>
                  <a:tcPr anchor="ctr">
                    <a:solidFill>
                      <a:srgbClr val="1B2923"/>
                    </a:solidFill>
                  </a:tcPr>
                </a:tc>
                <a:tc>
                  <a:txBody>
                    <a:bodyPr/>
                    <a:lstStyle/>
                    <a:p>
                      <a:pPr algn="l">
                        <a:buNone/>
                      </a:pPr>
                      <a:r>
                        <a:rPr sz="1875" b="0">
                          <a:solidFill>
                            <a:srgbClr val="F4F7F3"/>
                          </a:solidFill>
                          <a:latin typeface="Segoe UI"/>
                          <a:ea typeface="Segoe UI"/>
                          <a:cs typeface="Segoe UI"/>
                        </a:rPr>
                        <a:t>R</a:t>
                      </a:r>
                    </a:p>
                  </a:txBody>
                  <a:tcPr anchor="ctr">
                    <a:solidFill>
                      <a:srgbClr val="1B2923"/>
                    </a:solidFill>
                  </a:tcPr>
                </a:tc>
                <a:tc>
                  <a:txBody>
                    <a:bodyPr/>
                    <a:lstStyle/>
                    <a:p>
                      <a:pPr algn="l">
                        <a:buNone/>
                      </a:pPr>
                      <a:r>
                        <a:rPr sz="1875" b="0">
                          <a:solidFill>
                            <a:srgbClr val="F4F7F3"/>
                          </a:solidFill>
                          <a:latin typeface="Segoe UI"/>
                          <a:ea typeface="Segoe UI"/>
                          <a:cs typeface="Segoe UI"/>
                        </a:rPr>
                        <a:t>C</a:t>
                      </a:r>
                    </a:p>
                  </a:txBody>
                  <a:tcPr anchor="ctr">
                    <a:solidFill>
                      <a:srgbClr val="1B2923"/>
                    </a:solidFill>
                  </a:tcPr>
                </a:tc>
                <a:tc>
                  <a:txBody>
                    <a:bodyPr/>
                    <a:lstStyle/>
                    <a:p>
                      <a:pPr algn="l">
                        <a:buNone/>
                      </a:pPr>
                      <a:r>
                        <a:rPr sz="1875" b="0">
                          <a:solidFill>
                            <a:srgbClr val="F4F7F3"/>
                          </a:solidFill>
                          <a:latin typeface="Segoe UI"/>
                          <a:ea typeface="Segoe UI"/>
                          <a:cs typeface="Segoe UI"/>
                        </a:rPr>
                        <a:t>C</a:t>
                      </a:r>
                    </a:p>
                  </a:txBody>
                  <a:tcPr anchor="ctr">
                    <a:solidFill>
                      <a:srgbClr val="1B2923"/>
                    </a:solidFill>
                  </a:tcPr>
                </a:tc>
                <a:tc>
                  <a:txBody>
                    <a:bodyPr/>
                    <a:lstStyle/>
                    <a:p>
                      <a:pPr algn="l">
                        <a:buNone/>
                      </a:pPr>
                      <a:r>
                        <a:rPr sz="1875" b="0">
                          <a:solidFill>
                            <a:srgbClr val="F4F7F3"/>
                          </a:solidFill>
                          <a:latin typeface="Segoe UI"/>
                          <a:ea typeface="Segoe UI"/>
                          <a:cs typeface="Segoe UI"/>
                        </a:rPr>
                        <a:t>I</a:t>
                      </a:r>
                    </a:p>
                  </a:txBody>
                  <a:tcPr anchor="ctr">
                    <a:solidFill>
                      <a:srgbClr val="1B2923"/>
                    </a:solidFill>
                  </a:tcPr>
                </a:tc>
                <a:extLst>
                  <a:ext uri="{0D108BD9-81ED-4DB2-BD59-A6C34878D82A}">
                    <a16:rowId xmlns:a16="http://schemas.microsoft.com/office/drawing/2014/main" val="10003"/>
                  </a:ext>
                </a:extLst>
              </a:tr>
              <a:tr h="476250">
                <a:tc>
                  <a:txBody>
                    <a:bodyPr/>
                    <a:lstStyle/>
                    <a:p>
                      <a:pPr algn="l">
                        <a:buNone/>
                      </a:pPr>
                      <a:r>
                        <a:rPr sz="1875" b="0">
                          <a:solidFill>
                            <a:srgbClr val="F4F7F3"/>
                          </a:solidFill>
                          <a:latin typeface="Segoe UI"/>
                          <a:ea typeface="Segoe UI"/>
                          <a:cs typeface="Segoe UI"/>
                        </a:rPr>
                        <a:t>Revue et avis de sécurité</a:t>
                      </a:r>
                    </a:p>
                  </a:txBody>
                  <a:tcPr anchor="ctr">
                    <a:solidFill>
                      <a:srgbClr val="1B2923"/>
                    </a:solidFill>
                  </a:tcPr>
                </a:tc>
                <a:tc>
                  <a:txBody>
                    <a:bodyPr/>
                    <a:lstStyle/>
                    <a:p>
                      <a:pPr algn="l">
                        <a:buNone/>
                      </a:pPr>
                      <a:r>
                        <a:rPr sz="1875" b="0">
                          <a:solidFill>
                            <a:srgbClr val="F4F7F3"/>
                          </a:solidFill>
                          <a:latin typeface="Segoe UI"/>
                          <a:ea typeface="Segoe UI"/>
                          <a:cs typeface="Segoe UI"/>
                        </a:rPr>
                        <a:t>C</a:t>
                      </a:r>
                    </a:p>
                  </a:txBody>
                  <a:tcPr anchor="ctr">
                    <a:solidFill>
                      <a:srgbClr val="1B2923"/>
                    </a:solidFill>
                  </a:tcPr>
                </a:tc>
                <a:tc>
                  <a:txBody>
                    <a:bodyPr/>
                    <a:lstStyle/>
                    <a:p>
                      <a:pPr algn="l">
                        <a:buNone/>
                      </a:pPr>
                      <a:r>
                        <a:rPr sz="1875" b="0">
                          <a:solidFill>
                            <a:srgbClr val="F4F7F3"/>
                          </a:solidFill>
                          <a:latin typeface="Segoe UI"/>
                          <a:ea typeface="Segoe UI"/>
                          <a:cs typeface="Segoe UI"/>
                        </a:rPr>
                        <a:t>S</a:t>
                      </a:r>
                    </a:p>
                  </a:txBody>
                  <a:tcPr anchor="ctr">
                    <a:solidFill>
                      <a:srgbClr val="1B2923"/>
                    </a:solidFill>
                  </a:tcPr>
                </a:tc>
                <a:tc>
                  <a:txBody>
                    <a:bodyPr/>
                    <a:lstStyle/>
                    <a:p>
                      <a:pPr algn="l">
                        <a:buNone/>
                      </a:pPr>
                      <a:r>
                        <a:rPr sz="1875" b="0">
                          <a:solidFill>
                            <a:srgbClr val="F4F7F3"/>
                          </a:solidFill>
                          <a:latin typeface="Segoe UI"/>
                          <a:ea typeface="Segoe UI"/>
                          <a:cs typeface="Segoe UI"/>
                        </a:rPr>
                        <a:t>S</a:t>
                      </a:r>
                    </a:p>
                  </a:txBody>
                  <a:tcPr anchor="ctr">
                    <a:solidFill>
                      <a:srgbClr val="1B2923"/>
                    </a:solidFill>
                  </a:tcPr>
                </a:tc>
                <a:tc>
                  <a:txBody>
                    <a:bodyPr/>
                    <a:lstStyle/>
                    <a:p>
                      <a:pPr algn="l">
                        <a:buNone/>
                      </a:pPr>
                      <a:r>
                        <a:rPr sz="1875" b="0">
                          <a:solidFill>
                            <a:srgbClr val="F4F7F3"/>
                          </a:solidFill>
                          <a:latin typeface="Segoe UI"/>
                          <a:ea typeface="Segoe UI"/>
                          <a:cs typeface="Segoe UI"/>
                        </a:rPr>
                        <a:t>A/R</a:t>
                      </a:r>
                    </a:p>
                  </a:txBody>
                  <a:tcPr anchor="ctr">
                    <a:solidFill>
                      <a:srgbClr val="1B2923"/>
                    </a:solidFill>
                  </a:tcPr>
                </a:tc>
                <a:tc>
                  <a:txBody>
                    <a:bodyPr/>
                    <a:lstStyle/>
                    <a:p>
                      <a:pPr algn="l">
                        <a:buNone/>
                      </a:pPr>
                      <a:r>
                        <a:rPr sz="1875" b="0">
                          <a:solidFill>
                            <a:srgbClr val="F4F7F3"/>
                          </a:solidFill>
                          <a:latin typeface="Segoe UI"/>
                          <a:ea typeface="Segoe UI"/>
                          <a:cs typeface="Segoe UI"/>
                        </a:rPr>
                        <a:t>I</a:t>
                      </a:r>
                    </a:p>
                  </a:txBody>
                  <a:tcPr anchor="ctr">
                    <a:solidFill>
                      <a:srgbClr val="1B2923"/>
                    </a:solidFill>
                  </a:tcPr>
                </a:tc>
                <a:tc>
                  <a:txBody>
                    <a:bodyPr/>
                    <a:lstStyle/>
                    <a:p>
                      <a:pPr algn="l">
                        <a:buNone/>
                      </a:pPr>
                      <a:r>
                        <a:rPr sz="1875" b="0">
                          <a:solidFill>
                            <a:srgbClr val="F4F7F3"/>
                          </a:solidFill>
                          <a:latin typeface="Segoe UI"/>
                          <a:ea typeface="Segoe UI"/>
                          <a:cs typeface="Segoe UI"/>
                        </a:rPr>
                        <a:t>I</a:t>
                      </a:r>
                    </a:p>
                  </a:txBody>
                  <a:tcPr anchor="ctr">
                    <a:solidFill>
                      <a:srgbClr val="1B2923"/>
                    </a:solidFill>
                  </a:tcPr>
                </a:tc>
                <a:extLst>
                  <a:ext uri="{0D108BD9-81ED-4DB2-BD59-A6C34878D82A}">
                    <a16:rowId xmlns:a16="http://schemas.microsoft.com/office/drawing/2014/main" val="10004"/>
                  </a:ext>
                </a:extLst>
              </a:tr>
              <a:tr h="476250">
                <a:tc>
                  <a:txBody>
                    <a:bodyPr/>
                    <a:lstStyle/>
                    <a:p>
                      <a:pPr algn="l">
                        <a:buNone/>
                      </a:pPr>
                      <a:r>
                        <a:rPr sz="1875" b="0">
                          <a:solidFill>
                            <a:srgbClr val="F4F7F3"/>
                          </a:solidFill>
                          <a:latin typeface="Segoe UI"/>
                          <a:ea typeface="Segoe UI"/>
                          <a:cs typeface="Segoe UI"/>
                        </a:rPr>
                        <a:t>Évaluation métier des séances</a:t>
                      </a:r>
                    </a:p>
                  </a:txBody>
                  <a:tcPr anchor="ctr">
                    <a:solidFill>
                      <a:srgbClr val="1B2923"/>
                    </a:solidFill>
                  </a:tcPr>
                </a:tc>
                <a:tc>
                  <a:txBody>
                    <a:bodyPr/>
                    <a:lstStyle/>
                    <a:p>
                      <a:pPr algn="l">
                        <a:buNone/>
                      </a:pPr>
                      <a:r>
                        <a:rPr sz="1875" b="0">
                          <a:solidFill>
                            <a:srgbClr val="F4F7F3"/>
                          </a:solidFill>
                          <a:latin typeface="Segoe UI"/>
                          <a:ea typeface="Segoe UI"/>
                          <a:cs typeface="Segoe UI"/>
                        </a:rPr>
                        <a:t>C</a:t>
                      </a:r>
                    </a:p>
                  </a:txBody>
                  <a:tcPr anchor="ctr">
                    <a:solidFill>
                      <a:srgbClr val="1B2923"/>
                    </a:solidFill>
                  </a:tcPr>
                </a:tc>
                <a:tc>
                  <a:txBody>
                    <a:bodyPr/>
                    <a:lstStyle/>
                    <a:p>
                      <a:pPr algn="l">
                        <a:buNone/>
                      </a:pPr>
                      <a:r>
                        <a:rPr sz="1875" b="0">
                          <a:solidFill>
                            <a:srgbClr val="F4F7F3"/>
                          </a:solidFill>
                          <a:latin typeface="Segoe UI"/>
                          <a:ea typeface="Segoe UI"/>
                          <a:cs typeface="Segoe UI"/>
                        </a:rPr>
                        <a:t>S</a:t>
                      </a:r>
                    </a:p>
                  </a:txBody>
                  <a:tcPr anchor="ctr">
                    <a:solidFill>
                      <a:srgbClr val="1B2923"/>
                    </a:solidFill>
                  </a:tcPr>
                </a:tc>
                <a:tc>
                  <a:txBody>
                    <a:bodyPr/>
                    <a:lstStyle/>
                    <a:p>
                      <a:pPr algn="l">
                        <a:buNone/>
                      </a:pPr>
                      <a:r>
                        <a:rPr sz="1875" b="0">
                          <a:solidFill>
                            <a:srgbClr val="F4F7F3"/>
                          </a:solidFill>
                          <a:latin typeface="Segoe UI"/>
                          <a:ea typeface="Segoe UI"/>
                          <a:cs typeface="Segoe UI"/>
                        </a:rPr>
                        <a:t>C</a:t>
                      </a:r>
                    </a:p>
                  </a:txBody>
                  <a:tcPr anchor="ctr">
                    <a:solidFill>
                      <a:srgbClr val="1B2923"/>
                    </a:solidFill>
                  </a:tcPr>
                </a:tc>
                <a:tc>
                  <a:txBody>
                    <a:bodyPr/>
                    <a:lstStyle/>
                    <a:p>
                      <a:pPr algn="l">
                        <a:buNone/>
                      </a:pPr>
                      <a:r>
                        <a:rPr sz="1875" b="0">
                          <a:solidFill>
                            <a:srgbClr val="F4F7F3"/>
                          </a:solidFill>
                          <a:latin typeface="Segoe UI"/>
                          <a:ea typeface="Segoe UI"/>
                          <a:cs typeface="Segoe UI"/>
                        </a:rPr>
                        <a:t>C</a:t>
                      </a:r>
                    </a:p>
                  </a:txBody>
                  <a:tcPr anchor="ctr">
                    <a:solidFill>
                      <a:srgbClr val="1B2923"/>
                    </a:solidFill>
                  </a:tcPr>
                </a:tc>
                <a:tc>
                  <a:txBody>
                    <a:bodyPr/>
                    <a:lstStyle/>
                    <a:p>
                      <a:pPr algn="l">
                        <a:buNone/>
                      </a:pPr>
                      <a:r>
                        <a:rPr sz="1875" b="0">
                          <a:solidFill>
                            <a:srgbClr val="F4F7F3"/>
                          </a:solidFill>
                          <a:latin typeface="Segoe UI"/>
                          <a:ea typeface="Segoe UI"/>
                          <a:cs typeface="Segoe UI"/>
                        </a:rPr>
                        <a:t>A/R</a:t>
                      </a:r>
                    </a:p>
                  </a:txBody>
                  <a:tcPr anchor="ctr">
                    <a:solidFill>
                      <a:srgbClr val="1B2923"/>
                    </a:solidFill>
                  </a:tcPr>
                </a:tc>
                <a:tc>
                  <a:txBody>
                    <a:bodyPr/>
                    <a:lstStyle/>
                    <a:p>
                      <a:pPr algn="l">
                        <a:buNone/>
                      </a:pPr>
                      <a:r>
                        <a:rPr sz="1875" b="0">
                          <a:solidFill>
                            <a:srgbClr val="F4F7F3"/>
                          </a:solidFill>
                          <a:latin typeface="Segoe UI"/>
                          <a:ea typeface="Segoe UI"/>
                          <a:cs typeface="Segoe UI"/>
                        </a:rPr>
                        <a:t>I</a:t>
                      </a:r>
                    </a:p>
                  </a:txBody>
                  <a:tcPr anchor="ctr">
                    <a:solidFill>
                      <a:srgbClr val="1B2923"/>
                    </a:solidFill>
                  </a:tcPr>
                </a:tc>
                <a:extLst>
                  <a:ext uri="{0D108BD9-81ED-4DB2-BD59-A6C34878D82A}">
                    <a16:rowId xmlns:a16="http://schemas.microsoft.com/office/drawing/2014/main" val="10005"/>
                  </a:ext>
                </a:extLst>
              </a:tr>
              <a:tr h="476250">
                <a:tc>
                  <a:txBody>
                    <a:bodyPr/>
                    <a:lstStyle/>
                    <a:p>
                      <a:pPr algn="l">
                        <a:buNone/>
                      </a:pPr>
                      <a:r>
                        <a:rPr sz="1875" b="0">
                          <a:solidFill>
                            <a:srgbClr val="F4F7F3"/>
                          </a:solidFill>
                          <a:latin typeface="Segoe UI"/>
                          <a:ea typeface="Segoe UI"/>
                          <a:cs typeface="Segoe UI"/>
                        </a:rPr>
                        <a:t>Acceptation et livraison</a:t>
                      </a:r>
                    </a:p>
                  </a:txBody>
                  <a:tcPr anchor="ctr">
                    <a:solidFill>
                      <a:srgbClr val="1B2923"/>
                    </a:solidFill>
                  </a:tcPr>
                </a:tc>
                <a:tc>
                  <a:txBody>
                    <a:bodyPr/>
                    <a:lstStyle/>
                    <a:p>
                      <a:pPr algn="l">
                        <a:buNone/>
                      </a:pPr>
                      <a:r>
                        <a:rPr sz="1875" b="0">
                          <a:solidFill>
                            <a:srgbClr val="F4F7F3"/>
                          </a:solidFill>
                          <a:latin typeface="Segoe UI"/>
                          <a:ea typeface="Segoe UI"/>
                          <a:cs typeface="Segoe UI"/>
                        </a:rPr>
                        <a:t>R</a:t>
                      </a:r>
                    </a:p>
                  </a:txBody>
                  <a:tcPr anchor="ctr">
                    <a:solidFill>
                      <a:srgbClr val="1B2923"/>
                    </a:solidFill>
                  </a:tcPr>
                </a:tc>
                <a:tc>
                  <a:txBody>
                    <a:bodyPr/>
                    <a:lstStyle/>
                    <a:p>
                      <a:pPr algn="l">
                        <a:buNone/>
                      </a:pPr>
                      <a:r>
                        <a:rPr sz="1875" b="0">
                          <a:solidFill>
                            <a:srgbClr val="F4F7F3"/>
                          </a:solidFill>
                          <a:latin typeface="Segoe UI"/>
                          <a:ea typeface="Segoe UI"/>
                          <a:cs typeface="Segoe UI"/>
                        </a:rPr>
                        <a:t>R</a:t>
                      </a:r>
                    </a:p>
                  </a:txBody>
                  <a:tcPr anchor="ctr">
                    <a:solidFill>
                      <a:srgbClr val="1B2923"/>
                    </a:solidFill>
                  </a:tcPr>
                </a:tc>
                <a:tc>
                  <a:txBody>
                    <a:bodyPr/>
                    <a:lstStyle/>
                    <a:p>
                      <a:pPr algn="l">
                        <a:buNone/>
                      </a:pPr>
                      <a:r>
                        <a:rPr sz="1875" b="0">
                          <a:solidFill>
                            <a:srgbClr val="F4F7F3"/>
                          </a:solidFill>
                          <a:latin typeface="Segoe UI"/>
                          <a:ea typeface="Segoe UI"/>
                          <a:cs typeface="Segoe UI"/>
                        </a:rPr>
                        <a:t>S</a:t>
                      </a:r>
                    </a:p>
                  </a:txBody>
                  <a:tcPr anchor="ctr">
                    <a:solidFill>
                      <a:srgbClr val="1B2923"/>
                    </a:solidFill>
                  </a:tcPr>
                </a:tc>
                <a:tc>
                  <a:txBody>
                    <a:bodyPr/>
                    <a:lstStyle/>
                    <a:p>
                      <a:pPr algn="l">
                        <a:buNone/>
                      </a:pPr>
                      <a:r>
                        <a:rPr sz="1875" b="0">
                          <a:solidFill>
                            <a:srgbClr val="F4F7F3"/>
                          </a:solidFill>
                          <a:latin typeface="Segoe UI"/>
                          <a:ea typeface="Segoe UI"/>
                          <a:cs typeface="Segoe UI"/>
                        </a:rPr>
                        <a:t>C</a:t>
                      </a:r>
                    </a:p>
                  </a:txBody>
                  <a:tcPr anchor="ctr">
                    <a:solidFill>
                      <a:srgbClr val="1B2923"/>
                    </a:solidFill>
                  </a:tcPr>
                </a:tc>
                <a:tc>
                  <a:txBody>
                    <a:bodyPr/>
                    <a:lstStyle/>
                    <a:p>
                      <a:pPr algn="l">
                        <a:buNone/>
                      </a:pPr>
                      <a:r>
                        <a:rPr sz="1875" b="0">
                          <a:solidFill>
                            <a:srgbClr val="F4F7F3"/>
                          </a:solidFill>
                          <a:latin typeface="Segoe UI"/>
                          <a:ea typeface="Segoe UI"/>
                          <a:cs typeface="Segoe UI"/>
                        </a:rPr>
                        <a:t>C</a:t>
                      </a:r>
                    </a:p>
                  </a:txBody>
                  <a:tcPr anchor="ctr">
                    <a:solidFill>
                      <a:srgbClr val="1B2923"/>
                    </a:solidFill>
                  </a:tcPr>
                </a:tc>
                <a:tc>
                  <a:txBody>
                    <a:bodyPr/>
                    <a:lstStyle/>
                    <a:p>
                      <a:pPr algn="l">
                        <a:buNone/>
                      </a:pPr>
                      <a:r>
                        <a:rPr sz="1875" b="0">
                          <a:solidFill>
                            <a:srgbClr val="F4F7F3"/>
                          </a:solidFill>
                          <a:latin typeface="Segoe UI"/>
                          <a:ea typeface="Segoe UI"/>
                          <a:cs typeface="Segoe UI"/>
                        </a:rPr>
                        <a:t>A</a:t>
                      </a:r>
                    </a:p>
                  </a:txBody>
                  <a:tcPr anchor="ctr">
                    <a:solidFill>
                      <a:srgbClr val="1B2923"/>
                    </a:solidFill>
                  </a:tcPr>
                </a:tc>
                <a:extLst>
                  <a:ext uri="{0D108BD9-81ED-4DB2-BD59-A6C34878D82A}">
                    <a16:rowId xmlns:a16="http://schemas.microsoft.com/office/drawing/2014/main" val="10006"/>
                  </a:ext>
                </a:extLst>
              </a:tr>
            </a:tbl>
          </a:graphicData>
        </a:graphic>
      </p:graphicFrame>
      <p:sp>
        <p:nvSpPr>
          <p:cNvPr id="27" name="Rectangle 26">
            <a:extLst>
              <a:ext uri="{FF2B5EF4-FFF2-40B4-BE49-F238E27FC236}">
                <a16:creationId xmlns:a16="http://schemas.microsoft.com/office/drawing/2014/main" id="{7B162514-4ACA-4888-BB8B-4F2279B3ED48}"/>
              </a:ext>
            </a:extLst>
          </p:cNvPr>
          <p:cNvSpPr>
            <a:spLocks noGrp="1"/>
          </p:cNvSpPr>
          <p:nvPr/>
        </p:nvSpPr>
        <p:spPr>
          <a:xfrm>
            <a:off x="609600" y="5629275"/>
            <a:ext cx="10972800" cy="381000"/>
          </a:xfrm>
          <a:prstGeom prst="rect">
            <a:avLst/>
          </a:prstGeom>
          <a:noFill/>
          <a:ln w="0">
            <a:noFill/>
          </a:ln>
        </p:spPr>
        <p:txBody>
          <a:bodyPr wrap="square" lIns="0" tIns="0" rIns="0" bIns="0" anchor="t">
            <a:noAutofit/>
          </a:bodyPr>
          <a:lstStyle/>
          <a:p>
            <a:pPr algn="l">
              <a:buNone/>
              <a:defRPr sz="1800" b="0">
                <a:solidFill>
                  <a:srgbClr val="BACDB7"/>
                </a:solidFill>
                <a:latin typeface="Segoe UI"/>
                <a:ea typeface="Segoe UI"/>
                <a:cs typeface="Segoe UI"/>
              </a:defRPr>
            </a:pPr>
            <a:r>
              <a:rPr sz="1800" b="0">
                <a:solidFill>
                  <a:srgbClr val="BACDB7"/>
                </a:solidFill>
                <a:latin typeface="Segoe UI"/>
                <a:ea typeface="Segoe UI"/>
                <a:cs typeface="Segoe UI"/>
              </a:rPr>
              <a:t>R réalise, A répond du résultat, S soutient, C est consulté, I est informé</a:t>
            </a:r>
          </a:p>
        </p:txBody>
      </p:sp>
      <p:sp>
        <p:nvSpPr>
          <p:cNvPr id="28" name="Rectangle 27">
            <a:extLst>
              <a:ext uri="{FF2B5EF4-FFF2-40B4-BE49-F238E27FC236}">
                <a16:creationId xmlns:a16="http://schemas.microsoft.com/office/drawing/2014/main" id="{8892B61C-CF85-4DCE-B64A-C48429B8DBC0}"/>
              </a:ext>
            </a:extLst>
          </p:cNvPr>
          <p:cNvSpPr>
            <a:spLocks noGrp="1"/>
          </p:cNvSpPr>
          <p:nvPr/>
        </p:nvSpPr>
        <p:spPr>
          <a:xfrm>
            <a:off x="609600" y="6048375"/>
            <a:ext cx="10972800" cy="361950"/>
          </a:xfrm>
          <a:prstGeom prst="rect">
            <a:avLst/>
          </a:prstGeom>
          <a:noFill/>
          <a:ln w="0">
            <a:noFill/>
          </a:ln>
        </p:spPr>
        <p:txBody>
          <a:bodyPr wrap="square" lIns="0" tIns="0" rIns="0" bIns="0" anchor="t">
            <a:noAutofit/>
          </a:bodyPr>
          <a:lstStyle/>
          <a:p>
            <a:pPr algn="l">
              <a:buNone/>
              <a:defRPr sz="1800" b="0">
                <a:solidFill>
                  <a:srgbClr val="C1D0C1"/>
                </a:solidFill>
                <a:latin typeface="Segoe UI"/>
                <a:ea typeface="Segoe UI"/>
                <a:cs typeface="Segoe UI"/>
              </a:defRPr>
            </a:pPr>
            <a:r>
              <a:rPr sz="1800" b="0">
                <a:solidFill>
                  <a:srgbClr val="C1D0C1"/>
                </a:solidFill>
                <a:latin typeface="Segoe UI"/>
                <a:ea typeface="Segoe UI"/>
                <a:cs typeface="Segoe UI"/>
              </a:rPr>
              <a:t>Séc. : référent sécurité     Sport : référent sport     Cmd. : commanditaire</a:t>
            </a:r>
          </a:p>
        </p:txBody>
      </p:sp>
      <p:sp>
        <p:nvSpPr>
          <p:cNvPr id="31" name="Rectangle 30">
            <a:extLst>
              <a:ext uri="{FF2B5EF4-FFF2-40B4-BE49-F238E27FC236}">
                <a16:creationId xmlns:a16="http://schemas.microsoft.com/office/drawing/2014/main" id="{61E39811-EE13-4607-A4D9-FDF26631A7CA}"/>
              </a:ext>
            </a:extLst>
          </p:cNvPr>
          <p:cNvSpPr>
            <a:spLocks noGrp="1"/>
          </p:cNvSpPr>
          <p:nvPr/>
        </p:nvSpPr>
        <p:spPr>
          <a:xfrm>
            <a:off x="11049000" y="6438900"/>
            <a:ext cx="533400" cy="228600"/>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05</a:t>
            </a:r>
          </a:p>
        </p:txBody>
      </p:sp>
    </p:spTree>
    <p:extLst>
      <p:ext uri="{BB962C8B-B14F-4D97-AF65-F5344CB8AC3E}">
        <p14:creationId xmlns:p14="http://schemas.microsoft.com/office/powerpoint/2010/main" val="1274653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B2923"/>
        </a:solidFill>
        <a:effectLst/>
      </p:bgPr>
    </p:bg>
    <p:spTree>
      <p:nvGrpSpPr>
        <p:cNvPr id="1" name=""/>
        <p:cNvGrpSpPr/>
        <p:nvPr/>
      </p:nvGrpSpPr>
      <p:grpSpPr>
        <a:xfrm>
          <a:off x="0" y="0"/>
          <a:ext cx="0" cy="0"/>
          <a:chOff x="0" y="0"/>
          <a:chExt cx="0" cy="0"/>
        </a:xfrm>
      </p:grpSpPr>
      <p:pic>
        <p:nvPicPr>
          <p:cNvPr id="79" name="Image 78"/>
          <p:cNvPicPr>
            <a:picLocks noChangeAspect="1"/>
          </p:cNvPicPr>
          <p:nvPr/>
        </p:nvPicPr>
        <p:blipFill>
          <a:blip r:embed="rId3"/>
          <a:srcRect t="27" b="27"/>
          <a:stretch>
            <a:fillRect/>
          </a:stretch>
        </p:blipFill>
        <p:spPr>
          <a:xfrm>
            <a:off x="0" y="0"/>
            <a:ext cx="12192000" cy="6858000"/>
          </a:xfrm>
          <a:prstGeom prst="rect">
            <a:avLst/>
          </a:prstGeom>
        </p:spPr>
      </p:pic>
      <p:sp>
        <p:nvSpPr>
          <p:cNvPr id="71" name="Rectangle 70">
            <a:extLst>
              <a:ext uri="{FF2B5EF4-FFF2-40B4-BE49-F238E27FC236}">
                <a16:creationId xmlns:a16="http://schemas.microsoft.com/office/drawing/2014/main" id="{AE114BD7-5DC0-4CFF-B7D6-4343407644A1}"/>
              </a:ext>
            </a:extLst>
          </p:cNvPr>
          <p:cNvSpPr>
            <a:spLocks noGrp="1"/>
          </p:cNvSpPr>
          <p:nvPr/>
        </p:nvSpPr>
        <p:spPr>
          <a:xfrm>
            <a:off x="609600" y="609600"/>
            <a:ext cx="10972800" cy="704850"/>
          </a:xfrm>
          <a:prstGeom prst="rect">
            <a:avLst/>
          </a:prstGeom>
          <a:noFill/>
          <a:ln w="0">
            <a:noFill/>
          </a:ln>
        </p:spPr>
        <p:txBody>
          <a:bodyPr wrap="square" lIns="0" tIns="0" rIns="0" bIns="0" anchor="t">
            <a:noAutofit/>
          </a:bodyPr>
          <a:lstStyle/>
          <a:p>
            <a:pPr algn="l">
              <a:buNone/>
              <a:defRPr sz="3450" b="1">
                <a:solidFill>
                  <a:srgbClr val="F4F7F3"/>
                </a:solidFill>
                <a:latin typeface="Segoe UI"/>
                <a:ea typeface="Segoe UI"/>
                <a:cs typeface="Segoe UI"/>
              </a:defRPr>
            </a:pPr>
            <a:r>
              <a:rPr sz="3450" b="1">
                <a:solidFill>
                  <a:srgbClr val="F4F7F3"/>
                </a:solidFill>
                <a:latin typeface="Segoe UI"/>
                <a:ea typeface="Segoe UI"/>
                <a:cs typeface="Segoe UI"/>
              </a:rPr>
              <a:t>Notre méthode de travail</a:t>
            </a:r>
          </a:p>
        </p:txBody>
      </p:sp>
      <p:sp>
        <p:nvSpPr>
          <p:cNvPr id="72" name="Rectangle 71">
            <a:extLst>
              <a:ext uri="{FF2B5EF4-FFF2-40B4-BE49-F238E27FC236}">
                <a16:creationId xmlns:a16="http://schemas.microsoft.com/office/drawing/2014/main" id="{7B58DF03-30B7-4086-8661-F76B48E098B5}"/>
              </a:ext>
            </a:extLst>
          </p:cNvPr>
          <p:cNvSpPr>
            <a:spLocks noGrp="1"/>
          </p:cNvSpPr>
          <p:nvPr/>
        </p:nvSpPr>
        <p:spPr>
          <a:xfrm>
            <a:off x="609600" y="1438275"/>
            <a:ext cx="10972800" cy="457200"/>
          </a:xfrm>
          <a:prstGeom prst="rect">
            <a:avLst/>
          </a:prstGeom>
          <a:noFill/>
          <a:ln w="0">
            <a:noFill/>
          </a:ln>
        </p:spPr>
        <p:txBody>
          <a:bodyPr wrap="square" lIns="0" tIns="0" rIns="0" bIns="0" anchor="t">
            <a:noAutofit/>
          </a:bodyPr>
          <a:lstStyle/>
          <a:p>
            <a:pPr algn="l">
              <a:buNone/>
              <a:defRPr sz="1950" b="0">
                <a:solidFill>
                  <a:srgbClr val="C1D0C1"/>
                </a:solidFill>
                <a:latin typeface="Segoe UI"/>
                <a:ea typeface="Segoe UI"/>
                <a:cs typeface="Segoe UI"/>
              </a:defRPr>
            </a:pPr>
            <a:r>
              <a:rPr sz="1950" b="0" dirty="0" err="1">
                <a:solidFill>
                  <a:srgbClr val="C1D0C1"/>
                </a:solidFill>
                <a:latin typeface="Segoe UI"/>
                <a:ea typeface="Segoe UI"/>
                <a:cs typeface="Segoe UI"/>
              </a:rPr>
              <a:t>Incréments</a:t>
            </a:r>
            <a:r>
              <a:rPr sz="1950" b="0" dirty="0">
                <a:solidFill>
                  <a:srgbClr val="C1D0C1"/>
                </a:solidFill>
                <a:latin typeface="Segoe UI"/>
                <a:ea typeface="Segoe UI"/>
                <a:cs typeface="Segoe UI"/>
              </a:rPr>
              <a:t> et Kanban, </a:t>
            </a:r>
            <a:r>
              <a:rPr sz="1950" b="0" dirty="0" err="1">
                <a:solidFill>
                  <a:srgbClr val="C1D0C1"/>
                </a:solidFill>
                <a:latin typeface="Segoe UI"/>
                <a:ea typeface="Segoe UI"/>
                <a:cs typeface="Segoe UI"/>
              </a:rPr>
              <a:t>suivi</a:t>
            </a:r>
            <a:r>
              <a:rPr sz="1950" b="0" dirty="0">
                <a:solidFill>
                  <a:srgbClr val="C1D0C1"/>
                </a:solidFill>
                <a:latin typeface="Segoe UI"/>
                <a:ea typeface="Segoe UI"/>
                <a:cs typeface="Segoe UI"/>
              </a:rPr>
              <a:t> </a:t>
            </a:r>
            <a:r>
              <a:rPr sz="1950" b="0" dirty="0" err="1">
                <a:solidFill>
                  <a:srgbClr val="C1D0C1"/>
                </a:solidFill>
                <a:latin typeface="Segoe UI"/>
                <a:ea typeface="Segoe UI"/>
                <a:cs typeface="Segoe UI"/>
              </a:rPr>
              <a:t>partagé</a:t>
            </a:r>
            <a:r>
              <a:rPr sz="1950" b="0" dirty="0">
                <a:solidFill>
                  <a:srgbClr val="C1D0C1"/>
                </a:solidFill>
                <a:latin typeface="Segoe UI"/>
                <a:ea typeface="Segoe UI"/>
                <a:cs typeface="Segoe UI"/>
              </a:rPr>
              <a:t> dans GitHub Projects</a:t>
            </a:r>
          </a:p>
        </p:txBody>
      </p:sp>
      <p:graphicFrame>
        <p:nvGraphicFramePr>
          <p:cNvPr id="82" name="Tableau 81"/>
          <p:cNvGraphicFramePr/>
          <p:nvPr/>
        </p:nvGraphicFramePr>
        <p:xfrm>
          <a:off x="609600" y="2038350"/>
          <a:ext cx="10972800" cy="3581400"/>
        </p:xfrm>
        <a:graphic>
          <a:graphicData uri="http://schemas.openxmlformats.org/drawingml/2006/table">
            <a:tbl>
              <a:tblPr/>
              <a:tblGrid>
                <a:gridCol w="2190750">
                  <a:extLst>
                    <a:ext uri="{9D8B030D-6E8A-4147-A177-3AD203B41FA5}">
                      <a16:colId xmlns:a16="http://schemas.microsoft.com/office/drawing/2014/main" val="20000"/>
                    </a:ext>
                  </a:extLst>
                </a:gridCol>
                <a:gridCol w="421005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14350">
                <a:tc>
                  <a:txBody>
                    <a:bodyPr/>
                    <a:lstStyle/>
                    <a:p>
                      <a:pPr algn="l">
                        <a:buNone/>
                      </a:pPr>
                      <a:r>
                        <a:rPr sz="1950" b="1">
                          <a:solidFill>
                            <a:srgbClr val="BACDB7"/>
                          </a:solidFill>
                          <a:latin typeface="Segoe UI"/>
                          <a:ea typeface="Segoe UI"/>
                          <a:cs typeface="Segoe UI"/>
                        </a:rPr>
                        <a:t>Quand</a:t>
                      </a:r>
                    </a:p>
                  </a:txBody>
                  <a:tcPr marL="95250" marR="76200" marT="0" marB="0" anchor="ctr">
                    <a:solidFill>
                      <a:srgbClr val="213B2E"/>
                    </a:solidFill>
                  </a:tcPr>
                </a:tc>
                <a:tc>
                  <a:txBody>
                    <a:bodyPr/>
                    <a:lstStyle/>
                    <a:p>
                      <a:pPr algn="l">
                        <a:buNone/>
                      </a:pPr>
                      <a:r>
                        <a:rPr sz="1950" b="1">
                          <a:solidFill>
                            <a:srgbClr val="BACDB7"/>
                          </a:solidFill>
                          <a:latin typeface="Segoe UI"/>
                          <a:ea typeface="Segoe UI"/>
                          <a:cs typeface="Segoe UI"/>
                        </a:rPr>
                        <a:t>Participants</a:t>
                      </a:r>
                    </a:p>
                  </a:txBody>
                  <a:tcPr marL="95250" marR="76200" marT="0" marB="0" anchor="ctr">
                    <a:solidFill>
                      <a:srgbClr val="213B2E"/>
                    </a:solidFill>
                  </a:tcPr>
                </a:tc>
                <a:tc>
                  <a:txBody>
                    <a:bodyPr/>
                    <a:lstStyle/>
                    <a:p>
                      <a:pPr algn="l">
                        <a:buNone/>
                      </a:pPr>
                      <a:r>
                        <a:rPr sz="1950" b="1">
                          <a:solidFill>
                            <a:srgbClr val="BACDB7"/>
                          </a:solidFill>
                          <a:latin typeface="Segoe UI"/>
                          <a:ea typeface="Segoe UI"/>
                          <a:cs typeface="Segoe UI"/>
                        </a:rPr>
                        <a:t>Sortie du point</a:t>
                      </a:r>
                    </a:p>
                  </a:txBody>
                  <a:tcPr marL="95250" marR="76200" marT="0" marB="0" anchor="ctr">
                    <a:solidFill>
                      <a:srgbClr val="213B2E"/>
                    </a:solidFill>
                  </a:tcPr>
                </a:tc>
                <a:extLst>
                  <a:ext uri="{0D108BD9-81ED-4DB2-BD59-A6C34878D82A}">
                    <a16:rowId xmlns:a16="http://schemas.microsoft.com/office/drawing/2014/main" val="10000"/>
                  </a:ext>
                </a:extLst>
              </a:tr>
              <a:tr h="895350">
                <a:tc>
                  <a:txBody>
                    <a:bodyPr/>
                    <a:lstStyle/>
                    <a:p>
                      <a:pPr algn="l">
                        <a:buNone/>
                      </a:pPr>
                      <a:r>
                        <a:rPr sz="1950" b="0">
                          <a:solidFill>
                            <a:srgbClr val="F4F7F3"/>
                          </a:solidFill>
                          <a:latin typeface="Segoe UI"/>
                          <a:ea typeface="Segoe UI"/>
                          <a:cs typeface="Segoe UI"/>
                        </a:rPr>
                        <a:t>Chaque jour</a:t>
                      </a:r>
                    </a:p>
                    <a:p>
                      <a:pPr algn="l">
                        <a:buNone/>
                      </a:pPr>
                      <a:r>
                        <a:rPr sz="1950" b="0">
                          <a:solidFill>
                            <a:srgbClr val="F4F7F3"/>
                          </a:solidFill>
                          <a:latin typeface="Segoe UI"/>
                          <a:ea typeface="Segoe UI"/>
                          <a:cs typeface="Segoe UI"/>
                        </a:rPr>
                        <a:t>avant 10 h</a:t>
                      </a:r>
                    </a:p>
                  </a:txBody>
                  <a:tcPr marL="95250" marR="76200" marT="0" marB="0" anchor="ctr">
                    <a:solidFill>
                      <a:srgbClr val="1B2923"/>
                    </a:solidFill>
                  </a:tcPr>
                </a:tc>
                <a:tc>
                  <a:txBody>
                    <a:bodyPr/>
                    <a:lstStyle/>
                    <a:p>
                      <a:pPr algn="l">
                        <a:buNone/>
                      </a:pPr>
                      <a:r>
                        <a:rPr sz="1950" b="0">
                          <a:solidFill>
                            <a:srgbClr val="F4F7F3"/>
                          </a:solidFill>
                          <a:latin typeface="Segoe UI"/>
                          <a:ea typeface="Segoe UI"/>
                          <a:cs typeface="Segoe UI"/>
                        </a:rPr>
                        <a:t>Chaque responsable</a:t>
                      </a:r>
                    </a:p>
                  </a:txBody>
                  <a:tcPr marL="95250" marR="76200" marT="0" marB="0" anchor="ctr">
                    <a:solidFill>
                      <a:srgbClr val="1B2923"/>
                    </a:solidFill>
                  </a:tcPr>
                </a:tc>
                <a:tc>
                  <a:txBody>
                    <a:bodyPr/>
                    <a:lstStyle/>
                    <a:p>
                      <a:pPr algn="l">
                        <a:buNone/>
                      </a:pPr>
                      <a:r>
                        <a:rPr sz="1950" b="0">
                          <a:solidFill>
                            <a:srgbClr val="F4F7F3"/>
                          </a:solidFill>
                          <a:latin typeface="Segoe UI"/>
                          <a:ea typeface="Segoe UI"/>
                          <a:cs typeface="Segoe UI"/>
                        </a:rPr>
                        <a:t>Carte actualisée, blocage et reste à faire</a:t>
                      </a:r>
                    </a:p>
                  </a:txBody>
                  <a:tcPr marL="95250" marR="76200" marT="0" marB="0" anchor="ctr">
                    <a:solidFill>
                      <a:srgbClr val="1B2923"/>
                    </a:solidFill>
                  </a:tcPr>
                </a:tc>
                <a:extLst>
                  <a:ext uri="{0D108BD9-81ED-4DB2-BD59-A6C34878D82A}">
                    <a16:rowId xmlns:a16="http://schemas.microsoft.com/office/drawing/2014/main" val="10001"/>
                  </a:ext>
                </a:extLst>
              </a:tr>
              <a:tr h="895350">
                <a:tc>
                  <a:txBody>
                    <a:bodyPr/>
                    <a:lstStyle/>
                    <a:p>
                      <a:pPr algn="l">
                        <a:buNone/>
                      </a:pPr>
                      <a:r>
                        <a:rPr sz="1950" b="0">
                          <a:solidFill>
                            <a:srgbClr val="F4F7F3"/>
                          </a:solidFill>
                          <a:latin typeface="Segoe UI"/>
                          <a:ea typeface="Segoe UI"/>
                          <a:cs typeface="Segoe UI"/>
                        </a:rPr>
                        <a:t>Mardi et jeudi</a:t>
                      </a:r>
                    </a:p>
                    <a:p>
                      <a:pPr algn="l">
                        <a:buNone/>
                      </a:pPr>
                      <a:r>
                        <a:rPr sz="1950" b="0">
                          <a:solidFill>
                            <a:srgbClr val="F4F7F3"/>
                          </a:solidFill>
                          <a:latin typeface="Segoe UI"/>
                          <a:ea typeface="Segoe UI"/>
                          <a:cs typeface="Segoe UI"/>
                        </a:rPr>
                        <a:t>15 min</a:t>
                      </a:r>
                    </a:p>
                  </a:txBody>
                  <a:tcPr marL="95250" marR="76200" marT="0" marB="0" anchor="ctr">
                    <a:solidFill>
                      <a:srgbClr val="1B2923"/>
                    </a:solidFill>
                  </a:tcPr>
                </a:tc>
                <a:tc>
                  <a:txBody>
                    <a:bodyPr/>
                    <a:lstStyle/>
                    <a:p>
                      <a:pPr algn="l">
                        <a:buNone/>
                      </a:pPr>
                      <a:r>
                        <a:rPr sz="1950" b="0">
                          <a:solidFill>
                            <a:srgbClr val="F4F7F3"/>
                          </a:solidFill>
                          <a:latin typeface="Segoe UI"/>
                          <a:ea typeface="Segoe UI"/>
                          <a:cs typeface="Segoe UI"/>
                        </a:rPr>
                        <a:t>PO, Kevin et QA</a:t>
                      </a:r>
                    </a:p>
                  </a:txBody>
                  <a:tcPr marL="95250" marR="76200" marT="0" marB="0" anchor="ctr">
                    <a:solidFill>
                      <a:srgbClr val="1B2923"/>
                    </a:solidFill>
                  </a:tcPr>
                </a:tc>
                <a:tc>
                  <a:txBody>
                    <a:bodyPr/>
                    <a:lstStyle/>
                    <a:p>
                      <a:pPr algn="l">
                        <a:buNone/>
                      </a:pPr>
                      <a:r>
                        <a:rPr sz="1950" b="0">
                          <a:solidFill>
                            <a:srgbClr val="F4F7F3"/>
                          </a:solidFill>
                          <a:latin typeface="Segoe UI"/>
                          <a:ea typeface="Segoe UI"/>
                          <a:cs typeface="Segoe UI"/>
                        </a:rPr>
                        <a:t>Actions sur les blocages, responsable et contrôle</a:t>
                      </a:r>
                    </a:p>
                  </a:txBody>
                  <a:tcPr marL="95250" marR="76200" marT="0" marB="0" anchor="ctr">
                    <a:solidFill>
                      <a:srgbClr val="1B2923"/>
                    </a:solidFill>
                  </a:tcPr>
                </a:tc>
                <a:extLst>
                  <a:ext uri="{0D108BD9-81ED-4DB2-BD59-A6C34878D82A}">
                    <a16:rowId xmlns:a16="http://schemas.microsoft.com/office/drawing/2014/main" val="10002"/>
                  </a:ext>
                </a:extLst>
              </a:tr>
              <a:tr h="1276350">
                <a:tc>
                  <a:txBody>
                    <a:bodyPr/>
                    <a:lstStyle/>
                    <a:p>
                      <a:pPr algn="l">
                        <a:buNone/>
                      </a:pPr>
                      <a:r>
                        <a:rPr sz="1950" b="0">
                          <a:solidFill>
                            <a:srgbClr val="F4F7F3"/>
                          </a:solidFill>
                          <a:latin typeface="Segoe UI"/>
                          <a:ea typeface="Segoe UI"/>
                          <a:cs typeface="Segoe UI"/>
                        </a:rPr>
                        <a:t>Vendredi</a:t>
                      </a:r>
                    </a:p>
                    <a:p>
                      <a:pPr algn="l">
                        <a:buNone/>
                      </a:pPr>
                      <a:r>
                        <a:rPr sz="1950" b="0">
                          <a:solidFill>
                            <a:srgbClr val="F4F7F3"/>
                          </a:solidFill>
                          <a:latin typeface="Segoe UI"/>
                          <a:ea typeface="Segoe UI"/>
                          <a:cs typeface="Segoe UI"/>
                        </a:rPr>
                        <a:t>30 min</a:t>
                      </a:r>
                    </a:p>
                  </a:txBody>
                  <a:tcPr marL="95250" marR="76200" marT="0" marB="0" anchor="ctr">
                    <a:solidFill>
                      <a:srgbClr val="1B2923"/>
                    </a:solidFill>
                  </a:tcPr>
                </a:tc>
                <a:tc>
                  <a:txBody>
                    <a:bodyPr/>
                    <a:lstStyle/>
                    <a:p>
                      <a:pPr algn="l">
                        <a:buNone/>
                      </a:pPr>
                      <a:r>
                        <a:rPr sz="1950" b="0">
                          <a:solidFill>
                            <a:srgbClr val="F4F7F3"/>
                          </a:solidFill>
                          <a:latin typeface="Segoe UI"/>
                          <a:ea typeface="Segoe UI"/>
                          <a:cs typeface="Segoe UI"/>
                        </a:rPr>
                        <a:t>PO, Kevin, QA et référents concernés</a:t>
                      </a:r>
                    </a:p>
                    <a:p>
                      <a:pPr algn="l">
                        <a:buNone/>
                      </a:pPr>
                      <a:r>
                        <a:rPr sz="1950" b="0">
                          <a:solidFill>
                            <a:srgbClr val="F4F7F3"/>
                          </a:solidFill>
                          <a:latin typeface="Segoe UI"/>
                          <a:ea typeface="Segoe UI"/>
                          <a:cs typeface="Segoe UI"/>
                        </a:rPr>
                        <a:t>Commanditaire si arbitrage</a:t>
                      </a:r>
                    </a:p>
                  </a:txBody>
                  <a:tcPr marL="95250" marR="76200" marT="0" marB="0" anchor="ctr">
                    <a:solidFill>
                      <a:srgbClr val="1B2923"/>
                    </a:solidFill>
                  </a:tcPr>
                </a:tc>
                <a:tc>
                  <a:txBody>
                    <a:bodyPr/>
                    <a:lstStyle/>
                    <a:p>
                      <a:pPr algn="l">
                        <a:buNone/>
                      </a:pPr>
                      <a:r>
                        <a:rPr sz="1950" b="0">
                          <a:solidFill>
                            <a:srgbClr val="F4F7F3"/>
                          </a:solidFill>
                          <a:latin typeface="Segoe UI"/>
                          <a:ea typeface="Segoe UI"/>
                          <a:cs typeface="Segoe UI"/>
                        </a:rPr>
                        <a:t>Charge, risques et décisions</a:t>
                      </a:r>
                    </a:p>
                    <a:p>
                      <a:pPr algn="l">
                        <a:buNone/>
                      </a:pPr>
                      <a:r>
                        <a:rPr sz="1950" b="0">
                          <a:solidFill>
                            <a:srgbClr val="F4F7F3"/>
                          </a:solidFill>
                          <a:latin typeface="Segoe UI"/>
                          <a:ea typeface="Segoe UI"/>
                          <a:cs typeface="Segoe UI"/>
                        </a:rPr>
                        <a:t>Compte rendu et prochain contrôle</a:t>
                      </a:r>
                    </a:p>
                  </a:txBody>
                  <a:tcPr marL="95250" marR="76200" marT="0" marB="0" anchor="ctr">
                    <a:solidFill>
                      <a:srgbClr val="1B2923"/>
                    </a:solidFill>
                  </a:tcPr>
                </a:tc>
                <a:extLst>
                  <a:ext uri="{0D108BD9-81ED-4DB2-BD59-A6C34878D82A}">
                    <a16:rowId xmlns:a16="http://schemas.microsoft.com/office/drawing/2014/main" val="10003"/>
                  </a:ext>
                </a:extLst>
              </a:tr>
            </a:tbl>
          </a:graphicData>
        </a:graphic>
      </p:graphicFrame>
      <p:sp>
        <p:nvSpPr>
          <p:cNvPr id="75" name="Rectangle 74">
            <a:extLst>
              <a:ext uri="{FF2B5EF4-FFF2-40B4-BE49-F238E27FC236}">
                <a16:creationId xmlns:a16="http://schemas.microsoft.com/office/drawing/2014/main" id="{BADB5211-2B90-4757-866B-6C6F6468B41B}"/>
              </a:ext>
            </a:extLst>
          </p:cNvPr>
          <p:cNvSpPr>
            <a:spLocks noGrp="1"/>
          </p:cNvSpPr>
          <p:nvPr/>
        </p:nvSpPr>
        <p:spPr>
          <a:xfrm>
            <a:off x="609600" y="6457950"/>
            <a:ext cx="8382000" cy="219075"/>
          </a:xfrm>
          <a:prstGeom prst="rect">
            <a:avLst/>
          </a:prstGeom>
          <a:noFill/>
          <a:ln w="0">
            <a:noFill/>
          </a:ln>
        </p:spPr>
        <p:txBody>
          <a:bodyPr wrap="square" lIns="0" tIns="0" rIns="0" bIns="0" anchor="t">
            <a:noAutofit/>
          </a:bodyPr>
          <a:lstStyle/>
          <a:p>
            <a:pPr algn="l">
              <a:buNone/>
              <a:defRPr sz="1125" b="0">
                <a:solidFill>
                  <a:srgbClr val="C1D0C1"/>
                </a:solidFill>
                <a:latin typeface="Segoe UI"/>
                <a:ea typeface="Segoe UI"/>
                <a:cs typeface="Segoe UI"/>
              </a:defRPr>
            </a:pPr>
            <a:r>
              <a:rPr sz="1125" b="0">
                <a:solidFill>
                  <a:srgbClr val="C1D0C1"/>
                </a:solidFill>
                <a:latin typeface="Segoe UI"/>
                <a:ea typeface="Segoe UI"/>
                <a:cs typeface="Segoe UI"/>
              </a:rPr>
              <a:t>Alcide / Pilotage du projet</a:t>
            </a:r>
          </a:p>
        </p:txBody>
      </p:sp>
      <p:sp>
        <p:nvSpPr>
          <p:cNvPr id="76" name="Rectangle 75">
            <a:extLst>
              <a:ext uri="{FF2B5EF4-FFF2-40B4-BE49-F238E27FC236}">
                <a16:creationId xmlns:a16="http://schemas.microsoft.com/office/drawing/2014/main" id="{FEBD6B4B-FF95-42D1-86CB-23A6F7915F5A}"/>
              </a:ext>
            </a:extLst>
          </p:cNvPr>
          <p:cNvSpPr>
            <a:spLocks noGrp="1"/>
          </p:cNvSpPr>
          <p:nvPr/>
        </p:nvSpPr>
        <p:spPr>
          <a:xfrm>
            <a:off x="11049000" y="6438900"/>
            <a:ext cx="533400" cy="228600"/>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06</a:t>
            </a:r>
          </a:p>
        </p:txBody>
      </p:sp>
    </p:spTree>
    <p:extLst>
      <p:ext uri="{BB962C8B-B14F-4D97-AF65-F5344CB8AC3E}">
        <p14:creationId xmlns:p14="http://schemas.microsoft.com/office/powerpoint/2010/main" val="1946735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B2923"/>
        </a:solidFill>
        <a:effectLst/>
      </p:bgPr>
    </p:bg>
    <p:spTree>
      <p:nvGrpSpPr>
        <p:cNvPr id="1" name=""/>
        <p:cNvGrpSpPr/>
        <p:nvPr/>
      </p:nvGrpSpPr>
      <p:grpSpPr>
        <a:xfrm>
          <a:off x="0" y="0"/>
          <a:ext cx="0" cy="0"/>
          <a:chOff x="0" y="0"/>
          <a:chExt cx="0" cy="0"/>
        </a:xfrm>
      </p:grpSpPr>
      <p:pic>
        <p:nvPicPr>
          <p:cNvPr id="24" name="Image 23"/>
          <p:cNvPicPr>
            <a:picLocks noChangeAspect="1"/>
          </p:cNvPicPr>
          <p:nvPr/>
        </p:nvPicPr>
        <p:blipFill>
          <a:blip r:embed="rId3"/>
          <a:srcRect t="27" b="27"/>
          <a:stretch>
            <a:fillRect/>
          </a:stretch>
        </p:blipFill>
        <p:spPr>
          <a:xfrm>
            <a:off x="0" y="0"/>
            <a:ext cx="12192000" cy="6858000"/>
          </a:xfrm>
          <a:prstGeom prst="rect">
            <a:avLst/>
          </a:prstGeom>
        </p:spPr>
      </p:pic>
      <p:sp>
        <p:nvSpPr>
          <p:cNvPr id="14" name="Rectangle 13">
            <a:extLst>
              <a:ext uri="{FF2B5EF4-FFF2-40B4-BE49-F238E27FC236}">
                <a16:creationId xmlns:a16="http://schemas.microsoft.com/office/drawing/2014/main" id="{37077D96-8CCC-41D0-83B1-71D62611EF48}"/>
              </a:ext>
            </a:extLst>
          </p:cNvPr>
          <p:cNvSpPr>
            <a:spLocks noGrp="1"/>
          </p:cNvSpPr>
          <p:nvPr/>
        </p:nvSpPr>
        <p:spPr>
          <a:xfrm>
            <a:off x="609600" y="6457950"/>
            <a:ext cx="8382000" cy="219075"/>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Alcide / Pilotage du projet</a:t>
            </a:r>
          </a:p>
        </p:txBody>
      </p:sp>
      <p:sp>
        <p:nvSpPr>
          <p:cNvPr id="17" name="Rectangle 16">
            <a:extLst>
              <a:ext uri="{FF2B5EF4-FFF2-40B4-BE49-F238E27FC236}">
                <a16:creationId xmlns:a16="http://schemas.microsoft.com/office/drawing/2014/main" id="{1D5A68CC-60BF-400C-8104-40DDFB0B21FD}"/>
              </a:ext>
            </a:extLst>
          </p:cNvPr>
          <p:cNvSpPr>
            <a:spLocks noGrp="1"/>
          </p:cNvSpPr>
          <p:nvPr/>
        </p:nvSpPr>
        <p:spPr>
          <a:xfrm>
            <a:off x="609600" y="609600"/>
            <a:ext cx="10972800" cy="704850"/>
          </a:xfrm>
          <a:prstGeom prst="rect">
            <a:avLst/>
          </a:prstGeom>
          <a:noFill/>
          <a:ln w="0">
            <a:noFill/>
          </a:ln>
        </p:spPr>
        <p:txBody>
          <a:bodyPr wrap="square" lIns="0" tIns="0" rIns="0" bIns="0" anchor="t">
            <a:noAutofit/>
          </a:bodyPr>
          <a:lstStyle/>
          <a:p>
            <a:pPr algn="l">
              <a:buNone/>
              <a:defRPr sz="3750" b="1">
                <a:solidFill>
                  <a:srgbClr val="F4F7F3"/>
                </a:solidFill>
                <a:latin typeface="Segoe UI"/>
                <a:ea typeface="Segoe UI"/>
                <a:cs typeface="Segoe UI"/>
              </a:defRPr>
            </a:pPr>
            <a:r>
              <a:rPr sz="3750" b="1">
                <a:solidFill>
                  <a:srgbClr val="F4F7F3"/>
                </a:solidFill>
                <a:latin typeface="Segoe UI"/>
                <a:ea typeface="Segoe UI"/>
                <a:cs typeface="Segoe UI"/>
              </a:rPr>
              <a:t>Exemple : générer et enregistrer une séance</a:t>
            </a:r>
          </a:p>
        </p:txBody>
      </p:sp>
      <p:graphicFrame>
        <p:nvGraphicFramePr>
          <p:cNvPr id="28" name="Tableau 27"/>
          <p:cNvGraphicFramePr/>
          <p:nvPr/>
        </p:nvGraphicFramePr>
        <p:xfrm>
          <a:off x="609600" y="2066925"/>
          <a:ext cx="10972800" cy="4086225"/>
        </p:xfrm>
        <a:graphic>
          <a:graphicData uri="http://schemas.openxmlformats.org/drawingml/2006/table">
            <a:tbl>
              <a:tblPr/>
              <a:tblGrid>
                <a:gridCol w="2523744">
                  <a:extLst>
                    <a:ext uri="{9D8B030D-6E8A-4147-A177-3AD203B41FA5}">
                      <a16:colId xmlns:a16="http://schemas.microsoft.com/office/drawing/2014/main" val="20000"/>
                    </a:ext>
                  </a:extLst>
                </a:gridCol>
                <a:gridCol w="8449056">
                  <a:extLst>
                    <a:ext uri="{9D8B030D-6E8A-4147-A177-3AD203B41FA5}">
                      <a16:colId xmlns:a16="http://schemas.microsoft.com/office/drawing/2014/main" val="20001"/>
                    </a:ext>
                  </a:extLst>
                </a:gridCol>
              </a:tblGrid>
              <a:tr h="457200">
                <a:tc>
                  <a:txBody>
                    <a:bodyPr/>
                    <a:lstStyle/>
                    <a:p>
                      <a:pPr algn="l">
                        <a:buNone/>
                      </a:pPr>
                      <a:r>
                        <a:rPr sz="1950" b="1">
                          <a:solidFill>
                            <a:srgbClr val="BACDB7"/>
                          </a:solidFill>
                          <a:latin typeface="Segoe UI"/>
                          <a:ea typeface="Segoe UI"/>
                          <a:cs typeface="Segoe UI"/>
                        </a:rPr>
                        <a:t>Repère</a:t>
                      </a:r>
                    </a:p>
                  </a:txBody>
                  <a:tcPr anchor="ctr">
                    <a:solidFill>
                      <a:srgbClr val="213B2E"/>
                    </a:solidFill>
                  </a:tcPr>
                </a:tc>
                <a:tc>
                  <a:txBody>
                    <a:bodyPr/>
                    <a:lstStyle/>
                    <a:p>
                      <a:pPr algn="l">
                        <a:buNone/>
                      </a:pPr>
                      <a:r>
                        <a:rPr sz="1950" b="1">
                          <a:solidFill>
                            <a:srgbClr val="BACDB7"/>
                          </a:solidFill>
                          <a:latin typeface="Segoe UI"/>
                          <a:ea typeface="Segoe UI"/>
                          <a:cs typeface="Segoe UI"/>
                        </a:rPr>
                        <a:t>Contenu</a:t>
                      </a:r>
                    </a:p>
                  </a:txBody>
                  <a:tcPr anchor="ctr">
                    <a:solidFill>
                      <a:srgbClr val="213B2E"/>
                    </a:solidFill>
                  </a:tcPr>
                </a:tc>
                <a:extLst>
                  <a:ext uri="{0D108BD9-81ED-4DB2-BD59-A6C34878D82A}">
                    <a16:rowId xmlns:a16="http://schemas.microsoft.com/office/drawing/2014/main" val="10000"/>
                  </a:ext>
                </a:extLst>
              </a:tr>
              <a:tr h="552450">
                <a:tc>
                  <a:txBody>
                    <a:bodyPr/>
                    <a:lstStyle/>
                    <a:p>
                      <a:pPr algn="l">
                        <a:buNone/>
                      </a:pPr>
                      <a:r>
                        <a:rPr sz="1950" b="0">
                          <a:solidFill>
                            <a:srgbClr val="F4F7F3"/>
                          </a:solidFill>
                          <a:latin typeface="Segoe UI"/>
                          <a:ea typeface="Segoe UI"/>
                          <a:cs typeface="Segoe UI"/>
                        </a:rPr>
                        <a:t>Objectif</a:t>
                      </a:r>
                    </a:p>
                  </a:txBody>
                  <a:tcPr anchor="ctr">
                    <a:solidFill>
                      <a:srgbClr val="1B2923"/>
                    </a:solidFill>
                  </a:tcPr>
                </a:tc>
                <a:tc>
                  <a:txBody>
                    <a:bodyPr/>
                    <a:lstStyle/>
                    <a:p>
                      <a:pPr algn="l">
                        <a:buNone/>
                      </a:pPr>
                      <a:r>
                        <a:rPr sz="1950" b="0">
                          <a:solidFill>
                            <a:srgbClr val="F4F7F3"/>
                          </a:solidFill>
                          <a:latin typeface="Segoe UI"/>
                          <a:ea typeface="Segoe UI"/>
                          <a:cs typeface="Segoe UI"/>
                        </a:rPr>
                        <a:t>Produire une séance, vérifier ses données et l’enregistrer</a:t>
                      </a:r>
                    </a:p>
                  </a:txBody>
                  <a:tcPr anchor="ctr">
                    <a:solidFill>
                      <a:srgbClr val="1B2923"/>
                    </a:solidFill>
                  </a:tcPr>
                </a:tc>
                <a:extLst>
                  <a:ext uri="{0D108BD9-81ED-4DB2-BD59-A6C34878D82A}">
                    <a16:rowId xmlns:a16="http://schemas.microsoft.com/office/drawing/2014/main" val="10001"/>
                  </a:ext>
                </a:extLst>
              </a:tr>
              <a:tr h="523875">
                <a:tc>
                  <a:txBody>
                    <a:bodyPr/>
                    <a:lstStyle/>
                    <a:p>
                      <a:pPr algn="l">
                        <a:buNone/>
                      </a:pPr>
                      <a:r>
                        <a:rPr sz="1950" b="0">
                          <a:solidFill>
                            <a:srgbClr val="F4F7F3"/>
                          </a:solidFill>
                          <a:latin typeface="Segoe UI"/>
                          <a:ea typeface="Segoe UI"/>
                          <a:cs typeface="Segoe UI"/>
                        </a:rPr>
                        <a:t>Prérequis</a:t>
                      </a:r>
                    </a:p>
                  </a:txBody>
                  <a:tcPr anchor="ctr">
                    <a:solidFill>
                      <a:srgbClr val="1B2923"/>
                    </a:solidFill>
                  </a:tcPr>
                </a:tc>
                <a:tc>
                  <a:txBody>
                    <a:bodyPr/>
                    <a:lstStyle/>
                    <a:p>
                      <a:pPr algn="l">
                        <a:buNone/>
                      </a:pPr>
                      <a:r>
                        <a:rPr sz="1950" b="0">
                          <a:solidFill>
                            <a:srgbClr val="F4F7F3"/>
                          </a:solidFill>
                          <a:latin typeface="Segoe UI"/>
                          <a:ea typeface="Segoe UI"/>
                          <a:cs typeface="Segoe UI"/>
                        </a:rPr>
                        <a:t>Architecture, contrats partagés, socle technique et CI</a:t>
                      </a:r>
                    </a:p>
                  </a:txBody>
                  <a:tcPr anchor="ctr">
                    <a:solidFill>
                      <a:srgbClr val="1B2923"/>
                    </a:solidFill>
                  </a:tcPr>
                </a:tc>
                <a:extLst>
                  <a:ext uri="{0D108BD9-81ED-4DB2-BD59-A6C34878D82A}">
                    <a16:rowId xmlns:a16="http://schemas.microsoft.com/office/drawing/2014/main" val="10002"/>
                  </a:ext>
                </a:extLst>
              </a:tr>
              <a:tr h="514350">
                <a:tc>
                  <a:txBody>
                    <a:bodyPr/>
                    <a:lstStyle/>
                    <a:p>
                      <a:pPr algn="l">
                        <a:buNone/>
                      </a:pPr>
                      <a:r>
                        <a:rPr sz="1950" b="0">
                          <a:solidFill>
                            <a:srgbClr val="F4F7F3"/>
                          </a:solidFill>
                          <a:latin typeface="Segoe UI"/>
                          <a:ea typeface="Segoe UI"/>
                          <a:cs typeface="Segoe UI"/>
                        </a:rPr>
                        <a:t>Réalisation</a:t>
                      </a:r>
                    </a:p>
                  </a:txBody>
                  <a:tcPr anchor="ctr">
                    <a:solidFill>
                      <a:srgbClr val="1B2923"/>
                    </a:solidFill>
                  </a:tcPr>
                </a:tc>
                <a:tc>
                  <a:txBody>
                    <a:bodyPr/>
                    <a:lstStyle/>
                    <a:p>
                      <a:pPr algn="l">
                        <a:buNone/>
                      </a:pPr>
                      <a:r>
                        <a:rPr sz="1950" b="0">
                          <a:solidFill>
                            <a:srgbClr val="F4F7F3"/>
                          </a:solidFill>
                          <a:latin typeface="Segoe UI"/>
                          <a:ea typeface="Segoe UI"/>
                          <a:cs typeface="Segoe UI"/>
                        </a:rPr>
                        <a:t>Kevin — lead full-stack et responsable technique</a:t>
                      </a:r>
                    </a:p>
                  </a:txBody>
                  <a:tcPr anchor="ctr">
                    <a:solidFill>
                      <a:srgbClr val="1B2923"/>
                    </a:solidFill>
                  </a:tcPr>
                </a:tc>
                <a:extLst>
                  <a:ext uri="{0D108BD9-81ED-4DB2-BD59-A6C34878D82A}">
                    <a16:rowId xmlns:a16="http://schemas.microsoft.com/office/drawing/2014/main" val="10003"/>
                  </a:ext>
                </a:extLst>
              </a:tr>
              <a:tr h="533400">
                <a:tc>
                  <a:txBody>
                    <a:bodyPr/>
                    <a:lstStyle/>
                    <a:p>
                      <a:pPr algn="l">
                        <a:buNone/>
                      </a:pPr>
                      <a:r>
                        <a:rPr sz="1950" b="0">
                          <a:solidFill>
                            <a:srgbClr val="F4F7F3"/>
                          </a:solidFill>
                          <a:latin typeface="Segoe UI"/>
                          <a:ea typeface="Segoe UI"/>
                          <a:cs typeface="Segoe UI"/>
                        </a:rPr>
                        <a:t>Contrôles</a:t>
                      </a:r>
                    </a:p>
                  </a:txBody>
                  <a:tcPr anchor="ctr">
                    <a:solidFill>
                      <a:srgbClr val="1B2923"/>
                    </a:solidFill>
                  </a:tcPr>
                </a:tc>
                <a:tc>
                  <a:txBody>
                    <a:bodyPr/>
                    <a:lstStyle/>
                    <a:p>
                      <a:pPr algn="l">
                        <a:buNone/>
                      </a:pPr>
                      <a:r>
                        <a:rPr sz="1950" b="0">
                          <a:solidFill>
                            <a:srgbClr val="F4F7F3"/>
                          </a:solidFill>
                          <a:latin typeface="Segoe UI"/>
                          <a:ea typeface="Segoe UI"/>
                          <a:cs typeface="Segoe UI"/>
                        </a:rPr>
                        <a:t>QA : parcours, sécurité : accès, sport : cohérence métier</a:t>
                      </a:r>
                    </a:p>
                  </a:txBody>
                  <a:tcPr anchor="ctr">
                    <a:solidFill>
                      <a:srgbClr val="1B2923"/>
                    </a:solidFill>
                  </a:tcPr>
                </a:tc>
                <a:extLst>
                  <a:ext uri="{0D108BD9-81ED-4DB2-BD59-A6C34878D82A}">
                    <a16:rowId xmlns:a16="http://schemas.microsoft.com/office/drawing/2014/main" val="10004"/>
                  </a:ext>
                </a:extLst>
              </a:tr>
              <a:tr h="495300">
                <a:tc>
                  <a:txBody>
                    <a:bodyPr/>
                    <a:lstStyle/>
                    <a:p>
                      <a:pPr algn="l">
                        <a:buNone/>
                      </a:pPr>
                      <a:r>
                        <a:rPr sz="1950" b="0">
                          <a:solidFill>
                            <a:srgbClr val="F4F7F3"/>
                          </a:solidFill>
                          <a:latin typeface="Segoe UI"/>
                          <a:ea typeface="Segoe UI"/>
                          <a:cs typeface="Segoe UI"/>
                        </a:rPr>
                        <a:t>Décision</a:t>
                      </a:r>
                    </a:p>
                  </a:txBody>
                  <a:tcPr anchor="ctr">
                    <a:solidFill>
                      <a:srgbClr val="1B2923"/>
                    </a:solidFill>
                  </a:tcPr>
                </a:tc>
                <a:tc>
                  <a:txBody>
                    <a:bodyPr/>
                    <a:lstStyle/>
                    <a:p>
                      <a:pPr algn="l">
                        <a:buNone/>
                      </a:pPr>
                      <a:r>
                        <a:rPr sz="1950" b="0">
                          <a:solidFill>
                            <a:srgbClr val="F4F7F3"/>
                          </a:solidFill>
                          <a:latin typeface="Segoe UI"/>
                          <a:ea typeface="Segoe UI"/>
                          <a:cs typeface="Segoe UI"/>
                        </a:rPr>
                        <a:t>PO : priorité, commanditaire : acceptation du lot</a:t>
                      </a:r>
                    </a:p>
                  </a:txBody>
                  <a:tcPr anchor="ctr">
                    <a:solidFill>
                      <a:srgbClr val="1B2923"/>
                    </a:solidFill>
                  </a:tcPr>
                </a:tc>
                <a:extLst>
                  <a:ext uri="{0D108BD9-81ED-4DB2-BD59-A6C34878D82A}">
                    <a16:rowId xmlns:a16="http://schemas.microsoft.com/office/drawing/2014/main" val="10005"/>
                  </a:ext>
                </a:extLst>
              </a:tr>
              <a:tr h="514350">
                <a:tc>
                  <a:txBody>
                    <a:bodyPr/>
                    <a:lstStyle/>
                    <a:p>
                      <a:pPr algn="l">
                        <a:buNone/>
                      </a:pPr>
                      <a:r>
                        <a:rPr sz="1950" b="0">
                          <a:solidFill>
                            <a:srgbClr val="F4F7F3"/>
                          </a:solidFill>
                          <a:latin typeface="Segoe UI"/>
                          <a:ea typeface="Segoe UI"/>
                          <a:cs typeface="Segoe UI"/>
                        </a:rPr>
                        <a:t>Critère de fin</a:t>
                      </a:r>
                    </a:p>
                  </a:txBody>
                  <a:tcPr anchor="ctr">
                    <a:solidFill>
                      <a:srgbClr val="1B2923"/>
                    </a:solidFill>
                  </a:tcPr>
                </a:tc>
                <a:tc>
                  <a:txBody>
                    <a:bodyPr/>
                    <a:lstStyle/>
                    <a:p>
                      <a:pPr algn="l">
                        <a:buNone/>
                      </a:pPr>
                      <a:r>
                        <a:rPr sz="1950" b="0">
                          <a:solidFill>
                            <a:srgbClr val="F4F7F3"/>
                          </a:solidFill>
                          <a:latin typeface="Segoe UI"/>
                          <a:ea typeface="Segoe UI"/>
                          <a:cs typeface="Segoe UI"/>
                        </a:rPr>
                        <a:t>API utilisable, contrats cohérents, génération persistée</a:t>
                      </a:r>
                    </a:p>
                  </a:txBody>
                  <a:tcPr anchor="ctr">
                    <a:solidFill>
                      <a:srgbClr val="1B2923"/>
                    </a:solidFill>
                  </a:tcPr>
                </a:tc>
                <a:extLst>
                  <a:ext uri="{0D108BD9-81ED-4DB2-BD59-A6C34878D82A}">
                    <a16:rowId xmlns:a16="http://schemas.microsoft.com/office/drawing/2014/main" val="10006"/>
                  </a:ext>
                </a:extLst>
              </a:tr>
              <a:tr h="495300">
                <a:tc>
                  <a:txBody>
                    <a:bodyPr/>
                    <a:lstStyle/>
                    <a:p>
                      <a:pPr algn="l">
                        <a:buNone/>
                      </a:pPr>
                      <a:r>
                        <a:rPr sz="1950" b="0">
                          <a:solidFill>
                            <a:srgbClr val="F4F7F3"/>
                          </a:solidFill>
                          <a:latin typeface="Segoe UI"/>
                          <a:ea typeface="Segoe UI"/>
                          <a:cs typeface="Segoe UI"/>
                        </a:rPr>
                        <a:t>Trace technique</a:t>
                      </a:r>
                    </a:p>
                  </a:txBody>
                  <a:tcPr anchor="ctr">
                    <a:solidFill>
                      <a:srgbClr val="1B2923"/>
                    </a:solidFill>
                  </a:tcPr>
                </a:tc>
                <a:tc>
                  <a:txBody>
                    <a:bodyPr/>
                    <a:lstStyle/>
                    <a:p>
                      <a:pPr algn="l">
                        <a:buNone/>
                      </a:pPr>
                      <a:r>
                        <a:rPr sz="1950" b="0">
                          <a:solidFill>
                            <a:srgbClr val="F4F7F3"/>
                          </a:solidFill>
                          <a:latin typeface="Segoe UI"/>
                          <a:ea typeface="Segoe UI"/>
                          <a:cs typeface="Segoe UI"/>
                        </a:rPr>
                        <a:t>API, IA et persistance dans les versions 0.1–0.3</a:t>
                      </a:r>
                    </a:p>
                  </a:txBody>
                  <a:tcPr anchor="ctr">
                    <a:solidFill>
                      <a:srgbClr val="1B2923"/>
                    </a:solidFill>
                  </a:tcPr>
                </a:tc>
                <a:extLst>
                  <a:ext uri="{0D108BD9-81ED-4DB2-BD59-A6C34878D82A}">
                    <a16:rowId xmlns:a16="http://schemas.microsoft.com/office/drawing/2014/main" val="10007"/>
                  </a:ext>
                </a:extLst>
              </a:tr>
            </a:tbl>
          </a:graphicData>
        </a:graphic>
      </p:graphicFrame>
      <p:sp>
        <p:nvSpPr>
          <p:cNvPr id="21" name="Rectangle 20">
            <a:extLst>
              <a:ext uri="{FF2B5EF4-FFF2-40B4-BE49-F238E27FC236}">
                <a16:creationId xmlns:a16="http://schemas.microsoft.com/office/drawing/2014/main" id="{747127F2-DB27-4FA4-9778-624BB5CD301A}"/>
              </a:ext>
            </a:extLst>
          </p:cNvPr>
          <p:cNvSpPr>
            <a:spLocks noGrp="1"/>
          </p:cNvSpPr>
          <p:nvPr/>
        </p:nvSpPr>
        <p:spPr>
          <a:xfrm>
            <a:off x="11049000" y="6438900"/>
            <a:ext cx="533400" cy="228600"/>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07</a:t>
            </a:r>
          </a:p>
        </p:txBody>
      </p:sp>
    </p:spTree>
    <p:extLst>
      <p:ext uri="{BB962C8B-B14F-4D97-AF65-F5344CB8AC3E}">
        <p14:creationId xmlns:p14="http://schemas.microsoft.com/office/powerpoint/2010/main" val="222690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B2923"/>
        </a:solidFill>
        <a:effectLst/>
      </p:bgPr>
    </p:bg>
    <p:spTree>
      <p:nvGrpSpPr>
        <p:cNvPr id="1" name=""/>
        <p:cNvGrpSpPr/>
        <p:nvPr/>
      </p:nvGrpSpPr>
      <p:grpSpPr>
        <a:xfrm>
          <a:off x="0" y="0"/>
          <a:ext cx="0" cy="0"/>
          <a:chOff x="0" y="0"/>
          <a:chExt cx="0" cy="0"/>
        </a:xfrm>
      </p:grpSpPr>
      <p:pic>
        <p:nvPicPr>
          <p:cNvPr id="71" name="Image 70"/>
          <p:cNvPicPr>
            <a:picLocks noChangeAspect="1"/>
          </p:cNvPicPr>
          <p:nvPr/>
        </p:nvPicPr>
        <p:blipFill>
          <a:blip r:embed="rId3"/>
          <a:srcRect t="27" b="27"/>
          <a:stretch>
            <a:fillRect/>
          </a:stretch>
        </p:blipFill>
        <p:spPr>
          <a:xfrm>
            <a:off x="0" y="0"/>
            <a:ext cx="12192000" cy="6858000"/>
          </a:xfrm>
          <a:prstGeom prst="rect">
            <a:avLst/>
          </a:prstGeom>
        </p:spPr>
      </p:pic>
      <p:sp>
        <p:nvSpPr>
          <p:cNvPr id="17" name="Rectangle 16">
            <a:extLst>
              <a:ext uri="{FF2B5EF4-FFF2-40B4-BE49-F238E27FC236}">
                <a16:creationId xmlns:a16="http://schemas.microsoft.com/office/drawing/2014/main" id="{E7E24691-3804-4009-9E52-12A941873FA9}"/>
              </a:ext>
            </a:extLst>
          </p:cNvPr>
          <p:cNvSpPr>
            <a:spLocks noGrp="1"/>
          </p:cNvSpPr>
          <p:nvPr/>
        </p:nvSpPr>
        <p:spPr>
          <a:xfrm>
            <a:off x="609600" y="6457950"/>
            <a:ext cx="8382000" cy="219075"/>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Alcide / Pilotage du projet</a:t>
            </a:r>
          </a:p>
        </p:txBody>
      </p:sp>
      <p:sp>
        <p:nvSpPr>
          <p:cNvPr id="19" name="Rectangle 18">
            <a:extLst>
              <a:ext uri="{FF2B5EF4-FFF2-40B4-BE49-F238E27FC236}">
                <a16:creationId xmlns:a16="http://schemas.microsoft.com/office/drawing/2014/main" id="{C6FFE9D3-F74D-4139-9257-52300ADBF097}"/>
              </a:ext>
            </a:extLst>
          </p:cNvPr>
          <p:cNvSpPr>
            <a:spLocks noGrp="1"/>
          </p:cNvSpPr>
          <p:nvPr/>
        </p:nvSpPr>
        <p:spPr>
          <a:xfrm>
            <a:off x="609600" y="609600"/>
            <a:ext cx="10972800" cy="704850"/>
          </a:xfrm>
          <a:prstGeom prst="rect">
            <a:avLst/>
          </a:prstGeom>
          <a:noFill/>
          <a:ln w="0">
            <a:noFill/>
          </a:ln>
        </p:spPr>
        <p:txBody>
          <a:bodyPr wrap="square" lIns="0" tIns="0" rIns="0" bIns="0" anchor="t">
            <a:noAutofit/>
          </a:bodyPr>
          <a:lstStyle/>
          <a:p>
            <a:pPr algn="l">
              <a:buNone/>
              <a:defRPr sz="3750" b="1">
                <a:solidFill>
                  <a:srgbClr val="F4F7F3"/>
                </a:solidFill>
                <a:latin typeface="Segoe UI"/>
                <a:ea typeface="Segoe UI"/>
                <a:cs typeface="Segoe UI"/>
              </a:defRPr>
            </a:pPr>
            <a:r>
              <a:rPr sz="3750" b="1">
                <a:solidFill>
                  <a:srgbClr val="F4F7F3"/>
                </a:solidFill>
                <a:latin typeface="Segoe UI"/>
                <a:ea typeface="Segoe UI"/>
                <a:cs typeface="Segoe UI"/>
              </a:rPr>
              <a:t>Le planning du projet</a:t>
            </a:r>
          </a:p>
        </p:txBody>
      </p:sp>
      <p:sp>
        <p:nvSpPr>
          <p:cNvPr id="24" name="Rectangle 23">
            <a:extLst>
              <a:ext uri="{FF2B5EF4-FFF2-40B4-BE49-F238E27FC236}">
                <a16:creationId xmlns:a16="http://schemas.microsoft.com/office/drawing/2014/main" id="{2A18D67A-5EB8-480B-8B56-9AA70E1B559A}"/>
              </a:ext>
            </a:extLst>
          </p:cNvPr>
          <p:cNvSpPr>
            <a:spLocks noGrp="1"/>
          </p:cNvSpPr>
          <p:nvPr/>
        </p:nvSpPr>
        <p:spPr>
          <a:xfrm>
            <a:off x="609600" y="1438275"/>
            <a:ext cx="10972800" cy="457200"/>
          </a:xfrm>
          <a:prstGeom prst="rect">
            <a:avLst/>
          </a:prstGeom>
          <a:noFill/>
          <a:ln w="0">
            <a:noFill/>
          </a:ln>
        </p:spPr>
        <p:txBody>
          <a:bodyPr wrap="square" lIns="0" tIns="0" rIns="0" bIns="0" anchor="t">
            <a:noAutofit/>
          </a:bodyPr>
          <a:lstStyle/>
          <a:p>
            <a:pPr algn="l">
              <a:buNone/>
              <a:defRPr sz="1875" b="0">
                <a:solidFill>
                  <a:srgbClr val="C1D0C1"/>
                </a:solidFill>
                <a:latin typeface="Segoe UI"/>
                <a:ea typeface="Segoe UI"/>
                <a:cs typeface="Segoe UI"/>
              </a:defRPr>
            </a:pPr>
            <a:r>
              <a:rPr sz="1875" b="0">
                <a:solidFill>
                  <a:srgbClr val="C1D0C1"/>
                </a:solidFill>
                <a:latin typeface="Segoe UI"/>
                <a:ea typeface="Segoe UI"/>
                <a:cs typeface="Segoe UI"/>
              </a:rPr>
              <a:t>Gantt et jalons du calendrier initial, 81 JH prévisionnels</a:t>
            </a:r>
          </a:p>
        </p:txBody>
      </p:sp>
      <p:sp>
        <p:nvSpPr>
          <p:cNvPr id="25" name="Rectangle 24">
            <a:extLst>
              <a:ext uri="{FF2B5EF4-FFF2-40B4-BE49-F238E27FC236}">
                <a16:creationId xmlns:a16="http://schemas.microsoft.com/office/drawing/2014/main" id="{F95F9350-D8CF-4954-8B0C-E4CA92402238}"/>
              </a:ext>
            </a:extLst>
          </p:cNvPr>
          <p:cNvSpPr>
            <a:spLocks noGrp="1"/>
          </p:cNvSpPr>
          <p:nvPr/>
        </p:nvSpPr>
        <p:spPr>
          <a:xfrm>
            <a:off x="4048125" y="2057400"/>
            <a:ext cx="914400" cy="285750"/>
          </a:xfrm>
          <a:prstGeom prst="rect">
            <a:avLst/>
          </a:prstGeom>
          <a:noFill/>
          <a:ln w="0">
            <a:noFill/>
          </a:ln>
        </p:spPr>
        <p:txBody>
          <a:bodyPr wrap="square" lIns="0" tIns="0" rIns="0" bIns="0" anchor="t">
            <a:noAutofit/>
          </a:bodyPr>
          <a:lstStyle/>
          <a:p>
            <a:pPr algn="l">
              <a:buNone/>
              <a:defRPr sz="1725" b="1">
                <a:solidFill>
                  <a:srgbClr val="BACDB7"/>
                </a:solidFill>
                <a:latin typeface="Segoe UI"/>
                <a:ea typeface="Segoe UI"/>
                <a:cs typeface="Segoe UI"/>
              </a:defRPr>
            </a:pPr>
            <a:r>
              <a:rPr sz="1725" b="1">
                <a:solidFill>
                  <a:srgbClr val="BACDB7"/>
                </a:solidFill>
                <a:latin typeface="Segoe UI"/>
                <a:ea typeface="Segoe UI"/>
                <a:cs typeface="Segoe UI"/>
              </a:rPr>
              <a:t>13 avril</a:t>
            </a:r>
          </a:p>
        </p:txBody>
      </p:sp>
      <p:sp>
        <p:nvSpPr>
          <p:cNvPr id="26" name="Rectangle 25">
            <a:extLst>
              <a:ext uri="{FF2B5EF4-FFF2-40B4-BE49-F238E27FC236}">
                <a16:creationId xmlns:a16="http://schemas.microsoft.com/office/drawing/2014/main" id="{1DD74AE6-6A2F-439B-962E-7407C25BA46B}"/>
              </a:ext>
            </a:extLst>
          </p:cNvPr>
          <p:cNvSpPr>
            <a:spLocks noGrp="1"/>
          </p:cNvSpPr>
          <p:nvPr/>
        </p:nvSpPr>
        <p:spPr>
          <a:xfrm>
            <a:off x="4048125" y="2390775"/>
            <a:ext cx="9525" cy="3076575"/>
          </a:xfrm>
          <a:prstGeom prst="rect">
            <a:avLst/>
          </a:prstGeom>
          <a:solidFill>
            <a:srgbClr val="5F7B69"/>
          </a:solidFill>
          <a:ln w="0">
            <a:noFill/>
          </a:ln>
        </p:spPr>
        <p:txBody>
          <a:bodyPr/>
          <a:lstStyle/>
          <a:p>
            <a:endParaRPr lang="fr-FR"/>
          </a:p>
        </p:txBody>
      </p:sp>
      <p:sp>
        <p:nvSpPr>
          <p:cNvPr id="27" name="Rectangle 26">
            <a:extLst>
              <a:ext uri="{FF2B5EF4-FFF2-40B4-BE49-F238E27FC236}">
                <a16:creationId xmlns:a16="http://schemas.microsoft.com/office/drawing/2014/main" id="{B28DBB0A-D08F-4A51-BAD2-29931136A4C7}"/>
              </a:ext>
            </a:extLst>
          </p:cNvPr>
          <p:cNvSpPr>
            <a:spLocks noGrp="1"/>
          </p:cNvSpPr>
          <p:nvPr/>
        </p:nvSpPr>
        <p:spPr>
          <a:xfrm>
            <a:off x="5176838" y="2057400"/>
            <a:ext cx="914400" cy="285750"/>
          </a:xfrm>
          <a:prstGeom prst="rect">
            <a:avLst/>
          </a:prstGeom>
          <a:noFill/>
          <a:ln w="0">
            <a:noFill/>
          </a:ln>
        </p:spPr>
        <p:txBody>
          <a:bodyPr wrap="square" lIns="0" tIns="0" rIns="0" bIns="0" anchor="t">
            <a:noAutofit/>
          </a:bodyPr>
          <a:lstStyle/>
          <a:p>
            <a:pPr algn="l">
              <a:buNone/>
              <a:defRPr sz="1725" b="1">
                <a:solidFill>
                  <a:srgbClr val="BACDB7"/>
                </a:solidFill>
                <a:latin typeface="Segoe UI"/>
                <a:ea typeface="Segoe UI"/>
                <a:cs typeface="Segoe UI"/>
              </a:defRPr>
            </a:pPr>
            <a:r>
              <a:rPr sz="1725" b="1">
                <a:solidFill>
                  <a:srgbClr val="BACDB7"/>
                </a:solidFill>
                <a:latin typeface="Segoe UI"/>
                <a:ea typeface="Segoe UI"/>
                <a:cs typeface="Segoe UI"/>
              </a:rPr>
              <a:t>Mai</a:t>
            </a:r>
          </a:p>
        </p:txBody>
      </p:sp>
      <p:sp>
        <p:nvSpPr>
          <p:cNvPr id="28" name="Rectangle 27">
            <a:extLst>
              <a:ext uri="{FF2B5EF4-FFF2-40B4-BE49-F238E27FC236}">
                <a16:creationId xmlns:a16="http://schemas.microsoft.com/office/drawing/2014/main" id="{91F8E7BF-E4DC-4F7E-B59A-48C1A6D58654}"/>
              </a:ext>
            </a:extLst>
          </p:cNvPr>
          <p:cNvSpPr>
            <a:spLocks noGrp="1"/>
          </p:cNvSpPr>
          <p:nvPr/>
        </p:nvSpPr>
        <p:spPr>
          <a:xfrm>
            <a:off x="5176838" y="2390775"/>
            <a:ext cx="9525" cy="3076575"/>
          </a:xfrm>
          <a:prstGeom prst="rect">
            <a:avLst/>
          </a:prstGeom>
          <a:solidFill>
            <a:srgbClr val="5F7B69"/>
          </a:solidFill>
          <a:ln w="0">
            <a:noFill/>
          </a:ln>
        </p:spPr>
        <p:txBody>
          <a:bodyPr/>
          <a:lstStyle/>
          <a:p>
            <a:endParaRPr lang="fr-FR"/>
          </a:p>
        </p:txBody>
      </p:sp>
      <p:sp>
        <p:nvSpPr>
          <p:cNvPr id="29" name="Rectangle 28">
            <a:extLst>
              <a:ext uri="{FF2B5EF4-FFF2-40B4-BE49-F238E27FC236}">
                <a16:creationId xmlns:a16="http://schemas.microsoft.com/office/drawing/2014/main" id="{BBD9B645-FDE0-4C72-8129-076CDB30FB02}"/>
              </a:ext>
            </a:extLst>
          </p:cNvPr>
          <p:cNvSpPr>
            <a:spLocks noGrp="1"/>
          </p:cNvSpPr>
          <p:nvPr/>
        </p:nvSpPr>
        <p:spPr>
          <a:xfrm>
            <a:off x="7120731" y="2057400"/>
            <a:ext cx="914400" cy="285750"/>
          </a:xfrm>
          <a:prstGeom prst="rect">
            <a:avLst/>
          </a:prstGeom>
          <a:noFill/>
          <a:ln w="0">
            <a:noFill/>
          </a:ln>
        </p:spPr>
        <p:txBody>
          <a:bodyPr wrap="square" lIns="0" tIns="0" rIns="0" bIns="0" anchor="t">
            <a:noAutofit/>
          </a:bodyPr>
          <a:lstStyle/>
          <a:p>
            <a:pPr algn="l">
              <a:buNone/>
              <a:defRPr sz="1725" b="1">
                <a:solidFill>
                  <a:srgbClr val="BACDB7"/>
                </a:solidFill>
                <a:latin typeface="Segoe UI"/>
                <a:ea typeface="Segoe UI"/>
                <a:cs typeface="Segoe UI"/>
              </a:defRPr>
            </a:pPr>
            <a:r>
              <a:rPr sz="1725" b="1">
                <a:solidFill>
                  <a:srgbClr val="BACDB7"/>
                </a:solidFill>
                <a:latin typeface="Segoe UI"/>
                <a:ea typeface="Segoe UI"/>
                <a:cs typeface="Segoe UI"/>
              </a:rPr>
              <a:t>Juin</a:t>
            </a:r>
          </a:p>
        </p:txBody>
      </p:sp>
      <p:sp>
        <p:nvSpPr>
          <p:cNvPr id="30" name="Rectangle 29">
            <a:extLst>
              <a:ext uri="{FF2B5EF4-FFF2-40B4-BE49-F238E27FC236}">
                <a16:creationId xmlns:a16="http://schemas.microsoft.com/office/drawing/2014/main" id="{8EA2F487-19A1-49BE-8E61-5EF5FD15EF0B}"/>
              </a:ext>
            </a:extLst>
          </p:cNvPr>
          <p:cNvSpPr>
            <a:spLocks noGrp="1"/>
          </p:cNvSpPr>
          <p:nvPr/>
        </p:nvSpPr>
        <p:spPr>
          <a:xfrm>
            <a:off x="7120731" y="2390775"/>
            <a:ext cx="9525" cy="3076575"/>
          </a:xfrm>
          <a:prstGeom prst="rect">
            <a:avLst/>
          </a:prstGeom>
          <a:solidFill>
            <a:srgbClr val="5F7B69"/>
          </a:solidFill>
          <a:ln w="0">
            <a:noFill/>
          </a:ln>
        </p:spPr>
        <p:txBody>
          <a:bodyPr/>
          <a:lstStyle/>
          <a:p>
            <a:endParaRPr lang="fr-FR"/>
          </a:p>
        </p:txBody>
      </p:sp>
      <p:sp>
        <p:nvSpPr>
          <p:cNvPr id="31" name="Rectangle 30">
            <a:extLst>
              <a:ext uri="{FF2B5EF4-FFF2-40B4-BE49-F238E27FC236}">
                <a16:creationId xmlns:a16="http://schemas.microsoft.com/office/drawing/2014/main" id="{41A7BA27-D904-484C-84A0-CD42EC2FDC2E}"/>
              </a:ext>
            </a:extLst>
          </p:cNvPr>
          <p:cNvSpPr>
            <a:spLocks noGrp="1"/>
          </p:cNvSpPr>
          <p:nvPr/>
        </p:nvSpPr>
        <p:spPr>
          <a:xfrm>
            <a:off x="9001919" y="2057400"/>
            <a:ext cx="914400" cy="285750"/>
          </a:xfrm>
          <a:prstGeom prst="rect">
            <a:avLst/>
          </a:prstGeom>
          <a:noFill/>
          <a:ln w="0">
            <a:noFill/>
          </a:ln>
        </p:spPr>
        <p:txBody>
          <a:bodyPr wrap="square" lIns="0" tIns="0" rIns="0" bIns="0" anchor="t">
            <a:noAutofit/>
          </a:bodyPr>
          <a:lstStyle/>
          <a:p>
            <a:pPr algn="l">
              <a:buNone/>
              <a:defRPr sz="1725" b="1">
                <a:solidFill>
                  <a:srgbClr val="BACDB7"/>
                </a:solidFill>
                <a:latin typeface="Segoe UI"/>
                <a:ea typeface="Segoe UI"/>
                <a:cs typeface="Segoe UI"/>
              </a:defRPr>
            </a:pPr>
            <a:r>
              <a:rPr sz="1725" b="1">
                <a:solidFill>
                  <a:srgbClr val="BACDB7"/>
                </a:solidFill>
                <a:latin typeface="Segoe UI"/>
                <a:ea typeface="Segoe UI"/>
                <a:cs typeface="Segoe UI"/>
              </a:rPr>
              <a:t>Juillet</a:t>
            </a:r>
          </a:p>
        </p:txBody>
      </p:sp>
      <p:sp>
        <p:nvSpPr>
          <p:cNvPr id="32" name="Rectangle 31">
            <a:extLst>
              <a:ext uri="{FF2B5EF4-FFF2-40B4-BE49-F238E27FC236}">
                <a16:creationId xmlns:a16="http://schemas.microsoft.com/office/drawing/2014/main" id="{94C1F1AE-14BC-4F5C-B66B-AF0440D9AEFE}"/>
              </a:ext>
            </a:extLst>
          </p:cNvPr>
          <p:cNvSpPr>
            <a:spLocks noGrp="1"/>
          </p:cNvSpPr>
          <p:nvPr/>
        </p:nvSpPr>
        <p:spPr>
          <a:xfrm>
            <a:off x="9001919" y="2390775"/>
            <a:ext cx="9525" cy="3076575"/>
          </a:xfrm>
          <a:prstGeom prst="rect">
            <a:avLst/>
          </a:prstGeom>
          <a:solidFill>
            <a:srgbClr val="5F7B69"/>
          </a:solidFill>
          <a:ln w="0">
            <a:noFill/>
          </a:ln>
        </p:spPr>
        <p:txBody>
          <a:bodyPr/>
          <a:lstStyle/>
          <a:p>
            <a:endParaRPr lang="fr-FR"/>
          </a:p>
        </p:txBody>
      </p:sp>
      <p:sp>
        <p:nvSpPr>
          <p:cNvPr id="33" name="Rectangle 32">
            <a:extLst>
              <a:ext uri="{FF2B5EF4-FFF2-40B4-BE49-F238E27FC236}">
                <a16:creationId xmlns:a16="http://schemas.microsoft.com/office/drawing/2014/main" id="{CD559CB9-050F-4FB5-9D45-1959D5B14A55}"/>
              </a:ext>
            </a:extLst>
          </p:cNvPr>
          <p:cNvSpPr>
            <a:spLocks noGrp="1"/>
          </p:cNvSpPr>
          <p:nvPr/>
        </p:nvSpPr>
        <p:spPr>
          <a:xfrm>
            <a:off x="10945812" y="2057400"/>
            <a:ext cx="914400" cy="285750"/>
          </a:xfrm>
          <a:prstGeom prst="rect">
            <a:avLst/>
          </a:prstGeom>
          <a:noFill/>
          <a:ln w="0">
            <a:noFill/>
          </a:ln>
        </p:spPr>
        <p:txBody>
          <a:bodyPr wrap="square" lIns="0" tIns="0" rIns="0" bIns="0" anchor="t">
            <a:noAutofit/>
          </a:bodyPr>
          <a:lstStyle/>
          <a:p>
            <a:pPr algn="l">
              <a:buNone/>
              <a:defRPr sz="1725" b="1">
                <a:solidFill>
                  <a:srgbClr val="BACDB7"/>
                </a:solidFill>
                <a:latin typeface="Segoe UI"/>
                <a:ea typeface="Segoe UI"/>
                <a:cs typeface="Segoe UI"/>
              </a:defRPr>
            </a:pPr>
            <a:r>
              <a:rPr sz="1725" b="1">
                <a:solidFill>
                  <a:srgbClr val="BACDB7"/>
                </a:solidFill>
                <a:latin typeface="Segoe UI"/>
                <a:ea typeface="Segoe UI"/>
                <a:cs typeface="Segoe UI"/>
              </a:rPr>
              <a:t>Août</a:t>
            </a:r>
          </a:p>
        </p:txBody>
      </p:sp>
      <p:sp>
        <p:nvSpPr>
          <p:cNvPr id="34" name="Rectangle 33">
            <a:extLst>
              <a:ext uri="{FF2B5EF4-FFF2-40B4-BE49-F238E27FC236}">
                <a16:creationId xmlns:a16="http://schemas.microsoft.com/office/drawing/2014/main" id="{FF9AA6C5-0C54-411C-ADE0-E3F3C2B1A8B3}"/>
              </a:ext>
            </a:extLst>
          </p:cNvPr>
          <p:cNvSpPr>
            <a:spLocks noGrp="1"/>
          </p:cNvSpPr>
          <p:nvPr/>
        </p:nvSpPr>
        <p:spPr>
          <a:xfrm>
            <a:off x="10945812" y="2390775"/>
            <a:ext cx="9525" cy="3076575"/>
          </a:xfrm>
          <a:prstGeom prst="rect">
            <a:avLst/>
          </a:prstGeom>
          <a:solidFill>
            <a:srgbClr val="5F7B69"/>
          </a:solidFill>
          <a:ln w="0">
            <a:noFill/>
          </a:ln>
        </p:spPr>
        <p:txBody>
          <a:bodyPr/>
          <a:lstStyle/>
          <a:p>
            <a:endParaRPr lang="fr-FR"/>
          </a:p>
        </p:txBody>
      </p:sp>
      <p:sp>
        <p:nvSpPr>
          <p:cNvPr id="35" name="Rectangle 34">
            <a:extLst>
              <a:ext uri="{FF2B5EF4-FFF2-40B4-BE49-F238E27FC236}">
                <a16:creationId xmlns:a16="http://schemas.microsoft.com/office/drawing/2014/main" id="{98059DE5-4ED3-436A-BF7C-45957750FE4E}"/>
              </a:ext>
            </a:extLst>
          </p:cNvPr>
          <p:cNvSpPr>
            <a:spLocks noGrp="1"/>
          </p:cNvSpPr>
          <p:nvPr/>
        </p:nvSpPr>
        <p:spPr>
          <a:xfrm>
            <a:off x="609600" y="2438400"/>
            <a:ext cx="2524125" cy="314325"/>
          </a:xfrm>
          <a:prstGeom prst="rect">
            <a:avLst/>
          </a:prstGeom>
          <a:noFill/>
          <a:ln w="0">
            <a:noFill/>
          </a:ln>
        </p:spPr>
        <p:txBody>
          <a:bodyPr wrap="square" lIns="0" tIns="0" rIns="0" bIns="0" anchor="t">
            <a:noAutofit/>
          </a:bodyPr>
          <a:lstStyle/>
          <a:p>
            <a:pPr algn="l">
              <a:buNone/>
              <a:defRPr sz="1950" b="1">
                <a:solidFill>
                  <a:srgbClr val="F4F7F3"/>
                </a:solidFill>
                <a:latin typeface="Segoe UI"/>
                <a:ea typeface="Segoe UI"/>
                <a:cs typeface="Segoe UI"/>
              </a:defRPr>
            </a:pPr>
            <a:r>
              <a:rPr sz="1950" b="1">
                <a:solidFill>
                  <a:srgbClr val="F4F7F3"/>
                </a:solidFill>
                <a:latin typeface="Segoe UI"/>
                <a:ea typeface="Segoe UI"/>
                <a:cs typeface="Segoe UI"/>
              </a:rPr>
              <a:t>Cadrage</a:t>
            </a:r>
          </a:p>
        </p:txBody>
      </p:sp>
      <p:sp>
        <p:nvSpPr>
          <p:cNvPr id="36" name="Rectangle 35">
            <a:extLst>
              <a:ext uri="{FF2B5EF4-FFF2-40B4-BE49-F238E27FC236}">
                <a16:creationId xmlns:a16="http://schemas.microsoft.com/office/drawing/2014/main" id="{404766B2-0AC8-41C6-9146-0C0E434955F8}"/>
              </a:ext>
            </a:extLst>
          </p:cNvPr>
          <p:cNvSpPr>
            <a:spLocks noGrp="1"/>
          </p:cNvSpPr>
          <p:nvPr/>
        </p:nvSpPr>
        <p:spPr>
          <a:xfrm>
            <a:off x="609600" y="2733675"/>
            <a:ext cx="2524125" cy="257175"/>
          </a:xfrm>
          <a:prstGeom prst="rect">
            <a:avLst/>
          </a:prstGeom>
          <a:noFill/>
          <a:ln w="0">
            <a:noFill/>
          </a:ln>
        </p:spPr>
        <p:txBody>
          <a:bodyPr wrap="square" lIns="0" tIns="0" rIns="0" bIns="0" anchor="t">
            <a:noAutofit/>
          </a:bodyPr>
          <a:lstStyle/>
          <a:p>
            <a:pPr algn="l">
              <a:buNone/>
              <a:defRPr sz="1575" b="0">
                <a:solidFill>
                  <a:srgbClr val="C1D0C1"/>
                </a:solidFill>
                <a:latin typeface="Segoe UI"/>
                <a:ea typeface="Segoe UI"/>
                <a:cs typeface="Segoe UI"/>
              </a:defRPr>
            </a:pPr>
            <a:r>
              <a:rPr sz="1575" b="0">
                <a:solidFill>
                  <a:srgbClr val="C1D0C1"/>
                </a:solidFill>
                <a:latin typeface="Segoe UI"/>
                <a:ea typeface="Segoe UI"/>
                <a:cs typeface="Segoe UI"/>
              </a:rPr>
              <a:t>13–20 avril</a:t>
            </a:r>
          </a:p>
        </p:txBody>
      </p:sp>
      <p:sp>
        <p:nvSpPr>
          <p:cNvPr id="37" name="Rectangle 36">
            <a:extLst>
              <a:ext uri="{FF2B5EF4-FFF2-40B4-BE49-F238E27FC236}">
                <a16:creationId xmlns:a16="http://schemas.microsoft.com/office/drawing/2014/main" id="{E614483F-D23F-4F68-AA34-6A24F7435830}"/>
              </a:ext>
            </a:extLst>
          </p:cNvPr>
          <p:cNvSpPr>
            <a:spLocks noGrp="1"/>
          </p:cNvSpPr>
          <p:nvPr/>
        </p:nvSpPr>
        <p:spPr>
          <a:xfrm>
            <a:off x="3152775" y="2524125"/>
            <a:ext cx="828675" cy="352425"/>
          </a:xfrm>
          <a:prstGeom prst="rect">
            <a:avLst/>
          </a:prstGeom>
          <a:noFill/>
          <a:ln w="0">
            <a:noFill/>
          </a:ln>
        </p:spPr>
        <p:txBody>
          <a:bodyPr wrap="square" lIns="0" tIns="0" rIns="0" bIns="0" anchor="t">
            <a:noAutofit/>
          </a:bodyPr>
          <a:lstStyle/>
          <a:p>
            <a:pPr algn="l">
              <a:buNone/>
              <a:defRPr sz="1950" b="1">
                <a:solidFill>
                  <a:srgbClr val="D9BC7F"/>
                </a:solidFill>
                <a:latin typeface="Segoe UI"/>
                <a:ea typeface="Segoe UI"/>
                <a:cs typeface="Segoe UI"/>
              </a:defRPr>
            </a:pPr>
            <a:r>
              <a:rPr sz="1950" b="1">
                <a:solidFill>
                  <a:srgbClr val="D9BC7F"/>
                </a:solidFill>
                <a:latin typeface="Segoe UI"/>
                <a:ea typeface="Segoe UI"/>
                <a:cs typeface="Segoe UI"/>
              </a:rPr>
              <a:t>13 JH</a:t>
            </a:r>
          </a:p>
        </p:txBody>
      </p:sp>
      <p:sp>
        <p:nvSpPr>
          <p:cNvPr id="38" name="Rectangle 37">
            <a:extLst>
              <a:ext uri="{FF2B5EF4-FFF2-40B4-BE49-F238E27FC236}">
                <a16:creationId xmlns:a16="http://schemas.microsoft.com/office/drawing/2014/main" id="{30C37B59-419C-49FA-897C-775835E69870}"/>
              </a:ext>
            </a:extLst>
          </p:cNvPr>
          <p:cNvSpPr>
            <a:spLocks noGrp="1"/>
          </p:cNvSpPr>
          <p:nvPr/>
        </p:nvSpPr>
        <p:spPr>
          <a:xfrm>
            <a:off x="4048125" y="2571750"/>
            <a:ext cx="501650" cy="285750"/>
          </a:xfrm>
          <a:prstGeom prst="rect">
            <a:avLst/>
          </a:prstGeom>
          <a:solidFill>
            <a:srgbClr val="577C60"/>
          </a:solidFill>
          <a:ln w="0">
            <a:noFill/>
          </a:ln>
        </p:spPr>
        <p:txBody>
          <a:bodyPr/>
          <a:lstStyle/>
          <a:p>
            <a:endParaRPr lang="fr-FR"/>
          </a:p>
        </p:txBody>
      </p:sp>
      <p:sp>
        <p:nvSpPr>
          <p:cNvPr id="39" name="Rectangle 38">
            <a:extLst>
              <a:ext uri="{FF2B5EF4-FFF2-40B4-BE49-F238E27FC236}">
                <a16:creationId xmlns:a16="http://schemas.microsoft.com/office/drawing/2014/main" id="{75357BD8-13E2-445B-9B29-0F013E9A7F00}"/>
              </a:ext>
            </a:extLst>
          </p:cNvPr>
          <p:cNvSpPr>
            <a:spLocks noGrp="1"/>
          </p:cNvSpPr>
          <p:nvPr/>
        </p:nvSpPr>
        <p:spPr>
          <a:xfrm>
            <a:off x="609600" y="3057525"/>
            <a:ext cx="2524125" cy="314325"/>
          </a:xfrm>
          <a:prstGeom prst="rect">
            <a:avLst/>
          </a:prstGeom>
          <a:noFill/>
          <a:ln w="0">
            <a:noFill/>
          </a:ln>
        </p:spPr>
        <p:txBody>
          <a:bodyPr wrap="square" lIns="0" tIns="0" rIns="0" bIns="0" anchor="t">
            <a:noAutofit/>
          </a:bodyPr>
          <a:lstStyle/>
          <a:p>
            <a:pPr algn="l">
              <a:buNone/>
              <a:defRPr sz="1950" b="1">
                <a:solidFill>
                  <a:srgbClr val="F4F7F3"/>
                </a:solidFill>
                <a:latin typeface="Segoe UI"/>
                <a:ea typeface="Segoe UI"/>
                <a:cs typeface="Segoe UI"/>
              </a:defRPr>
            </a:pPr>
            <a:r>
              <a:rPr sz="1950" b="1">
                <a:solidFill>
                  <a:srgbClr val="F4F7F3"/>
                </a:solidFill>
                <a:latin typeface="Segoe UI"/>
                <a:ea typeface="Segoe UI"/>
                <a:cs typeface="Segoe UI"/>
              </a:rPr>
              <a:t>Socle produit</a:t>
            </a:r>
          </a:p>
        </p:txBody>
      </p:sp>
      <p:sp>
        <p:nvSpPr>
          <p:cNvPr id="40" name="Rectangle 39">
            <a:extLst>
              <a:ext uri="{FF2B5EF4-FFF2-40B4-BE49-F238E27FC236}">
                <a16:creationId xmlns:a16="http://schemas.microsoft.com/office/drawing/2014/main" id="{384737B2-DB76-4561-A195-946839BCE772}"/>
              </a:ext>
            </a:extLst>
          </p:cNvPr>
          <p:cNvSpPr>
            <a:spLocks noGrp="1"/>
          </p:cNvSpPr>
          <p:nvPr/>
        </p:nvSpPr>
        <p:spPr>
          <a:xfrm>
            <a:off x="609600" y="3352800"/>
            <a:ext cx="2524125" cy="257175"/>
          </a:xfrm>
          <a:prstGeom prst="rect">
            <a:avLst/>
          </a:prstGeom>
          <a:noFill/>
          <a:ln w="0">
            <a:noFill/>
          </a:ln>
        </p:spPr>
        <p:txBody>
          <a:bodyPr wrap="square" lIns="0" tIns="0" rIns="0" bIns="0" anchor="t">
            <a:noAutofit/>
          </a:bodyPr>
          <a:lstStyle/>
          <a:p>
            <a:pPr algn="l">
              <a:buNone/>
              <a:defRPr sz="1575" b="0">
                <a:solidFill>
                  <a:srgbClr val="C1D0C1"/>
                </a:solidFill>
                <a:latin typeface="Segoe UI"/>
                <a:ea typeface="Segoe UI"/>
                <a:cs typeface="Segoe UI"/>
              </a:defRPr>
            </a:pPr>
            <a:r>
              <a:rPr sz="1575" b="0">
                <a:solidFill>
                  <a:srgbClr val="C1D0C1"/>
                </a:solidFill>
                <a:latin typeface="Segoe UI"/>
                <a:ea typeface="Segoe UI"/>
                <a:cs typeface="Segoe UI"/>
              </a:rPr>
              <a:t>21 avril–12 mai</a:t>
            </a:r>
          </a:p>
        </p:txBody>
      </p:sp>
      <p:sp>
        <p:nvSpPr>
          <p:cNvPr id="41" name="Rectangle 40">
            <a:extLst>
              <a:ext uri="{FF2B5EF4-FFF2-40B4-BE49-F238E27FC236}">
                <a16:creationId xmlns:a16="http://schemas.microsoft.com/office/drawing/2014/main" id="{ECC3D91D-5A52-46F1-AC55-39D46C4EBA9F}"/>
              </a:ext>
            </a:extLst>
          </p:cNvPr>
          <p:cNvSpPr>
            <a:spLocks noGrp="1"/>
          </p:cNvSpPr>
          <p:nvPr/>
        </p:nvSpPr>
        <p:spPr>
          <a:xfrm>
            <a:off x="3152775" y="3143250"/>
            <a:ext cx="828675" cy="352425"/>
          </a:xfrm>
          <a:prstGeom prst="rect">
            <a:avLst/>
          </a:prstGeom>
          <a:noFill/>
          <a:ln w="0">
            <a:noFill/>
          </a:ln>
        </p:spPr>
        <p:txBody>
          <a:bodyPr wrap="square" lIns="0" tIns="0" rIns="0" bIns="0" anchor="t">
            <a:noAutofit/>
          </a:bodyPr>
          <a:lstStyle/>
          <a:p>
            <a:pPr algn="l">
              <a:buNone/>
              <a:defRPr sz="1950" b="1">
                <a:solidFill>
                  <a:srgbClr val="D9BC7F"/>
                </a:solidFill>
                <a:latin typeface="Segoe UI"/>
                <a:ea typeface="Segoe UI"/>
                <a:cs typeface="Segoe UI"/>
              </a:defRPr>
            </a:pPr>
            <a:r>
              <a:rPr sz="1950" b="1">
                <a:solidFill>
                  <a:srgbClr val="D9BC7F"/>
                </a:solidFill>
                <a:latin typeface="Segoe UI"/>
                <a:ea typeface="Segoe UI"/>
                <a:cs typeface="Segoe UI"/>
              </a:rPr>
              <a:t>22 JH</a:t>
            </a:r>
          </a:p>
        </p:txBody>
      </p:sp>
      <p:sp>
        <p:nvSpPr>
          <p:cNvPr id="42" name="Rectangle 41">
            <a:extLst>
              <a:ext uri="{FF2B5EF4-FFF2-40B4-BE49-F238E27FC236}">
                <a16:creationId xmlns:a16="http://schemas.microsoft.com/office/drawing/2014/main" id="{57AB44D9-4039-4F77-B2D3-62FAF475B0AD}"/>
              </a:ext>
            </a:extLst>
          </p:cNvPr>
          <p:cNvSpPr>
            <a:spLocks noGrp="1"/>
          </p:cNvSpPr>
          <p:nvPr/>
        </p:nvSpPr>
        <p:spPr>
          <a:xfrm>
            <a:off x="4549775" y="3190875"/>
            <a:ext cx="1379537" cy="285750"/>
          </a:xfrm>
          <a:prstGeom prst="rect">
            <a:avLst/>
          </a:prstGeom>
          <a:solidFill>
            <a:srgbClr val="577C60"/>
          </a:solidFill>
          <a:ln w="0">
            <a:noFill/>
          </a:ln>
        </p:spPr>
        <p:txBody>
          <a:bodyPr/>
          <a:lstStyle/>
          <a:p>
            <a:endParaRPr lang="fr-FR"/>
          </a:p>
        </p:txBody>
      </p:sp>
      <p:sp>
        <p:nvSpPr>
          <p:cNvPr id="43" name="Rectangle 42">
            <a:extLst>
              <a:ext uri="{FF2B5EF4-FFF2-40B4-BE49-F238E27FC236}">
                <a16:creationId xmlns:a16="http://schemas.microsoft.com/office/drawing/2014/main" id="{B9E3BEE4-608B-4AFB-97B0-F6692DFEEE0C}"/>
              </a:ext>
            </a:extLst>
          </p:cNvPr>
          <p:cNvSpPr>
            <a:spLocks noGrp="1"/>
          </p:cNvSpPr>
          <p:nvPr/>
        </p:nvSpPr>
        <p:spPr>
          <a:xfrm>
            <a:off x="609600" y="3676650"/>
            <a:ext cx="2524125" cy="314325"/>
          </a:xfrm>
          <a:prstGeom prst="rect">
            <a:avLst/>
          </a:prstGeom>
          <a:noFill/>
          <a:ln w="0">
            <a:noFill/>
          </a:ln>
        </p:spPr>
        <p:txBody>
          <a:bodyPr wrap="square" lIns="0" tIns="0" rIns="0" bIns="0" anchor="t">
            <a:noAutofit/>
          </a:bodyPr>
          <a:lstStyle/>
          <a:p>
            <a:pPr algn="l">
              <a:buNone/>
              <a:defRPr sz="1950" b="1">
                <a:solidFill>
                  <a:srgbClr val="F4F7F3"/>
                </a:solidFill>
                <a:latin typeface="Segoe UI"/>
                <a:ea typeface="Segoe UI"/>
                <a:cs typeface="Segoe UI"/>
              </a:defRPr>
            </a:pPr>
            <a:r>
              <a:rPr sz="1950" b="1">
                <a:solidFill>
                  <a:srgbClr val="F4F7F3"/>
                </a:solidFill>
                <a:latin typeface="Segoe UI"/>
                <a:ea typeface="Segoe UI"/>
                <a:cs typeface="Segoe UI"/>
              </a:rPr>
              <a:t>Recette et livraison</a:t>
            </a:r>
          </a:p>
        </p:txBody>
      </p:sp>
      <p:sp>
        <p:nvSpPr>
          <p:cNvPr id="44" name="Rectangle 43">
            <a:extLst>
              <a:ext uri="{FF2B5EF4-FFF2-40B4-BE49-F238E27FC236}">
                <a16:creationId xmlns:a16="http://schemas.microsoft.com/office/drawing/2014/main" id="{636DA059-63F0-42B1-B0A0-9E095E5C02CF}"/>
              </a:ext>
            </a:extLst>
          </p:cNvPr>
          <p:cNvSpPr>
            <a:spLocks noGrp="1"/>
          </p:cNvSpPr>
          <p:nvPr/>
        </p:nvSpPr>
        <p:spPr>
          <a:xfrm>
            <a:off x="609600" y="3971925"/>
            <a:ext cx="2524125" cy="257175"/>
          </a:xfrm>
          <a:prstGeom prst="rect">
            <a:avLst/>
          </a:prstGeom>
          <a:noFill/>
          <a:ln w="0">
            <a:noFill/>
          </a:ln>
        </p:spPr>
        <p:txBody>
          <a:bodyPr wrap="square" lIns="0" tIns="0" rIns="0" bIns="0" anchor="t">
            <a:noAutofit/>
          </a:bodyPr>
          <a:lstStyle/>
          <a:p>
            <a:pPr algn="l">
              <a:buNone/>
              <a:defRPr sz="1575" b="0">
                <a:solidFill>
                  <a:srgbClr val="C1D0C1"/>
                </a:solidFill>
                <a:latin typeface="Segoe UI"/>
                <a:ea typeface="Segoe UI"/>
                <a:cs typeface="Segoe UI"/>
              </a:defRPr>
            </a:pPr>
            <a:r>
              <a:rPr sz="1575" b="0">
                <a:solidFill>
                  <a:srgbClr val="C1D0C1"/>
                </a:solidFill>
                <a:latin typeface="Segoe UI"/>
                <a:ea typeface="Segoe UI"/>
                <a:cs typeface="Segoe UI"/>
              </a:rPr>
              <a:t>13 mai–4 juin</a:t>
            </a:r>
          </a:p>
        </p:txBody>
      </p:sp>
      <p:sp>
        <p:nvSpPr>
          <p:cNvPr id="45" name="Rectangle 44">
            <a:extLst>
              <a:ext uri="{FF2B5EF4-FFF2-40B4-BE49-F238E27FC236}">
                <a16:creationId xmlns:a16="http://schemas.microsoft.com/office/drawing/2014/main" id="{EFCE49F3-571F-4F9A-B1DD-F816A3C3C0D0}"/>
              </a:ext>
            </a:extLst>
          </p:cNvPr>
          <p:cNvSpPr>
            <a:spLocks noGrp="1"/>
          </p:cNvSpPr>
          <p:nvPr/>
        </p:nvSpPr>
        <p:spPr>
          <a:xfrm>
            <a:off x="3152775" y="3762375"/>
            <a:ext cx="828675" cy="352425"/>
          </a:xfrm>
          <a:prstGeom prst="rect">
            <a:avLst/>
          </a:prstGeom>
          <a:noFill/>
          <a:ln w="0">
            <a:noFill/>
          </a:ln>
        </p:spPr>
        <p:txBody>
          <a:bodyPr wrap="square" lIns="0" tIns="0" rIns="0" bIns="0" anchor="t">
            <a:noAutofit/>
          </a:bodyPr>
          <a:lstStyle/>
          <a:p>
            <a:pPr algn="l">
              <a:buNone/>
              <a:defRPr sz="1950" b="1">
                <a:solidFill>
                  <a:srgbClr val="D9BC7F"/>
                </a:solidFill>
                <a:latin typeface="Segoe UI"/>
                <a:ea typeface="Segoe UI"/>
                <a:cs typeface="Segoe UI"/>
              </a:defRPr>
            </a:pPr>
            <a:r>
              <a:rPr sz="1950" b="1">
                <a:solidFill>
                  <a:srgbClr val="D9BC7F"/>
                </a:solidFill>
                <a:latin typeface="Segoe UI"/>
                <a:ea typeface="Segoe UI"/>
                <a:cs typeface="Segoe UI"/>
              </a:rPr>
              <a:t>15 JH</a:t>
            </a:r>
          </a:p>
        </p:txBody>
      </p:sp>
      <p:sp>
        <p:nvSpPr>
          <p:cNvPr id="46" name="Rectangle 45">
            <a:extLst>
              <a:ext uri="{FF2B5EF4-FFF2-40B4-BE49-F238E27FC236}">
                <a16:creationId xmlns:a16="http://schemas.microsoft.com/office/drawing/2014/main" id="{24B6195B-4CE8-4F24-A88F-0C4F3D17E22A}"/>
              </a:ext>
            </a:extLst>
          </p:cNvPr>
          <p:cNvSpPr>
            <a:spLocks noGrp="1"/>
          </p:cNvSpPr>
          <p:nvPr/>
        </p:nvSpPr>
        <p:spPr>
          <a:xfrm>
            <a:off x="5929313" y="3810000"/>
            <a:ext cx="1442244" cy="285750"/>
          </a:xfrm>
          <a:prstGeom prst="rect">
            <a:avLst/>
          </a:prstGeom>
          <a:solidFill>
            <a:srgbClr val="577C60"/>
          </a:solidFill>
          <a:ln w="0">
            <a:noFill/>
          </a:ln>
        </p:spPr>
        <p:txBody>
          <a:bodyPr/>
          <a:lstStyle/>
          <a:p>
            <a:endParaRPr lang="fr-FR"/>
          </a:p>
        </p:txBody>
      </p:sp>
      <p:sp>
        <p:nvSpPr>
          <p:cNvPr id="47" name="Rectangle 46">
            <a:extLst>
              <a:ext uri="{FF2B5EF4-FFF2-40B4-BE49-F238E27FC236}">
                <a16:creationId xmlns:a16="http://schemas.microsoft.com/office/drawing/2014/main" id="{7D254DD7-8289-4D4B-A194-3126A5F8FA74}"/>
              </a:ext>
            </a:extLst>
          </p:cNvPr>
          <p:cNvSpPr>
            <a:spLocks noGrp="1"/>
          </p:cNvSpPr>
          <p:nvPr/>
        </p:nvSpPr>
        <p:spPr>
          <a:xfrm>
            <a:off x="609600" y="4295775"/>
            <a:ext cx="2524125" cy="314325"/>
          </a:xfrm>
          <a:prstGeom prst="rect">
            <a:avLst/>
          </a:prstGeom>
          <a:noFill/>
          <a:ln w="0">
            <a:noFill/>
          </a:ln>
        </p:spPr>
        <p:txBody>
          <a:bodyPr wrap="square" lIns="0" tIns="0" rIns="0" bIns="0" anchor="t">
            <a:noAutofit/>
          </a:bodyPr>
          <a:lstStyle/>
          <a:p>
            <a:pPr algn="l">
              <a:buNone/>
              <a:defRPr sz="1950" b="1">
                <a:solidFill>
                  <a:srgbClr val="F4F7F3"/>
                </a:solidFill>
                <a:latin typeface="Segoe UI"/>
                <a:ea typeface="Segoe UI"/>
                <a:cs typeface="Segoe UI"/>
              </a:defRPr>
            </a:pPr>
            <a:r>
              <a:rPr sz="1950" b="1">
                <a:solidFill>
                  <a:srgbClr val="F4F7F3"/>
                </a:solidFill>
                <a:latin typeface="Segoe UI"/>
                <a:ea typeface="Segoe UI"/>
                <a:cs typeface="Segoe UI"/>
              </a:rPr>
              <a:t>Programmes et UX</a:t>
            </a:r>
          </a:p>
        </p:txBody>
      </p:sp>
      <p:sp>
        <p:nvSpPr>
          <p:cNvPr id="48" name="Rectangle 47">
            <a:extLst>
              <a:ext uri="{FF2B5EF4-FFF2-40B4-BE49-F238E27FC236}">
                <a16:creationId xmlns:a16="http://schemas.microsoft.com/office/drawing/2014/main" id="{CB2822A4-8FB5-4FAE-B3EC-A40E614532CD}"/>
              </a:ext>
            </a:extLst>
          </p:cNvPr>
          <p:cNvSpPr>
            <a:spLocks noGrp="1"/>
          </p:cNvSpPr>
          <p:nvPr/>
        </p:nvSpPr>
        <p:spPr>
          <a:xfrm>
            <a:off x="609600" y="4591050"/>
            <a:ext cx="2524125" cy="257175"/>
          </a:xfrm>
          <a:prstGeom prst="rect">
            <a:avLst/>
          </a:prstGeom>
          <a:noFill/>
          <a:ln w="0">
            <a:noFill/>
          </a:ln>
        </p:spPr>
        <p:txBody>
          <a:bodyPr wrap="square" lIns="0" tIns="0" rIns="0" bIns="0" anchor="t">
            <a:noAutofit/>
          </a:bodyPr>
          <a:lstStyle/>
          <a:p>
            <a:pPr algn="l">
              <a:buNone/>
              <a:defRPr sz="1575" b="0">
                <a:solidFill>
                  <a:srgbClr val="C1D0C1"/>
                </a:solidFill>
                <a:latin typeface="Segoe UI"/>
                <a:ea typeface="Segoe UI"/>
                <a:cs typeface="Segoe UI"/>
              </a:defRPr>
            </a:pPr>
            <a:r>
              <a:rPr sz="1575" b="0">
                <a:solidFill>
                  <a:srgbClr val="C1D0C1"/>
                </a:solidFill>
                <a:latin typeface="Segoe UI"/>
                <a:ea typeface="Segoe UI"/>
                <a:cs typeface="Segoe UI"/>
              </a:rPr>
              <a:t>5–22 juin</a:t>
            </a:r>
          </a:p>
        </p:txBody>
      </p:sp>
      <p:sp>
        <p:nvSpPr>
          <p:cNvPr id="49" name="Rectangle 48">
            <a:extLst>
              <a:ext uri="{FF2B5EF4-FFF2-40B4-BE49-F238E27FC236}">
                <a16:creationId xmlns:a16="http://schemas.microsoft.com/office/drawing/2014/main" id="{869237CD-5C36-4EE7-A431-BD9B6BF5A061}"/>
              </a:ext>
            </a:extLst>
          </p:cNvPr>
          <p:cNvSpPr>
            <a:spLocks noGrp="1"/>
          </p:cNvSpPr>
          <p:nvPr/>
        </p:nvSpPr>
        <p:spPr>
          <a:xfrm>
            <a:off x="3152775" y="4381500"/>
            <a:ext cx="828675" cy="352425"/>
          </a:xfrm>
          <a:prstGeom prst="rect">
            <a:avLst/>
          </a:prstGeom>
          <a:noFill/>
          <a:ln w="0">
            <a:noFill/>
          </a:ln>
        </p:spPr>
        <p:txBody>
          <a:bodyPr wrap="square" lIns="0" tIns="0" rIns="0" bIns="0" anchor="t">
            <a:noAutofit/>
          </a:bodyPr>
          <a:lstStyle/>
          <a:p>
            <a:pPr algn="l">
              <a:buNone/>
              <a:defRPr sz="1950" b="1">
                <a:solidFill>
                  <a:srgbClr val="D9BC7F"/>
                </a:solidFill>
                <a:latin typeface="Segoe UI"/>
                <a:ea typeface="Segoe UI"/>
                <a:cs typeface="Segoe UI"/>
              </a:defRPr>
            </a:pPr>
            <a:r>
              <a:rPr sz="1950" b="1">
                <a:solidFill>
                  <a:srgbClr val="D9BC7F"/>
                </a:solidFill>
                <a:latin typeface="Segoe UI"/>
                <a:ea typeface="Segoe UI"/>
                <a:cs typeface="Segoe UI"/>
              </a:rPr>
              <a:t>17 JH</a:t>
            </a:r>
          </a:p>
        </p:txBody>
      </p:sp>
      <p:sp>
        <p:nvSpPr>
          <p:cNvPr id="50" name="Rectangle 49">
            <a:extLst>
              <a:ext uri="{FF2B5EF4-FFF2-40B4-BE49-F238E27FC236}">
                <a16:creationId xmlns:a16="http://schemas.microsoft.com/office/drawing/2014/main" id="{B3BC4763-7012-4C80-8952-8C31461A5A29}"/>
              </a:ext>
            </a:extLst>
          </p:cNvPr>
          <p:cNvSpPr>
            <a:spLocks noGrp="1"/>
          </p:cNvSpPr>
          <p:nvPr/>
        </p:nvSpPr>
        <p:spPr>
          <a:xfrm>
            <a:off x="7371556" y="4429125"/>
            <a:ext cx="1128712" cy="285750"/>
          </a:xfrm>
          <a:prstGeom prst="rect">
            <a:avLst/>
          </a:prstGeom>
          <a:solidFill>
            <a:srgbClr val="577C60"/>
          </a:solidFill>
          <a:ln w="0">
            <a:noFill/>
          </a:ln>
        </p:spPr>
        <p:txBody>
          <a:bodyPr/>
          <a:lstStyle/>
          <a:p>
            <a:endParaRPr lang="fr-FR"/>
          </a:p>
        </p:txBody>
      </p:sp>
      <p:sp>
        <p:nvSpPr>
          <p:cNvPr id="51" name="Rectangle 50">
            <a:extLst>
              <a:ext uri="{FF2B5EF4-FFF2-40B4-BE49-F238E27FC236}">
                <a16:creationId xmlns:a16="http://schemas.microsoft.com/office/drawing/2014/main" id="{34B6DE24-4A73-4186-9913-9F67BFAC39D5}"/>
              </a:ext>
            </a:extLst>
          </p:cNvPr>
          <p:cNvSpPr>
            <a:spLocks noGrp="1"/>
          </p:cNvSpPr>
          <p:nvPr/>
        </p:nvSpPr>
        <p:spPr>
          <a:xfrm>
            <a:off x="609600" y="4914900"/>
            <a:ext cx="2524125" cy="314325"/>
          </a:xfrm>
          <a:prstGeom prst="rect">
            <a:avLst/>
          </a:prstGeom>
          <a:noFill/>
          <a:ln w="0">
            <a:noFill/>
          </a:ln>
        </p:spPr>
        <p:txBody>
          <a:bodyPr wrap="square" lIns="0" tIns="0" rIns="0" bIns="0" anchor="t">
            <a:noAutofit/>
          </a:bodyPr>
          <a:lstStyle/>
          <a:p>
            <a:pPr algn="l">
              <a:buNone/>
              <a:defRPr sz="1950" b="1">
                <a:solidFill>
                  <a:srgbClr val="F4F7F3"/>
                </a:solidFill>
                <a:latin typeface="Segoe UI"/>
                <a:ea typeface="Segoe UI"/>
                <a:cs typeface="Segoe UI"/>
              </a:defRPr>
            </a:pPr>
            <a:r>
              <a:rPr sz="1950" b="1">
                <a:solidFill>
                  <a:srgbClr val="F4F7F3"/>
                </a:solidFill>
                <a:latin typeface="Segoe UI"/>
                <a:ea typeface="Segoe UI"/>
                <a:cs typeface="Segoe UI"/>
              </a:rPr>
              <a:t>Stabilisation</a:t>
            </a:r>
          </a:p>
        </p:txBody>
      </p:sp>
      <p:sp>
        <p:nvSpPr>
          <p:cNvPr id="52" name="Rectangle 51">
            <a:extLst>
              <a:ext uri="{FF2B5EF4-FFF2-40B4-BE49-F238E27FC236}">
                <a16:creationId xmlns:a16="http://schemas.microsoft.com/office/drawing/2014/main" id="{83EEF2A8-C7C8-4F95-91CB-F0EC8C1264B8}"/>
              </a:ext>
            </a:extLst>
          </p:cNvPr>
          <p:cNvSpPr>
            <a:spLocks noGrp="1"/>
          </p:cNvSpPr>
          <p:nvPr/>
        </p:nvSpPr>
        <p:spPr>
          <a:xfrm>
            <a:off x="609600" y="5210175"/>
            <a:ext cx="2524125" cy="257175"/>
          </a:xfrm>
          <a:prstGeom prst="rect">
            <a:avLst/>
          </a:prstGeom>
          <a:noFill/>
          <a:ln w="0">
            <a:noFill/>
          </a:ln>
        </p:spPr>
        <p:txBody>
          <a:bodyPr wrap="square" lIns="0" tIns="0" rIns="0" bIns="0" anchor="t">
            <a:noAutofit/>
          </a:bodyPr>
          <a:lstStyle/>
          <a:p>
            <a:pPr algn="l">
              <a:buNone/>
              <a:defRPr sz="1575" b="0">
                <a:solidFill>
                  <a:srgbClr val="C1D0C1"/>
                </a:solidFill>
                <a:latin typeface="Segoe UI"/>
                <a:ea typeface="Segoe UI"/>
                <a:cs typeface="Segoe UI"/>
              </a:defRPr>
            </a:pPr>
            <a:r>
              <a:rPr sz="1575" b="0">
                <a:solidFill>
                  <a:srgbClr val="C1D0C1"/>
                </a:solidFill>
                <a:latin typeface="Segoe UI"/>
                <a:ea typeface="Segoe UI"/>
                <a:cs typeface="Segoe UI"/>
              </a:rPr>
              <a:t>15 juillet–10 août</a:t>
            </a:r>
          </a:p>
        </p:txBody>
      </p:sp>
      <p:sp>
        <p:nvSpPr>
          <p:cNvPr id="53" name="Rectangle 52">
            <a:extLst>
              <a:ext uri="{FF2B5EF4-FFF2-40B4-BE49-F238E27FC236}">
                <a16:creationId xmlns:a16="http://schemas.microsoft.com/office/drawing/2014/main" id="{9C705D45-3218-42F1-8901-F130B96CFE82}"/>
              </a:ext>
            </a:extLst>
          </p:cNvPr>
          <p:cNvSpPr>
            <a:spLocks noGrp="1"/>
          </p:cNvSpPr>
          <p:nvPr/>
        </p:nvSpPr>
        <p:spPr>
          <a:xfrm>
            <a:off x="3152775" y="5000625"/>
            <a:ext cx="828675" cy="352425"/>
          </a:xfrm>
          <a:prstGeom prst="rect">
            <a:avLst/>
          </a:prstGeom>
          <a:noFill/>
          <a:ln w="0">
            <a:noFill/>
          </a:ln>
        </p:spPr>
        <p:txBody>
          <a:bodyPr wrap="square" lIns="0" tIns="0" rIns="0" bIns="0" anchor="t">
            <a:noAutofit/>
          </a:bodyPr>
          <a:lstStyle/>
          <a:p>
            <a:pPr algn="l">
              <a:buNone/>
              <a:defRPr sz="1950" b="1">
                <a:solidFill>
                  <a:srgbClr val="D9BC7F"/>
                </a:solidFill>
                <a:latin typeface="Segoe UI"/>
                <a:ea typeface="Segoe UI"/>
                <a:cs typeface="Segoe UI"/>
              </a:defRPr>
            </a:pPr>
            <a:r>
              <a:rPr sz="1950" b="1">
                <a:solidFill>
                  <a:srgbClr val="D9BC7F"/>
                </a:solidFill>
                <a:latin typeface="Segoe UI"/>
                <a:ea typeface="Segoe UI"/>
                <a:cs typeface="Segoe UI"/>
              </a:rPr>
              <a:t>14 JH</a:t>
            </a:r>
          </a:p>
        </p:txBody>
      </p:sp>
      <p:sp>
        <p:nvSpPr>
          <p:cNvPr id="54" name="Rectangle 53">
            <a:extLst>
              <a:ext uri="{FF2B5EF4-FFF2-40B4-BE49-F238E27FC236}">
                <a16:creationId xmlns:a16="http://schemas.microsoft.com/office/drawing/2014/main" id="{3069B274-F6D7-4B9D-86CA-7DD890B1FD74}"/>
              </a:ext>
            </a:extLst>
          </p:cNvPr>
          <p:cNvSpPr>
            <a:spLocks noGrp="1"/>
          </p:cNvSpPr>
          <p:nvPr/>
        </p:nvSpPr>
        <p:spPr>
          <a:xfrm>
            <a:off x="9879806" y="5048250"/>
            <a:ext cx="1693069" cy="285750"/>
          </a:xfrm>
          <a:prstGeom prst="rect">
            <a:avLst/>
          </a:prstGeom>
          <a:solidFill>
            <a:srgbClr val="577C60"/>
          </a:solidFill>
          <a:ln w="0">
            <a:noFill/>
          </a:ln>
        </p:spPr>
        <p:txBody>
          <a:bodyPr/>
          <a:lstStyle/>
          <a:p>
            <a:endParaRPr lang="fr-FR"/>
          </a:p>
        </p:txBody>
      </p:sp>
      <p:sp>
        <p:nvSpPr>
          <p:cNvPr id="57" name="Losange 56">
            <a:extLst>
              <a:ext uri="{FF2B5EF4-FFF2-40B4-BE49-F238E27FC236}">
                <a16:creationId xmlns:a16="http://schemas.microsoft.com/office/drawing/2014/main" id="{4683FCF3-5582-4119-9085-89327875F861}"/>
              </a:ext>
            </a:extLst>
          </p:cNvPr>
          <p:cNvSpPr>
            <a:spLocks noGrp="1"/>
          </p:cNvSpPr>
          <p:nvPr/>
        </p:nvSpPr>
        <p:spPr>
          <a:xfrm>
            <a:off x="4473607" y="2628900"/>
            <a:ext cx="152400" cy="171450"/>
          </a:xfrm>
          <a:prstGeom prst="diamond">
            <a:avLst/>
          </a:prstGeom>
          <a:solidFill>
            <a:srgbClr val="D9BC7F"/>
          </a:solidFill>
          <a:ln w="4763">
            <a:solidFill>
              <a:srgbClr val="D9BC7F"/>
            </a:solidFill>
          </a:ln>
        </p:spPr>
        <p:txBody>
          <a:bodyPr/>
          <a:lstStyle/>
          <a:p>
            <a:endParaRPr lang="fr-FR"/>
          </a:p>
        </p:txBody>
      </p:sp>
      <p:sp>
        <p:nvSpPr>
          <p:cNvPr id="58" name="Rectangle 57">
            <a:extLst>
              <a:ext uri="{FF2B5EF4-FFF2-40B4-BE49-F238E27FC236}">
                <a16:creationId xmlns:a16="http://schemas.microsoft.com/office/drawing/2014/main" id="{DB6EB12C-0724-4015-8EE5-89227FC14B74}"/>
              </a:ext>
            </a:extLst>
          </p:cNvPr>
          <p:cNvSpPr>
            <a:spLocks noGrp="1"/>
          </p:cNvSpPr>
          <p:nvPr/>
        </p:nvSpPr>
        <p:spPr>
          <a:xfrm>
            <a:off x="4206907" y="2543175"/>
            <a:ext cx="285750" cy="285750"/>
          </a:xfrm>
          <a:prstGeom prst="rect">
            <a:avLst/>
          </a:prstGeom>
          <a:noFill/>
          <a:ln w="0">
            <a:noFill/>
          </a:ln>
        </p:spPr>
        <p:txBody>
          <a:bodyPr wrap="square" lIns="0" tIns="0" rIns="0" bIns="0" anchor="t">
            <a:noAutofit/>
          </a:bodyPr>
          <a:lstStyle/>
          <a:p>
            <a:pPr algn="l">
              <a:buNone/>
              <a:defRPr sz="1500" b="1">
                <a:solidFill>
                  <a:srgbClr val="F4F7F3"/>
                </a:solidFill>
                <a:latin typeface="Segoe UI"/>
                <a:ea typeface="Segoe UI"/>
                <a:cs typeface="Segoe UI"/>
              </a:defRPr>
            </a:pPr>
            <a:r>
              <a:rPr sz="1500" b="1">
                <a:solidFill>
                  <a:srgbClr val="F4F7F3"/>
                </a:solidFill>
                <a:latin typeface="Segoe UI"/>
                <a:ea typeface="Segoe UI"/>
                <a:cs typeface="Segoe UI"/>
              </a:rPr>
              <a:t>J1</a:t>
            </a:r>
          </a:p>
        </p:txBody>
      </p:sp>
      <p:sp>
        <p:nvSpPr>
          <p:cNvPr id="59" name="Losange 58">
            <a:extLst>
              <a:ext uri="{FF2B5EF4-FFF2-40B4-BE49-F238E27FC236}">
                <a16:creationId xmlns:a16="http://schemas.microsoft.com/office/drawing/2014/main" id="{9D3E286F-B06B-4D93-982D-DE7FE830E398}"/>
              </a:ext>
            </a:extLst>
          </p:cNvPr>
          <p:cNvSpPr>
            <a:spLocks noGrp="1"/>
          </p:cNvSpPr>
          <p:nvPr/>
        </p:nvSpPr>
        <p:spPr>
          <a:xfrm>
            <a:off x="5853113" y="3248025"/>
            <a:ext cx="152400" cy="171450"/>
          </a:xfrm>
          <a:prstGeom prst="diamond">
            <a:avLst/>
          </a:prstGeom>
          <a:solidFill>
            <a:srgbClr val="D9BC7F"/>
          </a:solidFill>
          <a:ln w="4763">
            <a:solidFill>
              <a:srgbClr val="D9BC7F"/>
            </a:solidFill>
          </a:ln>
        </p:spPr>
        <p:txBody>
          <a:bodyPr/>
          <a:lstStyle/>
          <a:p>
            <a:endParaRPr lang="fr-FR"/>
          </a:p>
        </p:txBody>
      </p:sp>
      <p:sp>
        <p:nvSpPr>
          <p:cNvPr id="60" name="Rectangle 59">
            <a:extLst>
              <a:ext uri="{FF2B5EF4-FFF2-40B4-BE49-F238E27FC236}">
                <a16:creationId xmlns:a16="http://schemas.microsoft.com/office/drawing/2014/main" id="{6F073E6E-1E56-4B33-B2EC-FF8A48B03FFC}"/>
              </a:ext>
            </a:extLst>
          </p:cNvPr>
          <p:cNvSpPr>
            <a:spLocks noGrp="1"/>
          </p:cNvSpPr>
          <p:nvPr/>
        </p:nvSpPr>
        <p:spPr>
          <a:xfrm>
            <a:off x="5586413" y="3162300"/>
            <a:ext cx="285750" cy="285750"/>
          </a:xfrm>
          <a:prstGeom prst="rect">
            <a:avLst/>
          </a:prstGeom>
          <a:noFill/>
          <a:ln w="0">
            <a:noFill/>
          </a:ln>
        </p:spPr>
        <p:txBody>
          <a:bodyPr wrap="square" lIns="0" tIns="0" rIns="0" bIns="0" anchor="t">
            <a:noAutofit/>
          </a:bodyPr>
          <a:lstStyle/>
          <a:p>
            <a:pPr algn="l">
              <a:buNone/>
              <a:defRPr sz="1500" b="1">
                <a:solidFill>
                  <a:srgbClr val="F4F7F3"/>
                </a:solidFill>
                <a:latin typeface="Segoe UI"/>
                <a:ea typeface="Segoe UI"/>
                <a:cs typeface="Segoe UI"/>
              </a:defRPr>
            </a:pPr>
            <a:r>
              <a:rPr sz="1500" b="1">
                <a:solidFill>
                  <a:srgbClr val="F4F7F3"/>
                </a:solidFill>
                <a:latin typeface="Segoe UI"/>
                <a:ea typeface="Segoe UI"/>
                <a:cs typeface="Segoe UI"/>
              </a:rPr>
              <a:t>J2</a:t>
            </a:r>
          </a:p>
        </p:txBody>
      </p:sp>
      <p:sp>
        <p:nvSpPr>
          <p:cNvPr id="61" name="Losange 60">
            <a:extLst>
              <a:ext uri="{FF2B5EF4-FFF2-40B4-BE49-F238E27FC236}">
                <a16:creationId xmlns:a16="http://schemas.microsoft.com/office/drawing/2014/main" id="{7DC5C75B-4F86-4721-8E68-EC5B65DA59CE}"/>
              </a:ext>
            </a:extLst>
          </p:cNvPr>
          <p:cNvSpPr>
            <a:spLocks noGrp="1"/>
          </p:cNvSpPr>
          <p:nvPr/>
        </p:nvSpPr>
        <p:spPr>
          <a:xfrm>
            <a:off x="7295388" y="3867150"/>
            <a:ext cx="152400" cy="171450"/>
          </a:xfrm>
          <a:prstGeom prst="diamond">
            <a:avLst/>
          </a:prstGeom>
          <a:solidFill>
            <a:srgbClr val="D9BC7F"/>
          </a:solidFill>
          <a:ln w="4763">
            <a:solidFill>
              <a:srgbClr val="D9BC7F"/>
            </a:solidFill>
          </a:ln>
        </p:spPr>
        <p:txBody>
          <a:bodyPr/>
          <a:lstStyle/>
          <a:p>
            <a:endParaRPr lang="fr-FR"/>
          </a:p>
        </p:txBody>
      </p:sp>
      <p:sp>
        <p:nvSpPr>
          <p:cNvPr id="62" name="Rectangle 61">
            <a:extLst>
              <a:ext uri="{FF2B5EF4-FFF2-40B4-BE49-F238E27FC236}">
                <a16:creationId xmlns:a16="http://schemas.microsoft.com/office/drawing/2014/main" id="{50C08E6F-C9F4-4DEA-8448-DE5071A68D9D}"/>
              </a:ext>
            </a:extLst>
          </p:cNvPr>
          <p:cNvSpPr>
            <a:spLocks noGrp="1"/>
          </p:cNvSpPr>
          <p:nvPr/>
        </p:nvSpPr>
        <p:spPr>
          <a:xfrm>
            <a:off x="7028688" y="3781425"/>
            <a:ext cx="285750" cy="285750"/>
          </a:xfrm>
          <a:prstGeom prst="rect">
            <a:avLst/>
          </a:prstGeom>
          <a:noFill/>
          <a:ln w="0">
            <a:noFill/>
          </a:ln>
        </p:spPr>
        <p:txBody>
          <a:bodyPr wrap="square" lIns="0" tIns="0" rIns="0" bIns="0" anchor="t">
            <a:noAutofit/>
          </a:bodyPr>
          <a:lstStyle/>
          <a:p>
            <a:pPr algn="l">
              <a:buNone/>
              <a:defRPr sz="1500" b="1">
                <a:solidFill>
                  <a:srgbClr val="F4F7F3"/>
                </a:solidFill>
                <a:latin typeface="Segoe UI"/>
                <a:ea typeface="Segoe UI"/>
                <a:cs typeface="Segoe UI"/>
              </a:defRPr>
            </a:pPr>
            <a:r>
              <a:rPr sz="1500" b="1">
                <a:solidFill>
                  <a:srgbClr val="F4F7F3"/>
                </a:solidFill>
                <a:latin typeface="Segoe UI"/>
                <a:ea typeface="Segoe UI"/>
                <a:cs typeface="Segoe UI"/>
              </a:rPr>
              <a:t>J3</a:t>
            </a:r>
          </a:p>
        </p:txBody>
      </p:sp>
      <p:sp>
        <p:nvSpPr>
          <p:cNvPr id="63" name="Losange 62">
            <a:extLst>
              <a:ext uri="{FF2B5EF4-FFF2-40B4-BE49-F238E27FC236}">
                <a16:creationId xmlns:a16="http://schemas.microsoft.com/office/drawing/2014/main" id="{0CF6376A-9848-4906-98DC-350AA92433BA}"/>
              </a:ext>
            </a:extLst>
          </p:cNvPr>
          <p:cNvSpPr>
            <a:spLocks noGrp="1"/>
          </p:cNvSpPr>
          <p:nvPr/>
        </p:nvSpPr>
        <p:spPr>
          <a:xfrm>
            <a:off x="8424101" y="4486275"/>
            <a:ext cx="152400" cy="171450"/>
          </a:xfrm>
          <a:prstGeom prst="diamond">
            <a:avLst/>
          </a:prstGeom>
          <a:solidFill>
            <a:srgbClr val="D9BC7F"/>
          </a:solidFill>
          <a:ln w="4763">
            <a:solidFill>
              <a:srgbClr val="D9BC7F"/>
            </a:solidFill>
          </a:ln>
        </p:spPr>
        <p:txBody>
          <a:bodyPr/>
          <a:lstStyle/>
          <a:p>
            <a:endParaRPr lang="fr-FR"/>
          </a:p>
        </p:txBody>
      </p:sp>
      <p:sp>
        <p:nvSpPr>
          <p:cNvPr id="64" name="Rectangle 63">
            <a:extLst>
              <a:ext uri="{FF2B5EF4-FFF2-40B4-BE49-F238E27FC236}">
                <a16:creationId xmlns:a16="http://schemas.microsoft.com/office/drawing/2014/main" id="{3F88C802-D6D7-4157-A993-95D5BAC26C41}"/>
              </a:ext>
            </a:extLst>
          </p:cNvPr>
          <p:cNvSpPr>
            <a:spLocks noGrp="1"/>
          </p:cNvSpPr>
          <p:nvPr/>
        </p:nvSpPr>
        <p:spPr>
          <a:xfrm>
            <a:off x="8157401" y="4400550"/>
            <a:ext cx="285750" cy="285750"/>
          </a:xfrm>
          <a:prstGeom prst="rect">
            <a:avLst/>
          </a:prstGeom>
          <a:noFill/>
          <a:ln w="0">
            <a:noFill/>
          </a:ln>
        </p:spPr>
        <p:txBody>
          <a:bodyPr wrap="square" lIns="0" tIns="0" rIns="0" bIns="0" anchor="t">
            <a:noAutofit/>
          </a:bodyPr>
          <a:lstStyle/>
          <a:p>
            <a:pPr algn="l">
              <a:buNone/>
              <a:defRPr sz="1500" b="1">
                <a:solidFill>
                  <a:srgbClr val="F4F7F3"/>
                </a:solidFill>
                <a:latin typeface="Segoe UI"/>
                <a:ea typeface="Segoe UI"/>
                <a:cs typeface="Segoe UI"/>
              </a:defRPr>
            </a:pPr>
            <a:r>
              <a:rPr sz="1500" b="1">
                <a:solidFill>
                  <a:srgbClr val="F4F7F3"/>
                </a:solidFill>
                <a:latin typeface="Segoe UI"/>
                <a:ea typeface="Segoe UI"/>
                <a:cs typeface="Segoe UI"/>
              </a:rPr>
              <a:t>J4</a:t>
            </a:r>
          </a:p>
        </p:txBody>
      </p:sp>
      <p:sp>
        <p:nvSpPr>
          <p:cNvPr id="65" name="Losange 64">
            <a:extLst>
              <a:ext uri="{FF2B5EF4-FFF2-40B4-BE49-F238E27FC236}">
                <a16:creationId xmlns:a16="http://schemas.microsoft.com/office/drawing/2014/main" id="{039652DE-4C32-4B79-944E-EDA5C1E98118}"/>
              </a:ext>
            </a:extLst>
          </p:cNvPr>
          <p:cNvSpPr>
            <a:spLocks noGrp="1"/>
          </p:cNvSpPr>
          <p:nvPr/>
        </p:nvSpPr>
        <p:spPr>
          <a:xfrm>
            <a:off x="11496675" y="5105400"/>
            <a:ext cx="152400" cy="171450"/>
          </a:xfrm>
          <a:prstGeom prst="diamond">
            <a:avLst/>
          </a:prstGeom>
          <a:solidFill>
            <a:srgbClr val="D9BC7F"/>
          </a:solidFill>
          <a:ln w="4763">
            <a:solidFill>
              <a:srgbClr val="D9BC7F"/>
            </a:solidFill>
          </a:ln>
        </p:spPr>
        <p:txBody>
          <a:bodyPr/>
          <a:lstStyle/>
          <a:p>
            <a:endParaRPr lang="fr-FR"/>
          </a:p>
        </p:txBody>
      </p:sp>
      <p:sp>
        <p:nvSpPr>
          <p:cNvPr id="66" name="Rectangle 65">
            <a:extLst>
              <a:ext uri="{FF2B5EF4-FFF2-40B4-BE49-F238E27FC236}">
                <a16:creationId xmlns:a16="http://schemas.microsoft.com/office/drawing/2014/main" id="{E79ECD1C-9B99-43AA-99F9-AF8B19FEFB88}"/>
              </a:ext>
            </a:extLst>
          </p:cNvPr>
          <p:cNvSpPr>
            <a:spLocks noGrp="1"/>
          </p:cNvSpPr>
          <p:nvPr/>
        </p:nvSpPr>
        <p:spPr>
          <a:xfrm>
            <a:off x="11229975" y="5019675"/>
            <a:ext cx="285750" cy="285750"/>
          </a:xfrm>
          <a:prstGeom prst="rect">
            <a:avLst/>
          </a:prstGeom>
          <a:noFill/>
          <a:ln w="0">
            <a:noFill/>
          </a:ln>
        </p:spPr>
        <p:txBody>
          <a:bodyPr wrap="square" lIns="0" tIns="0" rIns="0" bIns="0" anchor="t">
            <a:noAutofit/>
          </a:bodyPr>
          <a:lstStyle/>
          <a:p>
            <a:pPr algn="l">
              <a:buNone/>
              <a:defRPr sz="1500" b="1">
                <a:solidFill>
                  <a:srgbClr val="F4F7F3"/>
                </a:solidFill>
                <a:latin typeface="Segoe UI"/>
                <a:ea typeface="Segoe UI"/>
                <a:cs typeface="Segoe UI"/>
              </a:defRPr>
            </a:pPr>
            <a:r>
              <a:rPr sz="1500" b="1">
                <a:solidFill>
                  <a:srgbClr val="F4F7F3"/>
                </a:solidFill>
                <a:latin typeface="Segoe UI"/>
                <a:ea typeface="Segoe UI"/>
                <a:cs typeface="Segoe UI"/>
              </a:rPr>
              <a:t>J5</a:t>
            </a:r>
          </a:p>
        </p:txBody>
      </p:sp>
      <p:sp>
        <p:nvSpPr>
          <p:cNvPr id="67" name="Rectangle 66">
            <a:extLst>
              <a:ext uri="{FF2B5EF4-FFF2-40B4-BE49-F238E27FC236}">
                <a16:creationId xmlns:a16="http://schemas.microsoft.com/office/drawing/2014/main" id="{384ADF75-BDFF-4B62-B11C-78D106D93D44}"/>
              </a:ext>
            </a:extLst>
          </p:cNvPr>
          <p:cNvSpPr>
            <a:spLocks noGrp="1"/>
          </p:cNvSpPr>
          <p:nvPr/>
        </p:nvSpPr>
        <p:spPr>
          <a:xfrm>
            <a:off x="609600" y="5676900"/>
            <a:ext cx="10972800" cy="304800"/>
          </a:xfrm>
          <a:prstGeom prst="rect">
            <a:avLst/>
          </a:prstGeom>
          <a:noFill/>
          <a:ln w="0">
            <a:noFill/>
          </a:ln>
        </p:spPr>
        <p:txBody>
          <a:bodyPr wrap="square" lIns="0" tIns="0" rIns="0" bIns="0" anchor="t">
            <a:noAutofit/>
          </a:bodyPr>
          <a:lstStyle/>
          <a:p>
            <a:pPr algn="l">
              <a:buNone/>
              <a:defRPr sz="1725" b="1">
                <a:solidFill>
                  <a:srgbClr val="BACDB7"/>
                </a:solidFill>
                <a:latin typeface="Segoe UI"/>
                <a:ea typeface="Segoe UI"/>
                <a:cs typeface="Segoe UI"/>
              </a:defRPr>
            </a:pPr>
            <a:r>
              <a:rPr sz="1725" b="1">
                <a:solidFill>
                  <a:srgbClr val="BACDB7"/>
                </a:solidFill>
                <a:latin typeface="Segoe UI"/>
                <a:ea typeface="Segoe UI"/>
                <a:cs typeface="Segoe UI"/>
              </a:rPr>
              <a:t>Validation prévue : J1 besoin, J2 socle, J3 recette, J4 programmes, J5 stabilisation</a:t>
            </a:r>
          </a:p>
        </p:txBody>
      </p:sp>
      <p:sp>
        <p:nvSpPr>
          <p:cNvPr id="68" name="Rectangle 67">
            <a:extLst>
              <a:ext uri="{FF2B5EF4-FFF2-40B4-BE49-F238E27FC236}">
                <a16:creationId xmlns:a16="http://schemas.microsoft.com/office/drawing/2014/main" id="{F81453C4-7A82-493B-A15C-6D6728B2E3C3}"/>
              </a:ext>
            </a:extLst>
          </p:cNvPr>
          <p:cNvSpPr>
            <a:spLocks noGrp="1"/>
          </p:cNvSpPr>
          <p:nvPr/>
        </p:nvSpPr>
        <p:spPr>
          <a:xfrm>
            <a:off x="609600" y="6067425"/>
            <a:ext cx="10972800" cy="304800"/>
          </a:xfrm>
          <a:prstGeom prst="rect">
            <a:avLst/>
          </a:prstGeom>
          <a:noFill/>
          <a:ln w="0">
            <a:noFill/>
          </a:ln>
        </p:spPr>
        <p:txBody>
          <a:bodyPr wrap="square" lIns="0" tIns="0" rIns="0" bIns="0" anchor="t">
            <a:noAutofit/>
          </a:bodyPr>
          <a:lstStyle/>
          <a:p>
            <a:pPr algn="l">
              <a:buNone/>
              <a:defRPr sz="1800" b="0">
                <a:solidFill>
                  <a:srgbClr val="C1D0C1"/>
                </a:solidFill>
                <a:latin typeface="Segoe UI"/>
                <a:ea typeface="Segoe UI"/>
                <a:cs typeface="Segoe UI"/>
              </a:defRPr>
            </a:pPr>
            <a:r>
              <a:rPr sz="1800" b="0">
                <a:solidFill>
                  <a:srgbClr val="C1D0C1"/>
                </a:solidFill>
                <a:latin typeface="Segoe UI"/>
                <a:ea typeface="Segoe UI"/>
                <a:cs typeface="Segoe UI"/>
              </a:rPr>
              <a:t>Supports accessibles et outils S05 : 14 h collectives incluses dans les 81 JH</a:t>
            </a:r>
          </a:p>
        </p:txBody>
      </p:sp>
      <p:sp>
        <p:nvSpPr>
          <p:cNvPr id="69" name="Rectangle 68">
            <a:extLst>
              <a:ext uri="{FF2B5EF4-FFF2-40B4-BE49-F238E27FC236}">
                <a16:creationId xmlns:a16="http://schemas.microsoft.com/office/drawing/2014/main" id="{63B3FA01-FE9B-4D51-A2B9-702CE6A27886}"/>
              </a:ext>
            </a:extLst>
          </p:cNvPr>
          <p:cNvSpPr>
            <a:spLocks noGrp="1"/>
          </p:cNvSpPr>
          <p:nvPr/>
        </p:nvSpPr>
        <p:spPr>
          <a:xfrm>
            <a:off x="11049000" y="6438900"/>
            <a:ext cx="533400" cy="228600"/>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08</a:t>
            </a:r>
          </a:p>
        </p:txBody>
      </p:sp>
    </p:spTree>
    <p:extLst>
      <p:ext uri="{BB962C8B-B14F-4D97-AF65-F5344CB8AC3E}">
        <p14:creationId xmlns:p14="http://schemas.microsoft.com/office/powerpoint/2010/main" val="1946735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B2923"/>
        </a:solidFill>
        <a:effectLst/>
      </p:bgPr>
    </p:bg>
    <p:spTree>
      <p:nvGrpSpPr>
        <p:cNvPr id="1" name=""/>
        <p:cNvGrpSpPr/>
        <p:nvPr/>
      </p:nvGrpSpPr>
      <p:grpSpPr>
        <a:xfrm>
          <a:off x="0" y="0"/>
          <a:ext cx="0" cy="0"/>
          <a:chOff x="0" y="0"/>
          <a:chExt cx="0" cy="0"/>
        </a:xfrm>
      </p:grpSpPr>
      <p:pic>
        <p:nvPicPr>
          <p:cNvPr id="19" name="Image 18"/>
          <p:cNvPicPr>
            <a:picLocks noChangeAspect="1"/>
          </p:cNvPicPr>
          <p:nvPr/>
        </p:nvPicPr>
        <p:blipFill>
          <a:blip r:embed="rId3"/>
          <a:srcRect t="27" b="27"/>
          <a:stretch>
            <a:fillRect/>
          </a:stretch>
        </p:blipFill>
        <p:spPr>
          <a:xfrm>
            <a:off x="0" y="0"/>
            <a:ext cx="12192000" cy="6858000"/>
          </a:xfrm>
          <a:prstGeom prst="rect">
            <a:avLst/>
          </a:prstGeom>
        </p:spPr>
      </p:pic>
      <p:sp>
        <p:nvSpPr>
          <p:cNvPr id="7" name="Rectangle 6">
            <a:extLst>
              <a:ext uri="{FF2B5EF4-FFF2-40B4-BE49-F238E27FC236}">
                <a16:creationId xmlns:a16="http://schemas.microsoft.com/office/drawing/2014/main" id="{1DFFC17A-3B92-4DA0-81E6-1EA06DBBAAED}"/>
              </a:ext>
            </a:extLst>
          </p:cNvPr>
          <p:cNvSpPr>
            <a:spLocks noGrp="1"/>
          </p:cNvSpPr>
          <p:nvPr/>
        </p:nvSpPr>
        <p:spPr>
          <a:xfrm>
            <a:off x="609600" y="6457950"/>
            <a:ext cx="8382000" cy="219075"/>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Alcide / Pilotage du projet</a:t>
            </a:r>
          </a:p>
        </p:txBody>
      </p:sp>
      <p:sp>
        <p:nvSpPr>
          <p:cNvPr id="10" name="Rectangle 9">
            <a:extLst>
              <a:ext uri="{FF2B5EF4-FFF2-40B4-BE49-F238E27FC236}">
                <a16:creationId xmlns:a16="http://schemas.microsoft.com/office/drawing/2014/main" id="{2EFA0779-73F2-4FCB-BDDB-19ABAA5AFC1D}"/>
              </a:ext>
            </a:extLst>
          </p:cNvPr>
          <p:cNvSpPr>
            <a:spLocks noGrp="1"/>
          </p:cNvSpPr>
          <p:nvPr/>
        </p:nvSpPr>
        <p:spPr>
          <a:xfrm>
            <a:off x="609600" y="609600"/>
            <a:ext cx="10972800" cy="704850"/>
          </a:xfrm>
          <a:prstGeom prst="rect">
            <a:avLst/>
          </a:prstGeom>
          <a:noFill/>
          <a:ln w="0">
            <a:noFill/>
          </a:ln>
        </p:spPr>
        <p:txBody>
          <a:bodyPr wrap="square" lIns="0" tIns="0" rIns="0" bIns="0" anchor="t">
            <a:noAutofit/>
          </a:bodyPr>
          <a:lstStyle/>
          <a:p>
            <a:pPr algn="l">
              <a:buNone/>
              <a:defRPr sz="3750" b="1">
                <a:solidFill>
                  <a:srgbClr val="F4F7F3"/>
                </a:solidFill>
                <a:latin typeface="Segoe UI"/>
                <a:ea typeface="Segoe UI"/>
                <a:cs typeface="Segoe UI"/>
              </a:defRPr>
            </a:pPr>
            <a:r>
              <a:rPr sz="3750" b="1">
                <a:solidFill>
                  <a:srgbClr val="F4F7F3"/>
                </a:solidFill>
                <a:latin typeface="Segoe UI"/>
                <a:ea typeface="Segoe UI"/>
                <a:cs typeface="Segoe UI"/>
              </a:rPr>
              <a:t>Les tâches et leurs dates</a:t>
            </a:r>
          </a:p>
        </p:txBody>
      </p:sp>
      <p:graphicFrame>
        <p:nvGraphicFramePr>
          <p:cNvPr id="23" name="Tableau 22"/>
          <p:cNvGraphicFramePr/>
          <p:nvPr/>
        </p:nvGraphicFramePr>
        <p:xfrm>
          <a:off x="609600" y="2047875"/>
          <a:ext cx="5343525" cy="4029075"/>
        </p:xfrm>
        <a:graphic>
          <a:graphicData uri="http://schemas.openxmlformats.org/drawingml/2006/table">
            <a:tbl>
              <a:tblPr/>
              <a:tblGrid>
                <a:gridCol w="674425">
                  <a:extLst>
                    <a:ext uri="{9D8B030D-6E8A-4147-A177-3AD203B41FA5}">
                      <a16:colId xmlns:a16="http://schemas.microsoft.com/office/drawing/2014/main" val="20000"/>
                    </a:ext>
                  </a:extLst>
                </a:gridCol>
                <a:gridCol w="3164612">
                  <a:extLst>
                    <a:ext uri="{9D8B030D-6E8A-4147-A177-3AD203B41FA5}">
                      <a16:colId xmlns:a16="http://schemas.microsoft.com/office/drawing/2014/main" val="20001"/>
                    </a:ext>
                  </a:extLst>
                </a:gridCol>
                <a:gridCol w="1504488">
                  <a:extLst>
                    <a:ext uri="{9D8B030D-6E8A-4147-A177-3AD203B41FA5}">
                      <a16:colId xmlns:a16="http://schemas.microsoft.com/office/drawing/2014/main" val="20002"/>
                    </a:ext>
                  </a:extLst>
                </a:gridCol>
              </a:tblGrid>
              <a:tr h="447675">
                <a:tc>
                  <a:txBody>
                    <a:bodyPr/>
                    <a:lstStyle/>
                    <a:p>
                      <a:pPr algn="l">
                        <a:buNone/>
                      </a:pPr>
                      <a:r>
                        <a:rPr sz="1725" b="1">
                          <a:solidFill>
                            <a:srgbClr val="BACDB7"/>
                          </a:solidFill>
                          <a:latin typeface="Segoe UI"/>
                          <a:ea typeface="Segoe UI"/>
                          <a:cs typeface="Segoe UI"/>
                        </a:rPr>
                        <a:t>Lot</a:t>
                      </a:r>
                    </a:p>
                  </a:txBody>
                  <a:tcPr anchor="ctr">
                    <a:solidFill>
                      <a:srgbClr val="213B2E"/>
                    </a:solidFill>
                  </a:tcPr>
                </a:tc>
                <a:tc>
                  <a:txBody>
                    <a:bodyPr/>
                    <a:lstStyle/>
                    <a:p>
                      <a:pPr algn="l">
                        <a:buNone/>
                      </a:pPr>
                      <a:r>
                        <a:rPr sz="1725" b="1">
                          <a:solidFill>
                            <a:srgbClr val="BACDB7"/>
                          </a:solidFill>
                          <a:latin typeface="Segoe UI"/>
                          <a:ea typeface="Segoe UI"/>
                          <a:cs typeface="Segoe UI"/>
                        </a:rPr>
                        <a:t>Activité</a:t>
                      </a:r>
                    </a:p>
                  </a:txBody>
                  <a:tcPr anchor="ctr">
                    <a:solidFill>
                      <a:srgbClr val="213B2E"/>
                    </a:solidFill>
                  </a:tcPr>
                </a:tc>
                <a:tc>
                  <a:txBody>
                    <a:bodyPr/>
                    <a:lstStyle/>
                    <a:p>
                      <a:pPr algn="l">
                        <a:buNone/>
                      </a:pPr>
                      <a:r>
                        <a:rPr sz="1725" b="1">
                          <a:solidFill>
                            <a:srgbClr val="BACDB7"/>
                          </a:solidFill>
                          <a:latin typeface="Segoe UI"/>
                          <a:ea typeface="Segoe UI"/>
                          <a:cs typeface="Segoe UI"/>
                        </a:rPr>
                        <a:t>Dates</a:t>
                      </a:r>
                    </a:p>
                  </a:txBody>
                  <a:tcPr anchor="ctr">
                    <a:solidFill>
                      <a:srgbClr val="213B2E"/>
                    </a:solidFill>
                  </a:tcPr>
                </a:tc>
                <a:extLst>
                  <a:ext uri="{0D108BD9-81ED-4DB2-BD59-A6C34878D82A}">
                    <a16:rowId xmlns:a16="http://schemas.microsoft.com/office/drawing/2014/main" val="10000"/>
                  </a:ext>
                </a:extLst>
              </a:tr>
              <a:tr h="447675">
                <a:tc>
                  <a:txBody>
                    <a:bodyPr/>
                    <a:lstStyle/>
                    <a:p>
                      <a:pPr algn="l">
                        <a:buNone/>
                      </a:pPr>
                      <a:r>
                        <a:rPr sz="1725" b="0">
                          <a:solidFill>
                            <a:srgbClr val="F4F7F3"/>
                          </a:solidFill>
                          <a:latin typeface="Segoe UI"/>
                          <a:ea typeface="Segoe UI"/>
                          <a:cs typeface="Segoe UI"/>
                        </a:rPr>
                        <a:t>01</a:t>
                      </a:r>
                    </a:p>
                  </a:txBody>
                  <a:tcPr anchor="ctr">
                    <a:solidFill>
                      <a:srgbClr val="1B2923"/>
                    </a:solidFill>
                  </a:tcPr>
                </a:tc>
                <a:tc>
                  <a:txBody>
                    <a:bodyPr/>
                    <a:lstStyle/>
                    <a:p>
                      <a:pPr algn="l">
                        <a:buNone/>
                      </a:pPr>
                      <a:r>
                        <a:rPr sz="1725" b="0">
                          <a:solidFill>
                            <a:srgbClr val="F4F7F3"/>
                          </a:solidFill>
                          <a:latin typeface="Segoe UI"/>
                          <a:ea typeface="Segoe UI"/>
                          <a:cs typeface="Segoe UI"/>
                        </a:rPr>
                        <a:t>Besoin et priorités MVP</a:t>
                      </a:r>
                    </a:p>
                  </a:txBody>
                  <a:tcPr anchor="ctr">
                    <a:solidFill>
                      <a:srgbClr val="1B2923"/>
                    </a:solidFill>
                  </a:tcPr>
                </a:tc>
                <a:tc>
                  <a:txBody>
                    <a:bodyPr/>
                    <a:lstStyle/>
                    <a:p>
                      <a:pPr algn="l">
                        <a:buNone/>
                      </a:pPr>
                      <a:r>
                        <a:rPr sz="1725" b="0">
                          <a:solidFill>
                            <a:srgbClr val="F4F7F3"/>
                          </a:solidFill>
                          <a:latin typeface="Segoe UI"/>
                          <a:ea typeface="Segoe UI"/>
                          <a:cs typeface="Segoe UI"/>
                        </a:rPr>
                        <a:t>13–14/04</a:t>
                      </a:r>
                    </a:p>
                  </a:txBody>
                  <a:tcPr anchor="ctr">
                    <a:solidFill>
                      <a:srgbClr val="1B2923"/>
                    </a:solidFill>
                  </a:tcPr>
                </a:tc>
                <a:extLst>
                  <a:ext uri="{0D108BD9-81ED-4DB2-BD59-A6C34878D82A}">
                    <a16:rowId xmlns:a16="http://schemas.microsoft.com/office/drawing/2014/main" val="10001"/>
                  </a:ext>
                </a:extLst>
              </a:tr>
              <a:tr h="447675">
                <a:tc>
                  <a:txBody>
                    <a:bodyPr/>
                    <a:lstStyle/>
                    <a:p>
                      <a:pPr algn="l">
                        <a:buNone/>
                      </a:pPr>
                      <a:r>
                        <a:rPr sz="1725" b="0">
                          <a:solidFill>
                            <a:srgbClr val="F4F7F3"/>
                          </a:solidFill>
                          <a:latin typeface="Segoe UI"/>
                          <a:ea typeface="Segoe UI"/>
                          <a:cs typeface="Segoe UI"/>
                        </a:rPr>
                        <a:t>02</a:t>
                      </a:r>
                    </a:p>
                  </a:txBody>
                  <a:tcPr anchor="ctr">
                    <a:solidFill>
                      <a:srgbClr val="1B2923"/>
                    </a:solidFill>
                  </a:tcPr>
                </a:tc>
                <a:tc>
                  <a:txBody>
                    <a:bodyPr/>
                    <a:lstStyle/>
                    <a:p>
                      <a:pPr algn="l">
                        <a:buNone/>
                      </a:pPr>
                      <a:r>
                        <a:rPr sz="1725" b="0">
                          <a:solidFill>
                            <a:srgbClr val="F4F7F3"/>
                          </a:solidFill>
                          <a:latin typeface="Segoe UI"/>
                          <a:ea typeface="Segoe UI"/>
                          <a:cs typeface="Segoe UI"/>
                        </a:rPr>
                        <a:t>Architecture et contrats</a:t>
                      </a:r>
                    </a:p>
                  </a:txBody>
                  <a:tcPr anchor="ctr">
                    <a:solidFill>
                      <a:srgbClr val="1B2923"/>
                    </a:solidFill>
                  </a:tcPr>
                </a:tc>
                <a:tc>
                  <a:txBody>
                    <a:bodyPr/>
                    <a:lstStyle/>
                    <a:p>
                      <a:pPr algn="l">
                        <a:buNone/>
                      </a:pPr>
                      <a:r>
                        <a:rPr sz="1725" b="0">
                          <a:solidFill>
                            <a:srgbClr val="F4F7F3"/>
                          </a:solidFill>
                          <a:latin typeface="Segoe UI"/>
                          <a:ea typeface="Segoe UI"/>
                          <a:cs typeface="Segoe UI"/>
                        </a:rPr>
                        <a:t>15–20/04</a:t>
                      </a:r>
                    </a:p>
                  </a:txBody>
                  <a:tcPr anchor="ctr">
                    <a:solidFill>
                      <a:srgbClr val="1B2923"/>
                    </a:solidFill>
                  </a:tcPr>
                </a:tc>
                <a:extLst>
                  <a:ext uri="{0D108BD9-81ED-4DB2-BD59-A6C34878D82A}">
                    <a16:rowId xmlns:a16="http://schemas.microsoft.com/office/drawing/2014/main" val="10002"/>
                  </a:ext>
                </a:extLst>
              </a:tr>
              <a:tr h="447675">
                <a:tc>
                  <a:txBody>
                    <a:bodyPr/>
                    <a:lstStyle/>
                    <a:p>
                      <a:pPr algn="l">
                        <a:buNone/>
                      </a:pPr>
                      <a:r>
                        <a:rPr sz="1725" b="0">
                          <a:solidFill>
                            <a:srgbClr val="F4F7F3"/>
                          </a:solidFill>
                          <a:latin typeface="Segoe UI"/>
                          <a:ea typeface="Segoe UI"/>
                          <a:cs typeface="Segoe UI"/>
                        </a:rPr>
                        <a:t>03</a:t>
                      </a:r>
                    </a:p>
                  </a:txBody>
                  <a:tcPr anchor="ctr">
                    <a:solidFill>
                      <a:srgbClr val="1B2923"/>
                    </a:solidFill>
                  </a:tcPr>
                </a:tc>
                <a:tc>
                  <a:txBody>
                    <a:bodyPr/>
                    <a:lstStyle/>
                    <a:p>
                      <a:pPr algn="l">
                        <a:buNone/>
                      </a:pPr>
                      <a:r>
                        <a:rPr sz="1725" b="0">
                          <a:solidFill>
                            <a:srgbClr val="F4F7F3"/>
                          </a:solidFill>
                          <a:latin typeface="Segoe UI"/>
                          <a:ea typeface="Segoe UI"/>
                          <a:cs typeface="Segoe UI"/>
                        </a:rPr>
                        <a:t>Socle technique et CI</a:t>
                      </a:r>
                    </a:p>
                  </a:txBody>
                  <a:tcPr anchor="ctr">
                    <a:solidFill>
                      <a:srgbClr val="1B2923"/>
                    </a:solidFill>
                  </a:tcPr>
                </a:tc>
                <a:tc>
                  <a:txBody>
                    <a:bodyPr/>
                    <a:lstStyle/>
                    <a:p>
                      <a:pPr algn="l">
                        <a:buNone/>
                      </a:pPr>
                      <a:r>
                        <a:rPr sz="1725" b="0">
                          <a:solidFill>
                            <a:srgbClr val="F4F7F3"/>
                          </a:solidFill>
                          <a:latin typeface="Segoe UI"/>
                          <a:ea typeface="Segoe UI"/>
                          <a:cs typeface="Segoe UI"/>
                        </a:rPr>
                        <a:t>21–23/04</a:t>
                      </a:r>
                    </a:p>
                  </a:txBody>
                  <a:tcPr anchor="ctr">
                    <a:solidFill>
                      <a:srgbClr val="1B2923"/>
                    </a:solidFill>
                  </a:tcPr>
                </a:tc>
                <a:extLst>
                  <a:ext uri="{0D108BD9-81ED-4DB2-BD59-A6C34878D82A}">
                    <a16:rowId xmlns:a16="http://schemas.microsoft.com/office/drawing/2014/main" val="10003"/>
                  </a:ext>
                </a:extLst>
              </a:tr>
              <a:tr h="447675">
                <a:tc>
                  <a:txBody>
                    <a:bodyPr/>
                    <a:lstStyle/>
                    <a:p>
                      <a:pPr algn="l">
                        <a:buNone/>
                      </a:pPr>
                      <a:r>
                        <a:rPr sz="1725" b="0">
                          <a:solidFill>
                            <a:srgbClr val="F4F7F3"/>
                          </a:solidFill>
                          <a:latin typeface="Segoe UI"/>
                          <a:ea typeface="Segoe UI"/>
                          <a:cs typeface="Segoe UI"/>
                        </a:rPr>
                        <a:t>04</a:t>
                      </a:r>
                    </a:p>
                  </a:txBody>
                  <a:tcPr anchor="ctr">
                    <a:solidFill>
                      <a:srgbClr val="1B2923"/>
                    </a:solidFill>
                  </a:tcPr>
                </a:tc>
                <a:tc>
                  <a:txBody>
                    <a:bodyPr/>
                    <a:lstStyle/>
                    <a:p>
                      <a:pPr algn="l">
                        <a:buNone/>
                      </a:pPr>
                      <a:r>
                        <a:rPr sz="1725" b="0">
                          <a:solidFill>
                            <a:srgbClr val="F4F7F3"/>
                          </a:solidFill>
                          <a:latin typeface="Segoe UI"/>
                          <a:ea typeface="Segoe UI"/>
                          <a:cs typeface="Segoe UI"/>
                        </a:rPr>
                        <a:t>API, IA et persistance</a:t>
                      </a:r>
                    </a:p>
                  </a:txBody>
                  <a:tcPr anchor="ctr">
                    <a:solidFill>
                      <a:srgbClr val="1B2923"/>
                    </a:solidFill>
                  </a:tcPr>
                </a:tc>
                <a:tc>
                  <a:txBody>
                    <a:bodyPr/>
                    <a:lstStyle/>
                    <a:p>
                      <a:pPr algn="l">
                        <a:buNone/>
                      </a:pPr>
                      <a:r>
                        <a:rPr sz="1725" b="0">
                          <a:solidFill>
                            <a:srgbClr val="F4F7F3"/>
                          </a:solidFill>
                          <a:latin typeface="Segoe UI"/>
                          <a:ea typeface="Segoe UI"/>
                          <a:cs typeface="Segoe UI"/>
                        </a:rPr>
                        <a:t>24/04–04/05</a:t>
                      </a:r>
                    </a:p>
                  </a:txBody>
                  <a:tcPr anchor="ctr">
                    <a:solidFill>
                      <a:srgbClr val="1B2923"/>
                    </a:solidFill>
                  </a:tcPr>
                </a:tc>
                <a:extLst>
                  <a:ext uri="{0D108BD9-81ED-4DB2-BD59-A6C34878D82A}">
                    <a16:rowId xmlns:a16="http://schemas.microsoft.com/office/drawing/2014/main" val="10004"/>
                  </a:ext>
                </a:extLst>
              </a:tr>
              <a:tr h="447675">
                <a:tc>
                  <a:txBody>
                    <a:bodyPr/>
                    <a:lstStyle/>
                    <a:p>
                      <a:pPr algn="l">
                        <a:buNone/>
                      </a:pPr>
                      <a:r>
                        <a:rPr sz="1725" b="0">
                          <a:solidFill>
                            <a:srgbClr val="F4F7F3"/>
                          </a:solidFill>
                          <a:latin typeface="Segoe UI"/>
                          <a:ea typeface="Segoe UI"/>
                          <a:cs typeface="Segoe UI"/>
                        </a:rPr>
                        <a:t>05</a:t>
                      </a:r>
                    </a:p>
                  </a:txBody>
                  <a:tcPr anchor="ctr">
                    <a:solidFill>
                      <a:srgbClr val="1B2923"/>
                    </a:solidFill>
                  </a:tcPr>
                </a:tc>
                <a:tc>
                  <a:txBody>
                    <a:bodyPr/>
                    <a:lstStyle/>
                    <a:p>
                      <a:pPr algn="l">
                        <a:buNone/>
                      </a:pPr>
                      <a:r>
                        <a:rPr sz="1725" b="0">
                          <a:solidFill>
                            <a:srgbClr val="F4F7F3"/>
                          </a:solidFill>
                          <a:latin typeface="Segoe UI"/>
                          <a:ea typeface="Segoe UI"/>
                          <a:cs typeface="Segoe UI"/>
                        </a:rPr>
                        <a:t>Connexion, séances et timer</a:t>
                      </a:r>
                    </a:p>
                  </a:txBody>
                  <a:tcPr anchor="ctr">
                    <a:solidFill>
                      <a:srgbClr val="1B2923"/>
                    </a:solidFill>
                  </a:tcPr>
                </a:tc>
                <a:tc>
                  <a:txBody>
                    <a:bodyPr/>
                    <a:lstStyle/>
                    <a:p>
                      <a:pPr algn="l">
                        <a:buNone/>
                      </a:pPr>
                      <a:r>
                        <a:rPr sz="1725" b="0">
                          <a:solidFill>
                            <a:srgbClr val="F4F7F3"/>
                          </a:solidFill>
                          <a:latin typeface="Segoe UI"/>
                          <a:ea typeface="Segoe UI"/>
                          <a:cs typeface="Segoe UI"/>
                        </a:rPr>
                        <a:t>05–12/05</a:t>
                      </a:r>
                    </a:p>
                  </a:txBody>
                  <a:tcPr anchor="ctr">
                    <a:solidFill>
                      <a:srgbClr val="1B2923"/>
                    </a:solidFill>
                  </a:tcPr>
                </a:tc>
                <a:extLst>
                  <a:ext uri="{0D108BD9-81ED-4DB2-BD59-A6C34878D82A}">
                    <a16:rowId xmlns:a16="http://schemas.microsoft.com/office/drawing/2014/main" val="10005"/>
                  </a:ext>
                </a:extLst>
              </a:tr>
              <a:tr h="447675">
                <a:tc>
                  <a:txBody>
                    <a:bodyPr/>
                    <a:lstStyle/>
                    <a:p>
                      <a:pPr algn="l">
                        <a:buNone/>
                      </a:pPr>
                      <a:r>
                        <a:rPr sz="1725" b="0">
                          <a:solidFill>
                            <a:srgbClr val="F4F7F3"/>
                          </a:solidFill>
                          <a:latin typeface="Segoe UI"/>
                          <a:ea typeface="Segoe UI"/>
                          <a:cs typeface="Segoe UI"/>
                        </a:rPr>
                        <a:t>06</a:t>
                      </a:r>
                    </a:p>
                  </a:txBody>
                  <a:tcPr anchor="ctr">
                    <a:solidFill>
                      <a:srgbClr val="1B2923"/>
                    </a:solidFill>
                  </a:tcPr>
                </a:tc>
                <a:tc>
                  <a:txBody>
                    <a:bodyPr/>
                    <a:lstStyle/>
                    <a:p>
                      <a:pPr algn="l">
                        <a:buNone/>
                      </a:pPr>
                      <a:r>
                        <a:rPr sz="1725" b="0">
                          <a:solidFill>
                            <a:srgbClr val="F4F7F3"/>
                          </a:solidFill>
                          <a:latin typeface="Segoe UI"/>
                          <a:ea typeface="Segoe UI"/>
                          <a:cs typeface="Segoe UI"/>
                        </a:rPr>
                        <a:t>Tests et contrôles qualité</a:t>
                      </a:r>
                    </a:p>
                  </a:txBody>
                  <a:tcPr anchor="ctr">
                    <a:solidFill>
                      <a:srgbClr val="1B2923"/>
                    </a:solidFill>
                  </a:tcPr>
                </a:tc>
                <a:tc>
                  <a:txBody>
                    <a:bodyPr/>
                    <a:lstStyle/>
                    <a:p>
                      <a:pPr algn="l">
                        <a:buNone/>
                      </a:pPr>
                      <a:r>
                        <a:rPr sz="1725" b="0">
                          <a:solidFill>
                            <a:srgbClr val="F4F7F3"/>
                          </a:solidFill>
                          <a:latin typeface="Segoe UI"/>
                          <a:ea typeface="Segoe UI"/>
                          <a:cs typeface="Segoe UI"/>
                        </a:rPr>
                        <a:t>13–19/05</a:t>
                      </a:r>
                    </a:p>
                  </a:txBody>
                  <a:tcPr anchor="ctr">
                    <a:solidFill>
                      <a:srgbClr val="1B2923"/>
                    </a:solidFill>
                  </a:tcPr>
                </a:tc>
                <a:extLst>
                  <a:ext uri="{0D108BD9-81ED-4DB2-BD59-A6C34878D82A}">
                    <a16:rowId xmlns:a16="http://schemas.microsoft.com/office/drawing/2014/main" val="10006"/>
                  </a:ext>
                </a:extLst>
              </a:tr>
              <a:tr h="447675">
                <a:tc>
                  <a:txBody>
                    <a:bodyPr/>
                    <a:lstStyle/>
                    <a:p>
                      <a:pPr algn="l">
                        <a:buNone/>
                      </a:pPr>
                      <a:r>
                        <a:rPr sz="1725" b="0">
                          <a:solidFill>
                            <a:srgbClr val="F4F7F3"/>
                          </a:solidFill>
                          <a:latin typeface="Segoe UI"/>
                          <a:ea typeface="Segoe UI"/>
                          <a:cs typeface="Segoe UI"/>
                        </a:rPr>
                        <a:t>07</a:t>
                      </a:r>
                    </a:p>
                  </a:txBody>
                  <a:tcPr anchor="ctr">
                    <a:solidFill>
                      <a:srgbClr val="1B2923"/>
                    </a:solidFill>
                  </a:tcPr>
                </a:tc>
                <a:tc>
                  <a:txBody>
                    <a:bodyPr/>
                    <a:lstStyle/>
                    <a:p>
                      <a:pPr algn="l">
                        <a:buNone/>
                      </a:pPr>
                      <a:r>
                        <a:rPr sz="1725" b="0">
                          <a:solidFill>
                            <a:srgbClr val="F4F7F3"/>
                          </a:solidFill>
                          <a:latin typeface="Segoe UI"/>
                          <a:ea typeface="Segoe UI"/>
                          <a:cs typeface="Segoe UI"/>
                        </a:rPr>
                        <a:t>Parcours, sécurité, accès</a:t>
                      </a:r>
                    </a:p>
                  </a:txBody>
                  <a:tcPr anchor="ctr">
                    <a:solidFill>
                      <a:srgbClr val="1B2923"/>
                    </a:solidFill>
                  </a:tcPr>
                </a:tc>
                <a:tc>
                  <a:txBody>
                    <a:bodyPr/>
                    <a:lstStyle/>
                    <a:p>
                      <a:pPr algn="l">
                        <a:buNone/>
                      </a:pPr>
                      <a:r>
                        <a:rPr sz="1725" b="0">
                          <a:solidFill>
                            <a:srgbClr val="F4F7F3"/>
                          </a:solidFill>
                          <a:latin typeface="Segoe UI"/>
                          <a:ea typeface="Segoe UI"/>
                          <a:cs typeface="Segoe UI"/>
                        </a:rPr>
                        <a:t>20–26/05</a:t>
                      </a:r>
                    </a:p>
                  </a:txBody>
                  <a:tcPr anchor="ctr">
                    <a:solidFill>
                      <a:srgbClr val="1B2923"/>
                    </a:solidFill>
                  </a:tcPr>
                </a:tc>
                <a:extLst>
                  <a:ext uri="{0D108BD9-81ED-4DB2-BD59-A6C34878D82A}">
                    <a16:rowId xmlns:a16="http://schemas.microsoft.com/office/drawing/2014/main" val="10007"/>
                  </a:ext>
                </a:extLst>
              </a:tr>
              <a:tr h="447675">
                <a:tc>
                  <a:txBody>
                    <a:bodyPr/>
                    <a:lstStyle/>
                    <a:p>
                      <a:pPr algn="l">
                        <a:buNone/>
                      </a:pPr>
                      <a:r>
                        <a:rPr sz="1725" b="0">
                          <a:solidFill>
                            <a:srgbClr val="F4F7F3"/>
                          </a:solidFill>
                          <a:latin typeface="Segoe UI"/>
                          <a:ea typeface="Segoe UI"/>
                          <a:cs typeface="Segoe UI"/>
                        </a:rPr>
                        <a:t>08</a:t>
                      </a:r>
                    </a:p>
                  </a:txBody>
                  <a:tcPr anchor="ctr">
                    <a:solidFill>
                      <a:srgbClr val="1B2923"/>
                    </a:solidFill>
                  </a:tcPr>
                </a:tc>
                <a:tc>
                  <a:txBody>
                    <a:bodyPr/>
                    <a:lstStyle/>
                    <a:p>
                      <a:pPr algn="l">
                        <a:buNone/>
                      </a:pPr>
                      <a:r>
                        <a:rPr sz="1725" b="0">
                          <a:solidFill>
                            <a:srgbClr val="F4F7F3"/>
                          </a:solidFill>
                          <a:latin typeface="Segoe UI"/>
                          <a:ea typeface="Segoe UI"/>
                          <a:cs typeface="Segoe UI"/>
                        </a:rPr>
                        <a:t>Déploiement Web, API, base</a:t>
                      </a:r>
                    </a:p>
                  </a:txBody>
                  <a:tcPr anchor="ctr">
                    <a:solidFill>
                      <a:srgbClr val="1B2923"/>
                    </a:solidFill>
                  </a:tcPr>
                </a:tc>
                <a:tc>
                  <a:txBody>
                    <a:bodyPr/>
                    <a:lstStyle/>
                    <a:p>
                      <a:pPr algn="l">
                        <a:buNone/>
                      </a:pPr>
                      <a:r>
                        <a:rPr sz="1725" b="0">
                          <a:solidFill>
                            <a:srgbClr val="F4F7F3"/>
                          </a:solidFill>
                          <a:latin typeface="Segoe UI"/>
                          <a:ea typeface="Segoe UI"/>
                          <a:cs typeface="Segoe UI"/>
                        </a:rPr>
                        <a:t>27/05–01/06</a:t>
                      </a:r>
                    </a:p>
                  </a:txBody>
                  <a:tcPr anchor="ctr">
                    <a:solidFill>
                      <a:srgbClr val="1B2923"/>
                    </a:solidFill>
                  </a:tcPr>
                </a:tc>
                <a:extLst>
                  <a:ext uri="{0D108BD9-81ED-4DB2-BD59-A6C34878D82A}">
                    <a16:rowId xmlns:a16="http://schemas.microsoft.com/office/drawing/2014/main" val="10008"/>
                  </a:ext>
                </a:extLst>
              </a:tr>
            </a:tbl>
          </a:graphicData>
        </a:graphic>
      </p:graphicFrame>
      <p:graphicFrame>
        <p:nvGraphicFramePr>
          <p:cNvPr id="24" name="Tableau 23"/>
          <p:cNvGraphicFramePr/>
          <p:nvPr/>
        </p:nvGraphicFramePr>
        <p:xfrm>
          <a:off x="6238875" y="2047875"/>
          <a:ext cx="5343525" cy="4029075"/>
        </p:xfrm>
        <a:graphic>
          <a:graphicData uri="http://schemas.openxmlformats.org/drawingml/2006/table">
            <a:tbl>
              <a:tblPr/>
              <a:tblGrid>
                <a:gridCol w="674425">
                  <a:extLst>
                    <a:ext uri="{9D8B030D-6E8A-4147-A177-3AD203B41FA5}">
                      <a16:colId xmlns:a16="http://schemas.microsoft.com/office/drawing/2014/main" val="20000"/>
                    </a:ext>
                  </a:extLst>
                </a:gridCol>
                <a:gridCol w="3164612">
                  <a:extLst>
                    <a:ext uri="{9D8B030D-6E8A-4147-A177-3AD203B41FA5}">
                      <a16:colId xmlns:a16="http://schemas.microsoft.com/office/drawing/2014/main" val="20001"/>
                    </a:ext>
                  </a:extLst>
                </a:gridCol>
                <a:gridCol w="1504488">
                  <a:extLst>
                    <a:ext uri="{9D8B030D-6E8A-4147-A177-3AD203B41FA5}">
                      <a16:colId xmlns:a16="http://schemas.microsoft.com/office/drawing/2014/main" val="20002"/>
                    </a:ext>
                  </a:extLst>
                </a:gridCol>
              </a:tblGrid>
              <a:tr h="447675">
                <a:tc>
                  <a:txBody>
                    <a:bodyPr/>
                    <a:lstStyle/>
                    <a:p>
                      <a:pPr algn="l">
                        <a:buNone/>
                      </a:pPr>
                      <a:r>
                        <a:rPr sz="1725" b="1">
                          <a:solidFill>
                            <a:srgbClr val="BACDB7"/>
                          </a:solidFill>
                          <a:latin typeface="Segoe UI"/>
                          <a:ea typeface="Segoe UI"/>
                          <a:cs typeface="Segoe UI"/>
                        </a:rPr>
                        <a:t>Lot</a:t>
                      </a:r>
                    </a:p>
                  </a:txBody>
                  <a:tcPr anchor="ctr">
                    <a:solidFill>
                      <a:srgbClr val="213B2E"/>
                    </a:solidFill>
                  </a:tcPr>
                </a:tc>
                <a:tc>
                  <a:txBody>
                    <a:bodyPr/>
                    <a:lstStyle/>
                    <a:p>
                      <a:pPr algn="l">
                        <a:buNone/>
                      </a:pPr>
                      <a:r>
                        <a:rPr sz="1725" b="1">
                          <a:solidFill>
                            <a:srgbClr val="BACDB7"/>
                          </a:solidFill>
                          <a:latin typeface="Segoe UI"/>
                          <a:ea typeface="Segoe UI"/>
                          <a:cs typeface="Segoe UI"/>
                        </a:rPr>
                        <a:t>Activité</a:t>
                      </a:r>
                    </a:p>
                  </a:txBody>
                  <a:tcPr anchor="ctr">
                    <a:solidFill>
                      <a:srgbClr val="213B2E"/>
                    </a:solidFill>
                  </a:tcPr>
                </a:tc>
                <a:tc>
                  <a:txBody>
                    <a:bodyPr/>
                    <a:lstStyle/>
                    <a:p>
                      <a:pPr algn="l">
                        <a:buNone/>
                      </a:pPr>
                      <a:r>
                        <a:rPr sz="1725" b="1">
                          <a:solidFill>
                            <a:srgbClr val="BACDB7"/>
                          </a:solidFill>
                          <a:latin typeface="Segoe UI"/>
                          <a:ea typeface="Segoe UI"/>
                          <a:cs typeface="Segoe UI"/>
                        </a:rPr>
                        <a:t>Dates</a:t>
                      </a:r>
                    </a:p>
                  </a:txBody>
                  <a:tcPr anchor="ctr">
                    <a:solidFill>
                      <a:srgbClr val="213B2E"/>
                    </a:solidFill>
                  </a:tcPr>
                </a:tc>
                <a:extLst>
                  <a:ext uri="{0D108BD9-81ED-4DB2-BD59-A6C34878D82A}">
                    <a16:rowId xmlns:a16="http://schemas.microsoft.com/office/drawing/2014/main" val="10000"/>
                  </a:ext>
                </a:extLst>
              </a:tr>
              <a:tr h="447675">
                <a:tc>
                  <a:txBody>
                    <a:bodyPr/>
                    <a:lstStyle/>
                    <a:p>
                      <a:pPr algn="l">
                        <a:buNone/>
                      </a:pPr>
                      <a:r>
                        <a:rPr sz="1725" b="0">
                          <a:solidFill>
                            <a:srgbClr val="F4F7F3"/>
                          </a:solidFill>
                          <a:latin typeface="Segoe UI"/>
                          <a:ea typeface="Segoe UI"/>
                          <a:cs typeface="Segoe UI"/>
                        </a:rPr>
                        <a:t>09</a:t>
                      </a:r>
                    </a:p>
                  </a:txBody>
                  <a:tcPr anchor="ctr">
                    <a:solidFill>
                      <a:srgbClr val="1B2923"/>
                    </a:solidFill>
                  </a:tcPr>
                </a:tc>
                <a:tc>
                  <a:txBody>
                    <a:bodyPr/>
                    <a:lstStyle/>
                    <a:p>
                      <a:pPr algn="l">
                        <a:buNone/>
                      </a:pPr>
                      <a:r>
                        <a:rPr sz="1725" b="0">
                          <a:solidFill>
                            <a:srgbClr val="F4F7F3"/>
                          </a:solidFill>
                          <a:latin typeface="Segoe UI"/>
                          <a:ea typeface="Segoe UI"/>
                          <a:cs typeface="Segoe UI"/>
                        </a:rPr>
                        <a:t>Supervision et santé</a:t>
                      </a:r>
                    </a:p>
                  </a:txBody>
                  <a:tcPr anchor="ctr">
                    <a:solidFill>
                      <a:srgbClr val="1B2923"/>
                    </a:solidFill>
                  </a:tcPr>
                </a:tc>
                <a:tc>
                  <a:txBody>
                    <a:bodyPr/>
                    <a:lstStyle/>
                    <a:p>
                      <a:pPr algn="l">
                        <a:buNone/>
                      </a:pPr>
                      <a:r>
                        <a:rPr sz="1725" b="0">
                          <a:solidFill>
                            <a:srgbClr val="F4F7F3"/>
                          </a:solidFill>
                          <a:latin typeface="Segoe UI"/>
                          <a:ea typeface="Segoe UI"/>
                          <a:cs typeface="Segoe UI"/>
                        </a:rPr>
                        <a:t>02–04/06</a:t>
                      </a:r>
                    </a:p>
                  </a:txBody>
                  <a:tcPr anchor="ctr">
                    <a:solidFill>
                      <a:srgbClr val="1B2923"/>
                    </a:solidFill>
                  </a:tcPr>
                </a:tc>
                <a:extLst>
                  <a:ext uri="{0D108BD9-81ED-4DB2-BD59-A6C34878D82A}">
                    <a16:rowId xmlns:a16="http://schemas.microsoft.com/office/drawing/2014/main" val="10001"/>
                  </a:ext>
                </a:extLst>
              </a:tr>
              <a:tr h="447675">
                <a:tc>
                  <a:txBody>
                    <a:bodyPr/>
                    <a:lstStyle/>
                    <a:p>
                      <a:pPr algn="l">
                        <a:buNone/>
                      </a:pPr>
                      <a:r>
                        <a:rPr sz="1725" b="0">
                          <a:solidFill>
                            <a:srgbClr val="F4F7F3"/>
                          </a:solidFill>
                          <a:latin typeface="Segoe UI"/>
                          <a:ea typeface="Segoe UI"/>
                          <a:cs typeface="Segoe UI"/>
                        </a:rPr>
                        <a:t>10</a:t>
                      </a:r>
                    </a:p>
                  </a:txBody>
                  <a:tcPr anchor="ctr">
                    <a:solidFill>
                      <a:srgbClr val="1B2923"/>
                    </a:solidFill>
                  </a:tcPr>
                </a:tc>
                <a:tc>
                  <a:txBody>
                    <a:bodyPr/>
                    <a:lstStyle/>
                    <a:p>
                      <a:pPr algn="l">
                        <a:buNone/>
                      </a:pPr>
                      <a:r>
                        <a:rPr sz="1725" b="0">
                          <a:solidFill>
                            <a:srgbClr val="F4F7F3"/>
                          </a:solidFill>
                          <a:latin typeface="Segoe UI"/>
                          <a:ea typeface="Segoe UI"/>
                          <a:cs typeface="Segoe UI"/>
                        </a:rPr>
                        <a:t>Programmes et suivi</a:t>
                      </a:r>
                    </a:p>
                  </a:txBody>
                  <a:tcPr anchor="ctr">
                    <a:solidFill>
                      <a:srgbClr val="1B2923"/>
                    </a:solidFill>
                  </a:tcPr>
                </a:tc>
                <a:tc>
                  <a:txBody>
                    <a:bodyPr/>
                    <a:lstStyle/>
                    <a:p>
                      <a:pPr algn="l">
                        <a:buNone/>
                      </a:pPr>
                      <a:r>
                        <a:rPr sz="1725" b="0">
                          <a:solidFill>
                            <a:srgbClr val="F4F7F3"/>
                          </a:solidFill>
                          <a:latin typeface="Segoe UI"/>
                          <a:ea typeface="Segoe UI"/>
                          <a:cs typeface="Segoe UI"/>
                        </a:rPr>
                        <a:t>05–11/06</a:t>
                      </a:r>
                    </a:p>
                  </a:txBody>
                  <a:tcPr anchor="ctr">
                    <a:solidFill>
                      <a:srgbClr val="1B2923"/>
                    </a:solidFill>
                  </a:tcPr>
                </a:tc>
                <a:extLst>
                  <a:ext uri="{0D108BD9-81ED-4DB2-BD59-A6C34878D82A}">
                    <a16:rowId xmlns:a16="http://schemas.microsoft.com/office/drawing/2014/main" val="10002"/>
                  </a:ext>
                </a:extLst>
              </a:tr>
              <a:tr h="447675">
                <a:tc>
                  <a:txBody>
                    <a:bodyPr/>
                    <a:lstStyle/>
                    <a:p>
                      <a:pPr algn="l">
                        <a:buNone/>
                      </a:pPr>
                      <a:r>
                        <a:rPr sz="1725" b="0">
                          <a:solidFill>
                            <a:srgbClr val="F4F7F3"/>
                          </a:solidFill>
                          <a:latin typeface="Segoe UI"/>
                          <a:ea typeface="Segoe UI"/>
                          <a:cs typeface="Segoe UI"/>
                        </a:rPr>
                        <a:t>11</a:t>
                      </a:r>
                    </a:p>
                  </a:txBody>
                  <a:tcPr anchor="ctr">
                    <a:solidFill>
                      <a:srgbClr val="1B2923"/>
                    </a:solidFill>
                  </a:tcPr>
                </a:tc>
                <a:tc>
                  <a:txBody>
                    <a:bodyPr/>
                    <a:lstStyle/>
                    <a:p>
                      <a:pPr algn="l">
                        <a:buNone/>
                      </a:pPr>
                      <a:r>
                        <a:rPr sz="1725" b="0">
                          <a:solidFill>
                            <a:srgbClr val="F4F7F3"/>
                          </a:solidFill>
                          <a:latin typeface="Segoe UI"/>
                          <a:ea typeface="Segoe UI"/>
                          <a:cs typeface="Segoe UI"/>
                        </a:rPr>
                        <a:t>Pagination et dashboard</a:t>
                      </a:r>
                    </a:p>
                  </a:txBody>
                  <a:tcPr anchor="ctr">
                    <a:solidFill>
                      <a:srgbClr val="1B2923"/>
                    </a:solidFill>
                  </a:tcPr>
                </a:tc>
                <a:tc>
                  <a:txBody>
                    <a:bodyPr/>
                    <a:lstStyle/>
                    <a:p>
                      <a:pPr algn="l">
                        <a:buNone/>
                      </a:pPr>
                      <a:r>
                        <a:rPr sz="1725" b="0">
                          <a:solidFill>
                            <a:srgbClr val="F4F7F3"/>
                          </a:solidFill>
                          <a:latin typeface="Segoe UI"/>
                          <a:ea typeface="Segoe UI"/>
                          <a:cs typeface="Segoe UI"/>
                        </a:rPr>
                        <a:t>12–16/06</a:t>
                      </a:r>
                    </a:p>
                  </a:txBody>
                  <a:tcPr anchor="ctr">
                    <a:solidFill>
                      <a:srgbClr val="1B2923"/>
                    </a:solidFill>
                  </a:tcPr>
                </a:tc>
                <a:extLst>
                  <a:ext uri="{0D108BD9-81ED-4DB2-BD59-A6C34878D82A}">
                    <a16:rowId xmlns:a16="http://schemas.microsoft.com/office/drawing/2014/main" val="10003"/>
                  </a:ext>
                </a:extLst>
              </a:tr>
              <a:tr h="447675">
                <a:tc>
                  <a:txBody>
                    <a:bodyPr/>
                    <a:lstStyle/>
                    <a:p>
                      <a:pPr algn="l">
                        <a:buNone/>
                      </a:pPr>
                      <a:r>
                        <a:rPr sz="1725" b="0">
                          <a:solidFill>
                            <a:srgbClr val="F4F7F3"/>
                          </a:solidFill>
                          <a:latin typeface="Segoe UI"/>
                          <a:ea typeface="Segoe UI"/>
                          <a:cs typeface="Segoe UI"/>
                        </a:rPr>
                        <a:t>12</a:t>
                      </a:r>
                    </a:p>
                  </a:txBody>
                  <a:tcPr anchor="ctr">
                    <a:solidFill>
                      <a:srgbClr val="1B2923"/>
                    </a:solidFill>
                  </a:tcPr>
                </a:tc>
                <a:tc>
                  <a:txBody>
                    <a:bodyPr/>
                    <a:lstStyle/>
                    <a:p>
                      <a:pPr algn="l">
                        <a:buNone/>
                      </a:pPr>
                      <a:r>
                        <a:rPr sz="1725" b="0">
                          <a:solidFill>
                            <a:srgbClr val="F4F7F3"/>
                          </a:solidFill>
                          <a:latin typeface="Segoe UI"/>
                          <a:ea typeface="Segoe UI"/>
                          <a:cs typeface="Segoe UI"/>
                        </a:rPr>
                        <a:t>Interface et responsive</a:t>
                      </a:r>
                    </a:p>
                  </a:txBody>
                  <a:tcPr anchor="ctr">
                    <a:solidFill>
                      <a:srgbClr val="1B2923"/>
                    </a:solidFill>
                  </a:tcPr>
                </a:tc>
                <a:tc>
                  <a:txBody>
                    <a:bodyPr/>
                    <a:lstStyle/>
                    <a:p>
                      <a:pPr algn="l">
                        <a:buNone/>
                      </a:pPr>
                      <a:r>
                        <a:rPr sz="1725" b="0">
                          <a:solidFill>
                            <a:srgbClr val="F4F7F3"/>
                          </a:solidFill>
                          <a:latin typeface="Segoe UI"/>
                          <a:ea typeface="Segoe UI"/>
                          <a:cs typeface="Segoe UI"/>
                        </a:rPr>
                        <a:t>17–22/06</a:t>
                      </a:r>
                    </a:p>
                  </a:txBody>
                  <a:tcPr anchor="ctr">
                    <a:solidFill>
                      <a:srgbClr val="1B2923"/>
                    </a:solidFill>
                  </a:tcPr>
                </a:tc>
                <a:extLst>
                  <a:ext uri="{0D108BD9-81ED-4DB2-BD59-A6C34878D82A}">
                    <a16:rowId xmlns:a16="http://schemas.microsoft.com/office/drawing/2014/main" val="10004"/>
                  </a:ext>
                </a:extLst>
              </a:tr>
              <a:tr h="447675">
                <a:tc>
                  <a:txBody>
                    <a:bodyPr/>
                    <a:lstStyle/>
                    <a:p>
                      <a:pPr algn="l">
                        <a:buNone/>
                      </a:pPr>
                      <a:r>
                        <a:rPr sz="1725" b="0">
                          <a:solidFill>
                            <a:srgbClr val="F4F7F3"/>
                          </a:solidFill>
                          <a:latin typeface="Segoe UI"/>
                          <a:ea typeface="Segoe UI"/>
                          <a:cs typeface="Segoe UI"/>
                        </a:rPr>
                        <a:t>14</a:t>
                      </a:r>
                    </a:p>
                  </a:txBody>
                  <a:tcPr anchor="ctr">
                    <a:solidFill>
                      <a:srgbClr val="1B2923"/>
                    </a:solidFill>
                  </a:tcPr>
                </a:tc>
                <a:tc>
                  <a:txBody>
                    <a:bodyPr/>
                    <a:lstStyle/>
                    <a:p>
                      <a:pPr algn="l">
                        <a:buNone/>
                      </a:pPr>
                      <a:r>
                        <a:rPr sz="1725" b="0">
                          <a:solidFill>
                            <a:srgbClr val="F4F7F3"/>
                          </a:solidFill>
                          <a:latin typeface="Segoe UI"/>
                          <a:ea typeface="Segoe UI"/>
                          <a:cs typeface="Segoe UI"/>
                        </a:rPr>
                        <a:t>Sécurité et livraison</a:t>
                      </a:r>
                    </a:p>
                  </a:txBody>
                  <a:tcPr anchor="ctr">
                    <a:solidFill>
                      <a:srgbClr val="1B2923"/>
                    </a:solidFill>
                  </a:tcPr>
                </a:tc>
                <a:tc>
                  <a:txBody>
                    <a:bodyPr/>
                    <a:lstStyle/>
                    <a:p>
                      <a:pPr algn="l">
                        <a:buNone/>
                      </a:pPr>
                      <a:r>
                        <a:rPr sz="1725" b="0">
                          <a:solidFill>
                            <a:srgbClr val="F4F7F3"/>
                          </a:solidFill>
                          <a:latin typeface="Segoe UI"/>
                          <a:ea typeface="Segoe UI"/>
                          <a:cs typeface="Segoe UI"/>
                        </a:rPr>
                        <a:t>15–21/07</a:t>
                      </a:r>
                    </a:p>
                  </a:txBody>
                  <a:tcPr anchor="ctr">
                    <a:solidFill>
                      <a:srgbClr val="1B2923"/>
                    </a:solidFill>
                  </a:tcPr>
                </a:tc>
                <a:extLst>
                  <a:ext uri="{0D108BD9-81ED-4DB2-BD59-A6C34878D82A}">
                    <a16:rowId xmlns:a16="http://schemas.microsoft.com/office/drawing/2014/main" val="10005"/>
                  </a:ext>
                </a:extLst>
              </a:tr>
              <a:tr h="447675">
                <a:tc>
                  <a:txBody>
                    <a:bodyPr/>
                    <a:lstStyle/>
                    <a:p>
                      <a:pPr algn="l">
                        <a:buNone/>
                      </a:pPr>
                      <a:r>
                        <a:rPr sz="1725" b="0">
                          <a:solidFill>
                            <a:srgbClr val="F4F7F3"/>
                          </a:solidFill>
                          <a:latin typeface="Segoe UI"/>
                          <a:ea typeface="Segoe UI"/>
                          <a:cs typeface="Segoe UI"/>
                        </a:rPr>
                        <a:t>15</a:t>
                      </a:r>
                    </a:p>
                  </a:txBody>
                  <a:tcPr anchor="ctr">
                    <a:solidFill>
                      <a:srgbClr val="1B2923"/>
                    </a:solidFill>
                  </a:tcPr>
                </a:tc>
                <a:tc>
                  <a:txBody>
                    <a:bodyPr/>
                    <a:lstStyle/>
                    <a:p>
                      <a:pPr algn="l">
                        <a:buNone/>
                      </a:pPr>
                      <a:r>
                        <a:rPr sz="1725" b="0">
                          <a:solidFill>
                            <a:srgbClr val="F4F7F3"/>
                          </a:solidFill>
                          <a:latin typeface="Segoe UI"/>
                          <a:ea typeface="Segoe UI"/>
                          <a:cs typeface="Segoe UI"/>
                        </a:rPr>
                        <a:t>Recettes et corrections</a:t>
                      </a:r>
                    </a:p>
                  </a:txBody>
                  <a:tcPr anchor="ctr">
                    <a:solidFill>
                      <a:srgbClr val="1B2923"/>
                    </a:solidFill>
                  </a:tcPr>
                </a:tc>
                <a:tc>
                  <a:txBody>
                    <a:bodyPr/>
                    <a:lstStyle/>
                    <a:p>
                      <a:pPr algn="l">
                        <a:buNone/>
                      </a:pPr>
                      <a:r>
                        <a:rPr sz="1725" b="0">
                          <a:solidFill>
                            <a:srgbClr val="F4F7F3"/>
                          </a:solidFill>
                          <a:latin typeface="Segoe UI"/>
                          <a:ea typeface="Segoe UI"/>
                          <a:cs typeface="Segoe UI"/>
                        </a:rPr>
                        <a:t>22–29/07</a:t>
                      </a:r>
                    </a:p>
                  </a:txBody>
                  <a:tcPr anchor="ctr">
                    <a:solidFill>
                      <a:srgbClr val="1B2923"/>
                    </a:solidFill>
                  </a:tcPr>
                </a:tc>
                <a:extLst>
                  <a:ext uri="{0D108BD9-81ED-4DB2-BD59-A6C34878D82A}">
                    <a16:rowId xmlns:a16="http://schemas.microsoft.com/office/drawing/2014/main" val="10006"/>
                  </a:ext>
                </a:extLst>
              </a:tr>
              <a:tr h="447675">
                <a:tc>
                  <a:txBody>
                    <a:bodyPr/>
                    <a:lstStyle/>
                    <a:p>
                      <a:pPr algn="l">
                        <a:buNone/>
                      </a:pPr>
                      <a:r>
                        <a:rPr sz="1725" b="0">
                          <a:solidFill>
                            <a:srgbClr val="F4F7F3"/>
                          </a:solidFill>
                          <a:latin typeface="Segoe UI"/>
                          <a:ea typeface="Segoe UI"/>
                          <a:cs typeface="Segoe UI"/>
                        </a:rPr>
                        <a:t>16</a:t>
                      </a:r>
                    </a:p>
                  </a:txBody>
                  <a:tcPr anchor="ctr">
                    <a:solidFill>
                      <a:srgbClr val="1B2923"/>
                    </a:solidFill>
                  </a:tcPr>
                </a:tc>
                <a:tc>
                  <a:txBody>
                    <a:bodyPr/>
                    <a:lstStyle/>
                    <a:p>
                      <a:pPr algn="l">
                        <a:buNone/>
                      </a:pPr>
                      <a:r>
                        <a:rPr sz="1725" b="0">
                          <a:solidFill>
                            <a:srgbClr val="F4F7F3"/>
                          </a:solidFill>
                          <a:latin typeface="Segoe UI"/>
                          <a:ea typeface="Segoe UI"/>
                          <a:cs typeface="Segoe UI"/>
                        </a:rPr>
                        <a:t>Accès, quotas, livraison rc.8</a:t>
                      </a:r>
                    </a:p>
                  </a:txBody>
                  <a:tcPr anchor="ctr">
                    <a:solidFill>
                      <a:srgbClr val="1B2923"/>
                    </a:solidFill>
                  </a:tcPr>
                </a:tc>
                <a:tc>
                  <a:txBody>
                    <a:bodyPr/>
                    <a:lstStyle/>
                    <a:p>
                      <a:pPr algn="l">
                        <a:buNone/>
                      </a:pPr>
                      <a:r>
                        <a:rPr sz="1725" b="0">
                          <a:solidFill>
                            <a:srgbClr val="F4F7F3"/>
                          </a:solidFill>
                          <a:latin typeface="Segoe UI"/>
                          <a:ea typeface="Segoe UI"/>
                          <a:cs typeface="Segoe UI"/>
                        </a:rPr>
                        <a:t>30/07–04/08</a:t>
                      </a:r>
                    </a:p>
                  </a:txBody>
                  <a:tcPr anchor="ctr">
                    <a:solidFill>
                      <a:srgbClr val="1B2923"/>
                    </a:solidFill>
                  </a:tcPr>
                </a:tc>
                <a:extLst>
                  <a:ext uri="{0D108BD9-81ED-4DB2-BD59-A6C34878D82A}">
                    <a16:rowId xmlns:a16="http://schemas.microsoft.com/office/drawing/2014/main" val="10007"/>
                  </a:ext>
                </a:extLst>
              </a:tr>
              <a:tr h="447675">
                <a:tc>
                  <a:txBody>
                    <a:bodyPr/>
                    <a:lstStyle/>
                    <a:p>
                      <a:pPr algn="l">
                        <a:buNone/>
                      </a:pPr>
                      <a:r>
                        <a:rPr sz="1725" b="0">
                          <a:solidFill>
                            <a:srgbClr val="F4F7F3"/>
                          </a:solidFill>
                          <a:latin typeface="Segoe UI"/>
                          <a:ea typeface="Segoe UI"/>
                          <a:cs typeface="Segoe UI"/>
                        </a:rPr>
                        <a:t>17</a:t>
                      </a:r>
                    </a:p>
                  </a:txBody>
                  <a:tcPr anchor="ctr">
                    <a:solidFill>
                      <a:srgbClr val="1B2923"/>
                    </a:solidFill>
                  </a:tcPr>
                </a:tc>
                <a:tc>
                  <a:txBody>
                    <a:bodyPr/>
                    <a:lstStyle/>
                    <a:p>
                      <a:pPr algn="l">
                        <a:buNone/>
                      </a:pPr>
                      <a:r>
                        <a:rPr sz="1725" b="0">
                          <a:solidFill>
                            <a:srgbClr val="F4F7F3"/>
                          </a:solidFill>
                          <a:latin typeface="Segoe UI"/>
                          <a:ea typeface="Segoe UI"/>
                          <a:cs typeface="Segoe UI"/>
                        </a:rPr>
                        <a:t>Maintenance et alertes</a:t>
                      </a:r>
                    </a:p>
                  </a:txBody>
                  <a:tcPr anchor="ctr">
                    <a:solidFill>
                      <a:srgbClr val="1B2923"/>
                    </a:solidFill>
                  </a:tcPr>
                </a:tc>
                <a:tc>
                  <a:txBody>
                    <a:bodyPr/>
                    <a:lstStyle/>
                    <a:p>
                      <a:pPr algn="l">
                        <a:buNone/>
                      </a:pPr>
                      <a:r>
                        <a:rPr sz="1725" b="0">
                          <a:solidFill>
                            <a:srgbClr val="F4F7F3"/>
                          </a:solidFill>
                          <a:latin typeface="Segoe UI"/>
                          <a:ea typeface="Segoe UI"/>
                          <a:cs typeface="Segoe UI"/>
                        </a:rPr>
                        <a:t>05–10/08</a:t>
                      </a:r>
                    </a:p>
                  </a:txBody>
                  <a:tcPr anchor="ctr">
                    <a:solidFill>
                      <a:srgbClr val="1B2923"/>
                    </a:solidFill>
                  </a:tcPr>
                </a:tc>
                <a:extLst>
                  <a:ext uri="{0D108BD9-81ED-4DB2-BD59-A6C34878D82A}">
                    <a16:rowId xmlns:a16="http://schemas.microsoft.com/office/drawing/2014/main" val="10008"/>
                  </a:ext>
                </a:extLst>
              </a:tr>
            </a:tbl>
          </a:graphicData>
        </a:graphic>
      </p:graphicFrame>
      <p:sp>
        <p:nvSpPr>
          <p:cNvPr id="15" name="Rectangle 14">
            <a:extLst>
              <a:ext uri="{FF2B5EF4-FFF2-40B4-BE49-F238E27FC236}">
                <a16:creationId xmlns:a16="http://schemas.microsoft.com/office/drawing/2014/main" id="{B825A3EA-222A-4F46-97F8-EE64ADF536A0}"/>
              </a:ext>
            </a:extLst>
          </p:cNvPr>
          <p:cNvSpPr>
            <a:spLocks noGrp="1"/>
          </p:cNvSpPr>
          <p:nvPr/>
        </p:nvSpPr>
        <p:spPr>
          <a:xfrm>
            <a:off x="11049000" y="6438900"/>
            <a:ext cx="533400" cy="228600"/>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09</a:t>
            </a:r>
          </a:p>
        </p:txBody>
      </p:sp>
    </p:spTree>
    <p:extLst>
      <p:ext uri="{BB962C8B-B14F-4D97-AF65-F5344CB8AC3E}">
        <p14:creationId xmlns:p14="http://schemas.microsoft.com/office/powerpoint/2010/main" val="1299744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B2923"/>
        </a:solidFill>
        <a:effectLst/>
      </p:bgPr>
    </p:bg>
    <p:spTree>
      <p:nvGrpSpPr>
        <p:cNvPr id="1" name=""/>
        <p:cNvGrpSpPr/>
        <p:nvPr/>
      </p:nvGrpSpPr>
      <p:grpSpPr>
        <a:xfrm>
          <a:off x="0" y="0"/>
          <a:ext cx="0" cy="0"/>
          <a:chOff x="0" y="0"/>
          <a:chExt cx="0" cy="0"/>
        </a:xfrm>
      </p:grpSpPr>
      <p:pic>
        <p:nvPicPr>
          <p:cNvPr id="31" name="Image 30"/>
          <p:cNvPicPr>
            <a:picLocks noChangeAspect="1"/>
          </p:cNvPicPr>
          <p:nvPr/>
        </p:nvPicPr>
        <p:blipFill>
          <a:blip r:embed="rId3"/>
          <a:srcRect t="27" b="27"/>
          <a:stretch>
            <a:fillRect/>
          </a:stretch>
        </p:blipFill>
        <p:spPr>
          <a:xfrm>
            <a:off x="0" y="0"/>
            <a:ext cx="12192000" cy="6858000"/>
          </a:xfrm>
          <a:prstGeom prst="rect">
            <a:avLst/>
          </a:prstGeom>
        </p:spPr>
      </p:pic>
      <p:sp>
        <p:nvSpPr>
          <p:cNvPr id="14" name="Rectangle 13">
            <a:extLst>
              <a:ext uri="{FF2B5EF4-FFF2-40B4-BE49-F238E27FC236}">
                <a16:creationId xmlns:a16="http://schemas.microsoft.com/office/drawing/2014/main" id="{26C6A671-F5FB-4DCC-8D8A-9ADB48A6E5F7}"/>
              </a:ext>
            </a:extLst>
          </p:cNvPr>
          <p:cNvSpPr>
            <a:spLocks noGrp="1"/>
          </p:cNvSpPr>
          <p:nvPr/>
        </p:nvSpPr>
        <p:spPr>
          <a:xfrm>
            <a:off x="609600" y="6457950"/>
            <a:ext cx="8382000" cy="219075"/>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Alcide / Pilotage du projet</a:t>
            </a:r>
          </a:p>
        </p:txBody>
      </p:sp>
      <p:sp>
        <p:nvSpPr>
          <p:cNvPr id="16" name="Rectangle 15">
            <a:extLst>
              <a:ext uri="{FF2B5EF4-FFF2-40B4-BE49-F238E27FC236}">
                <a16:creationId xmlns:a16="http://schemas.microsoft.com/office/drawing/2014/main" id="{9C853381-C9E5-4C0E-AA4D-6F335420FA85}"/>
              </a:ext>
            </a:extLst>
          </p:cNvPr>
          <p:cNvSpPr>
            <a:spLocks noGrp="1"/>
          </p:cNvSpPr>
          <p:nvPr/>
        </p:nvSpPr>
        <p:spPr>
          <a:xfrm>
            <a:off x="609600" y="609600"/>
            <a:ext cx="10972800" cy="704850"/>
          </a:xfrm>
          <a:prstGeom prst="rect">
            <a:avLst/>
          </a:prstGeom>
          <a:noFill/>
          <a:ln w="0">
            <a:noFill/>
          </a:ln>
        </p:spPr>
        <p:txBody>
          <a:bodyPr wrap="square" lIns="0" tIns="0" rIns="0" bIns="0" anchor="t">
            <a:noAutofit/>
          </a:bodyPr>
          <a:lstStyle/>
          <a:p>
            <a:pPr algn="l">
              <a:buNone/>
              <a:defRPr sz="3750" b="1">
                <a:solidFill>
                  <a:srgbClr val="F4F7F3"/>
                </a:solidFill>
                <a:latin typeface="Segoe UI"/>
                <a:ea typeface="Segoe UI"/>
                <a:cs typeface="Segoe UI"/>
              </a:defRPr>
            </a:pPr>
            <a:r>
              <a:rPr sz="3750" b="1">
                <a:solidFill>
                  <a:srgbClr val="F4F7F3"/>
                </a:solidFill>
                <a:latin typeface="Segoe UI"/>
                <a:ea typeface="Segoe UI"/>
                <a:cs typeface="Segoe UI"/>
              </a:rPr>
              <a:t>Le budget prévu</a:t>
            </a:r>
          </a:p>
        </p:txBody>
      </p:sp>
      <p:sp>
        <p:nvSpPr>
          <p:cNvPr id="17" name="Rectangle 16">
            <a:extLst>
              <a:ext uri="{FF2B5EF4-FFF2-40B4-BE49-F238E27FC236}">
                <a16:creationId xmlns:a16="http://schemas.microsoft.com/office/drawing/2014/main" id="{0A12DA04-70F6-4C06-B57B-07D0AA75EE6C}"/>
              </a:ext>
            </a:extLst>
          </p:cNvPr>
          <p:cNvSpPr>
            <a:spLocks noGrp="1"/>
          </p:cNvSpPr>
          <p:nvPr/>
        </p:nvSpPr>
        <p:spPr>
          <a:xfrm>
            <a:off x="609600" y="1438275"/>
            <a:ext cx="10972800" cy="457200"/>
          </a:xfrm>
          <a:prstGeom prst="rect">
            <a:avLst/>
          </a:prstGeom>
          <a:noFill/>
          <a:ln w="0">
            <a:noFill/>
          </a:ln>
        </p:spPr>
        <p:txBody>
          <a:bodyPr wrap="square" lIns="0" tIns="0" rIns="0" bIns="0" anchor="t">
            <a:noAutofit/>
          </a:bodyPr>
          <a:lstStyle/>
          <a:p>
            <a:pPr algn="l">
              <a:buNone/>
              <a:defRPr sz="1875" b="0">
                <a:solidFill>
                  <a:srgbClr val="C1D0C1"/>
                </a:solidFill>
                <a:latin typeface="Segoe UI"/>
                <a:ea typeface="Segoe UI"/>
                <a:cs typeface="Segoe UI"/>
              </a:defRPr>
            </a:pPr>
            <a:r>
              <a:rPr sz="1875" b="0">
                <a:solidFill>
                  <a:srgbClr val="C1D0C1"/>
                </a:solidFill>
                <a:latin typeface="Segoe UI"/>
                <a:ea typeface="Segoe UI"/>
                <a:cs typeface="Segoe UI"/>
              </a:rPr>
              <a:t>Base initiale : 81 JH, 567 heures et 42 818 € HT</a:t>
            </a:r>
          </a:p>
        </p:txBody>
      </p:sp>
      <p:graphicFrame>
        <p:nvGraphicFramePr>
          <p:cNvPr id="35" name="Tableau 34"/>
          <p:cNvGraphicFramePr/>
          <p:nvPr/>
        </p:nvGraphicFramePr>
        <p:xfrm>
          <a:off x="609600" y="1990725"/>
          <a:ext cx="10972800" cy="3152775"/>
        </p:xfrm>
        <a:graphic>
          <a:graphicData uri="http://schemas.openxmlformats.org/drawingml/2006/table">
            <a:tbl>
              <a:tblPr/>
              <a:tblGrid>
                <a:gridCol w="6254496">
                  <a:extLst>
                    <a:ext uri="{9D8B030D-6E8A-4147-A177-3AD203B41FA5}">
                      <a16:colId xmlns:a16="http://schemas.microsoft.com/office/drawing/2014/main" val="20000"/>
                    </a:ext>
                  </a:extLst>
                </a:gridCol>
                <a:gridCol w="1426464">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466725">
                <a:tc>
                  <a:txBody>
                    <a:bodyPr/>
                    <a:lstStyle/>
                    <a:p>
                      <a:pPr algn="l">
                        <a:buNone/>
                      </a:pPr>
                      <a:r>
                        <a:rPr sz="2025" b="1">
                          <a:solidFill>
                            <a:srgbClr val="BACDB7"/>
                          </a:solidFill>
                          <a:latin typeface="Segoe UI"/>
                          <a:ea typeface="Segoe UI"/>
                          <a:cs typeface="Segoe UI"/>
                        </a:rPr>
                        <a:t>Profil</a:t>
                      </a:r>
                    </a:p>
                  </a:txBody>
                  <a:tcPr anchor="ctr">
                    <a:solidFill>
                      <a:srgbClr val="213B2E"/>
                    </a:solidFill>
                  </a:tcPr>
                </a:tc>
                <a:tc>
                  <a:txBody>
                    <a:bodyPr/>
                    <a:lstStyle/>
                    <a:p>
                      <a:pPr algn="l">
                        <a:buNone/>
                      </a:pPr>
                      <a:r>
                        <a:rPr sz="2025" b="1">
                          <a:solidFill>
                            <a:srgbClr val="BACDB7"/>
                          </a:solidFill>
                          <a:latin typeface="Segoe UI"/>
                          <a:ea typeface="Segoe UI"/>
                          <a:cs typeface="Segoe UI"/>
                        </a:rPr>
                        <a:t>JH</a:t>
                      </a:r>
                    </a:p>
                  </a:txBody>
                  <a:tcPr anchor="ctr">
                    <a:solidFill>
                      <a:srgbClr val="213B2E"/>
                    </a:solidFill>
                  </a:tcPr>
                </a:tc>
                <a:tc>
                  <a:txBody>
                    <a:bodyPr/>
                    <a:lstStyle/>
                    <a:p>
                      <a:pPr algn="l">
                        <a:buNone/>
                      </a:pPr>
                      <a:r>
                        <a:rPr sz="2025" b="1">
                          <a:solidFill>
                            <a:srgbClr val="BACDB7"/>
                          </a:solidFill>
                          <a:latin typeface="Segoe UI"/>
                          <a:ea typeface="Segoe UI"/>
                          <a:cs typeface="Segoe UI"/>
                        </a:rPr>
                        <a:t>Travail (€ HT)</a:t>
                      </a:r>
                    </a:p>
                  </a:txBody>
                  <a:tcPr anchor="ctr">
                    <a:solidFill>
                      <a:srgbClr val="213B2E"/>
                    </a:solidFill>
                  </a:tcPr>
                </a:tc>
                <a:extLst>
                  <a:ext uri="{0D108BD9-81ED-4DB2-BD59-A6C34878D82A}">
                    <a16:rowId xmlns:a16="http://schemas.microsoft.com/office/drawing/2014/main" val="10000"/>
                  </a:ext>
                </a:extLst>
              </a:tr>
              <a:tr h="447675">
                <a:tc>
                  <a:txBody>
                    <a:bodyPr/>
                    <a:lstStyle/>
                    <a:p>
                      <a:pPr algn="l">
                        <a:buNone/>
                      </a:pPr>
                      <a:r>
                        <a:rPr sz="2025" b="0">
                          <a:solidFill>
                            <a:srgbClr val="F4F7F3"/>
                          </a:solidFill>
                          <a:latin typeface="Segoe UI"/>
                          <a:ea typeface="Segoe UI"/>
                          <a:cs typeface="Segoe UI"/>
                        </a:rPr>
                        <a:t>PO</a:t>
                      </a:r>
                    </a:p>
                  </a:txBody>
                  <a:tcPr anchor="ctr">
                    <a:solidFill>
                      <a:srgbClr val="1B2923"/>
                    </a:solidFill>
                  </a:tcPr>
                </a:tc>
                <a:tc>
                  <a:txBody>
                    <a:bodyPr/>
                    <a:lstStyle/>
                    <a:p>
                      <a:pPr algn="l">
                        <a:buNone/>
                      </a:pPr>
                      <a:r>
                        <a:rPr sz="2025" b="0">
                          <a:solidFill>
                            <a:srgbClr val="F4F7F3"/>
                          </a:solidFill>
                          <a:latin typeface="Segoe UI"/>
                          <a:ea typeface="Segoe UI"/>
                          <a:cs typeface="Segoe UI"/>
                        </a:rPr>
                        <a:t>10</a:t>
                      </a:r>
                    </a:p>
                  </a:txBody>
                  <a:tcPr anchor="ctr">
                    <a:solidFill>
                      <a:srgbClr val="1B2923"/>
                    </a:solidFill>
                  </a:tcPr>
                </a:tc>
                <a:tc>
                  <a:txBody>
                    <a:bodyPr/>
                    <a:lstStyle/>
                    <a:p>
                      <a:pPr algn="l">
                        <a:buNone/>
                      </a:pPr>
                      <a:r>
                        <a:rPr sz="2025" b="0">
                          <a:solidFill>
                            <a:srgbClr val="F4F7F3"/>
                          </a:solidFill>
                          <a:latin typeface="Segoe UI"/>
                          <a:ea typeface="Segoe UI"/>
                          <a:cs typeface="Segoe UI"/>
                        </a:rPr>
                        <a:t>4500</a:t>
                      </a:r>
                    </a:p>
                  </a:txBody>
                  <a:tcPr anchor="ctr">
                    <a:solidFill>
                      <a:srgbClr val="1B2923"/>
                    </a:solidFill>
                  </a:tcPr>
                </a:tc>
                <a:extLst>
                  <a:ext uri="{0D108BD9-81ED-4DB2-BD59-A6C34878D82A}">
                    <a16:rowId xmlns:a16="http://schemas.microsoft.com/office/drawing/2014/main" val="10001"/>
                  </a:ext>
                </a:extLst>
              </a:tr>
              <a:tr h="447675">
                <a:tc>
                  <a:txBody>
                    <a:bodyPr/>
                    <a:lstStyle/>
                    <a:p>
                      <a:pPr algn="l">
                        <a:buNone/>
                      </a:pPr>
                      <a:r>
                        <a:rPr sz="2025" b="0">
                          <a:solidFill>
                            <a:srgbClr val="F4F7F3"/>
                          </a:solidFill>
                          <a:latin typeface="Segoe UI"/>
                          <a:ea typeface="Segoe UI"/>
                          <a:cs typeface="Segoe UI"/>
                        </a:rPr>
                        <a:t>Kevin — lead full-stack</a:t>
                      </a:r>
                    </a:p>
                  </a:txBody>
                  <a:tcPr anchor="ctr">
                    <a:solidFill>
                      <a:srgbClr val="1B2923"/>
                    </a:solidFill>
                  </a:tcPr>
                </a:tc>
                <a:tc>
                  <a:txBody>
                    <a:bodyPr/>
                    <a:lstStyle/>
                    <a:p>
                      <a:pPr algn="l">
                        <a:buNone/>
                      </a:pPr>
                      <a:r>
                        <a:rPr sz="2025" b="0">
                          <a:solidFill>
                            <a:srgbClr val="F4F7F3"/>
                          </a:solidFill>
                          <a:latin typeface="Segoe UI"/>
                          <a:ea typeface="Segoe UI"/>
                          <a:cs typeface="Segoe UI"/>
                        </a:rPr>
                        <a:t>40</a:t>
                      </a:r>
                    </a:p>
                  </a:txBody>
                  <a:tcPr anchor="ctr">
                    <a:solidFill>
                      <a:srgbClr val="1B2923"/>
                    </a:solidFill>
                  </a:tcPr>
                </a:tc>
                <a:tc>
                  <a:txBody>
                    <a:bodyPr/>
                    <a:lstStyle/>
                    <a:p>
                      <a:pPr algn="l">
                        <a:buNone/>
                      </a:pPr>
                      <a:r>
                        <a:rPr sz="2025" b="0">
                          <a:solidFill>
                            <a:srgbClr val="F4F7F3"/>
                          </a:solidFill>
                          <a:latin typeface="Segoe UI"/>
                          <a:ea typeface="Segoe UI"/>
                          <a:cs typeface="Segoe UI"/>
                        </a:rPr>
                        <a:t>18000</a:t>
                      </a:r>
                    </a:p>
                  </a:txBody>
                  <a:tcPr anchor="ctr">
                    <a:solidFill>
                      <a:srgbClr val="1B2923"/>
                    </a:solidFill>
                  </a:tcPr>
                </a:tc>
                <a:extLst>
                  <a:ext uri="{0D108BD9-81ED-4DB2-BD59-A6C34878D82A}">
                    <a16:rowId xmlns:a16="http://schemas.microsoft.com/office/drawing/2014/main" val="10002"/>
                  </a:ext>
                </a:extLst>
              </a:tr>
              <a:tr h="447675">
                <a:tc>
                  <a:txBody>
                    <a:bodyPr/>
                    <a:lstStyle/>
                    <a:p>
                      <a:pPr algn="l">
                        <a:buNone/>
                      </a:pPr>
                      <a:r>
                        <a:rPr sz="2025" b="0">
                          <a:solidFill>
                            <a:srgbClr val="F4F7F3"/>
                          </a:solidFill>
                          <a:latin typeface="Segoe UI"/>
                          <a:ea typeface="Segoe UI"/>
                          <a:cs typeface="Segoe UI"/>
                        </a:rPr>
                        <a:t>QA</a:t>
                      </a:r>
                    </a:p>
                  </a:txBody>
                  <a:tcPr anchor="ctr">
                    <a:solidFill>
                      <a:srgbClr val="1B2923"/>
                    </a:solidFill>
                  </a:tcPr>
                </a:tc>
                <a:tc>
                  <a:txBody>
                    <a:bodyPr/>
                    <a:lstStyle/>
                    <a:p>
                      <a:pPr algn="l">
                        <a:buNone/>
                      </a:pPr>
                      <a:r>
                        <a:rPr sz="2025" b="0">
                          <a:solidFill>
                            <a:srgbClr val="F4F7F3"/>
                          </a:solidFill>
                          <a:latin typeface="Segoe UI"/>
                          <a:ea typeface="Segoe UI"/>
                          <a:cs typeface="Segoe UI"/>
                        </a:rPr>
                        <a:t>16</a:t>
                      </a:r>
                    </a:p>
                  </a:txBody>
                  <a:tcPr anchor="ctr">
                    <a:solidFill>
                      <a:srgbClr val="1B2923"/>
                    </a:solidFill>
                  </a:tcPr>
                </a:tc>
                <a:tc>
                  <a:txBody>
                    <a:bodyPr/>
                    <a:lstStyle/>
                    <a:p>
                      <a:pPr algn="l">
                        <a:buNone/>
                      </a:pPr>
                      <a:r>
                        <a:rPr sz="2025" b="0">
                          <a:solidFill>
                            <a:srgbClr val="F4F7F3"/>
                          </a:solidFill>
                          <a:latin typeface="Segoe UI"/>
                          <a:ea typeface="Segoe UI"/>
                          <a:cs typeface="Segoe UI"/>
                        </a:rPr>
                        <a:t>7200</a:t>
                      </a:r>
                    </a:p>
                  </a:txBody>
                  <a:tcPr anchor="ctr">
                    <a:solidFill>
                      <a:srgbClr val="1B2923"/>
                    </a:solidFill>
                  </a:tcPr>
                </a:tc>
                <a:extLst>
                  <a:ext uri="{0D108BD9-81ED-4DB2-BD59-A6C34878D82A}">
                    <a16:rowId xmlns:a16="http://schemas.microsoft.com/office/drawing/2014/main" val="10003"/>
                  </a:ext>
                </a:extLst>
              </a:tr>
              <a:tr h="447675">
                <a:tc>
                  <a:txBody>
                    <a:bodyPr/>
                    <a:lstStyle/>
                    <a:p>
                      <a:pPr algn="l">
                        <a:buNone/>
                      </a:pPr>
                      <a:r>
                        <a:rPr sz="2025" b="0">
                          <a:solidFill>
                            <a:srgbClr val="F4F7F3"/>
                          </a:solidFill>
                          <a:latin typeface="Segoe UI"/>
                          <a:ea typeface="Segoe UI"/>
                          <a:cs typeface="Segoe UI"/>
                        </a:rPr>
                        <a:t>Référent sécurité</a:t>
                      </a:r>
                    </a:p>
                  </a:txBody>
                  <a:tcPr anchor="ctr">
                    <a:solidFill>
                      <a:srgbClr val="1B2923"/>
                    </a:solidFill>
                  </a:tcPr>
                </a:tc>
                <a:tc>
                  <a:txBody>
                    <a:bodyPr/>
                    <a:lstStyle/>
                    <a:p>
                      <a:pPr algn="l">
                        <a:buNone/>
                      </a:pPr>
                      <a:r>
                        <a:rPr sz="2025" b="0">
                          <a:solidFill>
                            <a:srgbClr val="F4F7F3"/>
                          </a:solidFill>
                          <a:latin typeface="Segoe UI"/>
                          <a:ea typeface="Segoe UI"/>
                          <a:cs typeface="Segoe UI"/>
                        </a:rPr>
                        <a:t>10</a:t>
                      </a:r>
                    </a:p>
                  </a:txBody>
                  <a:tcPr anchor="ctr">
                    <a:solidFill>
                      <a:srgbClr val="1B2923"/>
                    </a:solidFill>
                  </a:tcPr>
                </a:tc>
                <a:tc>
                  <a:txBody>
                    <a:bodyPr/>
                    <a:lstStyle/>
                    <a:p>
                      <a:pPr algn="l">
                        <a:buNone/>
                      </a:pPr>
                      <a:r>
                        <a:rPr sz="2025" b="0">
                          <a:solidFill>
                            <a:srgbClr val="F4F7F3"/>
                          </a:solidFill>
                          <a:latin typeface="Segoe UI"/>
                          <a:ea typeface="Segoe UI"/>
                          <a:cs typeface="Segoe UI"/>
                        </a:rPr>
                        <a:t>4500</a:t>
                      </a:r>
                    </a:p>
                  </a:txBody>
                  <a:tcPr anchor="ctr">
                    <a:solidFill>
                      <a:srgbClr val="1B2923"/>
                    </a:solidFill>
                  </a:tcPr>
                </a:tc>
                <a:extLst>
                  <a:ext uri="{0D108BD9-81ED-4DB2-BD59-A6C34878D82A}">
                    <a16:rowId xmlns:a16="http://schemas.microsoft.com/office/drawing/2014/main" val="10004"/>
                  </a:ext>
                </a:extLst>
              </a:tr>
              <a:tr h="447675">
                <a:tc>
                  <a:txBody>
                    <a:bodyPr/>
                    <a:lstStyle/>
                    <a:p>
                      <a:pPr algn="l">
                        <a:buNone/>
                      </a:pPr>
                      <a:r>
                        <a:rPr sz="2025" b="0">
                          <a:solidFill>
                            <a:srgbClr val="F4F7F3"/>
                          </a:solidFill>
                          <a:latin typeface="Segoe UI"/>
                          <a:ea typeface="Segoe UI"/>
                          <a:cs typeface="Segoe UI"/>
                        </a:rPr>
                        <a:t>Référent sport</a:t>
                      </a:r>
                    </a:p>
                  </a:txBody>
                  <a:tcPr anchor="ctr">
                    <a:solidFill>
                      <a:srgbClr val="1B2923"/>
                    </a:solidFill>
                  </a:tcPr>
                </a:tc>
                <a:tc>
                  <a:txBody>
                    <a:bodyPr/>
                    <a:lstStyle/>
                    <a:p>
                      <a:pPr algn="l">
                        <a:buNone/>
                      </a:pPr>
                      <a:r>
                        <a:rPr sz="2025" b="0">
                          <a:solidFill>
                            <a:srgbClr val="F4F7F3"/>
                          </a:solidFill>
                          <a:latin typeface="Segoe UI"/>
                          <a:ea typeface="Segoe UI"/>
                          <a:cs typeface="Segoe UI"/>
                        </a:rPr>
                        <a:t>5</a:t>
                      </a:r>
                    </a:p>
                  </a:txBody>
                  <a:tcPr anchor="ctr">
                    <a:solidFill>
                      <a:srgbClr val="1B2923"/>
                    </a:solidFill>
                  </a:tcPr>
                </a:tc>
                <a:tc>
                  <a:txBody>
                    <a:bodyPr/>
                    <a:lstStyle/>
                    <a:p>
                      <a:pPr algn="l">
                        <a:buNone/>
                      </a:pPr>
                      <a:r>
                        <a:rPr sz="2025" b="0">
                          <a:solidFill>
                            <a:srgbClr val="F4F7F3"/>
                          </a:solidFill>
                          <a:latin typeface="Segoe UI"/>
                          <a:ea typeface="Segoe UI"/>
                          <a:cs typeface="Segoe UI"/>
                        </a:rPr>
                        <a:t>2250</a:t>
                      </a:r>
                    </a:p>
                  </a:txBody>
                  <a:tcPr anchor="ctr">
                    <a:solidFill>
                      <a:srgbClr val="1B2923"/>
                    </a:solidFill>
                  </a:tcPr>
                </a:tc>
                <a:extLst>
                  <a:ext uri="{0D108BD9-81ED-4DB2-BD59-A6C34878D82A}">
                    <a16:rowId xmlns:a16="http://schemas.microsoft.com/office/drawing/2014/main" val="10005"/>
                  </a:ext>
                </a:extLst>
              </a:tr>
              <a:tr h="447675">
                <a:tc>
                  <a:txBody>
                    <a:bodyPr/>
                    <a:lstStyle/>
                    <a:p>
                      <a:pPr algn="l">
                        <a:buNone/>
                      </a:pPr>
                      <a:r>
                        <a:rPr sz="2025" b="0">
                          <a:solidFill>
                            <a:srgbClr val="F4F7F3"/>
                          </a:solidFill>
                          <a:latin typeface="Segoe UI"/>
                          <a:ea typeface="Segoe UI"/>
                          <a:cs typeface="Segoe UI"/>
                        </a:rPr>
                        <a:t>Total travail</a:t>
                      </a:r>
                    </a:p>
                  </a:txBody>
                  <a:tcPr anchor="ctr">
                    <a:solidFill>
                      <a:srgbClr val="1B2923"/>
                    </a:solidFill>
                  </a:tcPr>
                </a:tc>
                <a:tc>
                  <a:txBody>
                    <a:bodyPr/>
                    <a:lstStyle/>
                    <a:p>
                      <a:pPr algn="l">
                        <a:buNone/>
                      </a:pPr>
                      <a:r>
                        <a:rPr sz="2025" b="0">
                          <a:solidFill>
                            <a:srgbClr val="F4F7F3"/>
                          </a:solidFill>
                          <a:latin typeface="Segoe UI"/>
                          <a:ea typeface="Segoe UI"/>
                          <a:cs typeface="Segoe UI"/>
                        </a:rPr>
                        <a:t>81</a:t>
                      </a:r>
                    </a:p>
                  </a:txBody>
                  <a:tcPr anchor="ctr">
                    <a:solidFill>
                      <a:srgbClr val="1B2923"/>
                    </a:solidFill>
                  </a:tcPr>
                </a:tc>
                <a:tc>
                  <a:txBody>
                    <a:bodyPr/>
                    <a:lstStyle/>
                    <a:p>
                      <a:pPr algn="l">
                        <a:buNone/>
                      </a:pPr>
                      <a:r>
                        <a:rPr sz="2025" b="0">
                          <a:solidFill>
                            <a:srgbClr val="F4F7F3"/>
                          </a:solidFill>
                          <a:latin typeface="Segoe UI"/>
                          <a:ea typeface="Segoe UI"/>
                          <a:cs typeface="Segoe UI"/>
                        </a:rPr>
                        <a:t>36450</a:t>
                      </a:r>
                    </a:p>
                  </a:txBody>
                  <a:tcPr anchor="ctr">
                    <a:solidFill>
                      <a:srgbClr val="1B2923"/>
                    </a:solidFill>
                  </a:tcPr>
                </a:tc>
                <a:extLst>
                  <a:ext uri="{0D108BD9-81ED-4DB2-BD59-A6C34878D82A}">
                    <a16:rowId xmlns:a16="http://schemas.microsoft.com/office/drawing/2014/main" val="10006"/>
                  </a:ext>
                </a:extLst>
              </a:tr>
            </a:tbl>
          </a:graphicData>
        </a:graphic>
      </p:graphicFrame>
      <p:sp>
        <p:nvSpPr>
          <p:cNvPr id="23" name="Rectangle 22">
            <a:extLst>
              <a:ext uri="{FF2B5EF4-FFF2-40B4-BE49-F238E27FC236}">
                <a16:creationId xmlns:a16="http://schemas.microsoft.com/office/drawing/2014/main" id="{A04FCEBD-69A0-4E48-A489-53E53277907E}"/>
              </a:ext>
            </a:extLst>
          </p:cNvPr>
          <p:cNvSpPr>
            <a:spLocks noGrp="1"/>
          </p:cNvSpPr>
          <p:nvPr/>
        </p:nvSpPr>
        <p:spPr>
          <a:xfrm>
            <a:off x="609600" y="5267325"/>
            <a:ext cx="10972800" cy="323850"/>
          </a:xfrm>
          <a:prstGeom prst="rect">
            <a:avLst/>
          </a:prstGeom>
          <a:noFill/>
          <a:ln w="0">
            <a:noFill/>
          </a:ln>
        </p:spPr>
        <p:txBody>
          <a:bodyPr wrap="square" lIns="0" tIns="0" rIns="0" bIns="0" anchor="t">
            <a:noAutofit/>
          </a:bodyPr>
          <a:lstStyle/>
          <a:p>
            <a:pPr algn="l">
              <a:buNone/>
              <a:defRPr sz="2025" b="0">
                <a:solidFill>
                  <a:srgbClr val="BACDB7"/>
                </a:solidFill>
                <a:latin typeface="Segoe UI"/>
                <a:ea typeface="Segoe UI"/>
                <a:cs typeface="Segoe UI"/>
              </a:defRPr>
            </a:pPr>
            <a:r>
              <a:rPr sz="2025" b="0">
                <a:solidFill>
                  <a:srgbClr val="BACDB7"/>
                </a:solidFill>
                <a:latin typeface="Segoe UI"/>
                <a:ea typeface="Segoe UI"/>
                <a:cs typeface="Segoe UI"/>
              </a:rPr>
              <a:t>Travail 36 450 € + réserve 5 468 € + mise en service 900 €</a:t>
            </a:r>
          </a:p>
        </p:txBody>
      </p:sp>
      <p:sp>
        <p:nvSpPr>
          <p:cNvPr id="24" name="Rectangle 23">
            <a:extLst>
              <a:ext uri="{FF2B5EF4-FFF2-40B4-BE49-F238E27FC236}">
                <a16:creationId xmlns:a16="http://schemas.microsoft.com/office/drawing/2014/main" id="{B6AF0F65-DE67-4396-9963-55B45DFA9ACD}"/>
              </a:ext>
            </a:extLst>
          </p:cNvPr>
          <p:cNvSpPr>
            <a:spLocks noGrp="1"/>
          </p:cNvSpPr>
          <p:nvPr/>
        </p:nvSpPr>
        <p:spPr>
          <a:xfrm>
            <a:off x="609600" y="5629275"/>
            <a:ext cx="10972800" cy="400050"/>
          </a:xfrm>
          <a:prstGeom prst="rect">
            <a:avLst/>
          </a:prstGeom>
          <a:noFill/>
          <a:ln w="0">
            <a:noFill/>
          </a:ln>
        </p:spPr>
        <p:txBody>
          <a:bodyPr wrap="square" lIns="0" tIns="0" rIns="0" bIns="0" anchor="t">
            <a:noAutofit/>
          </a:bodyPr>
          <a:lstStyle/>
          <a:p>
            <a:pPr algn="l">
              <a:buNone/>
              <a:defRPr sz="2400" b="1">
                <a:solidFill>
                  <a:srgbClr val="BACDB7"/>
                </a:solidFill>
                <a:latin typeface="Segoe UI"/>
                <a:ea typeface="Segoe UI"/>
                <a:cs typeface="Segoe UI"/>
              </a:defRPr>
            </a:pPr>
            <a:r>
              <a:rPr sz="2400" b="1">
                <a:solidFill>
                  <a:srgbClr val="BACDB7"/>
                </a:solidFill>
                <a:latin typeface="Segoe UI"/>
                <a:ea typeface="Segoe UI"/>
                <a:cs typeface="Segoe UI"/>
              </a:rPr>
              <a:t>Budget initial : 42 818 € HT</a:t>
            </a:r>
          </a:p>
        </p:txBody>
      </p:sp>
      <p:sp>
        <p:nvSpPr>
          <p:cNvPr id="28" name="Rectangle 27">
            <a:extLst>
              <a:ext uri="{FF2B5EF4-FFF2-40B4-BE49-F238E27FC236}">
                <a16:creationId xmlns:a16="http://schemas.microsoft.com/office/drawing/2014/main" id="{971C76F6-8942-43B3-8BB5-1804CFB8D53A}"/>
              </a:ext>
            </a:extLst>
          </p:cNvPr>
          <p:cNvSpPr>
            <a:spLocks noGrp="1"/>
          </p:cNvSpPr>
          <p:nvPr/>
        </p:nvSpPr>
        <p:spPr>
          <a:xfrm>
            <a:off x="11049000" y="6438900"/>
            <a:ext cx="533400" cy="228600"/>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10</a:t>
            </a:r>
          </a:p>
        </p:txBody>
      </p:sp>
    </p:spTree>
    <p:extLst>
      <p:ext uri="{BB962C8B-B14F-4D97-AF65-F5344CB8AC3E}">
        <p14:creationId xmlns:p14="http://schemas.microsoft.com/office/powerpoint/2010/main" val="1946735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B2923"/>
        </a:solidFill>
        <a:effectLst/>
      </p:bgPr>
    </p:bg>
    <p:spTree>
      <p:nvGrpSpPr>
        <p:cNvPr id="1" name=""/>
        <p:cNvGrpSpPr/>
        <p:nvPr/>
      </p:nvGrpSpPr>
      <p:grpSpPr>
        <a:xfrm>
          <a:off x="0" y="0"/>
          <a:ext cx="0" cy="0"/>
          <a:chOff x="0" y="0"/>
          <a:chExt cx="0" cy="0"/>
        </a:xfrm>
      </p:grpSpPr>
      <p:pic>
        <p:nvPicPr>
          <p:cNvPr id="33" name="Image 32"/>
          <p:cNvPicPr>
            <a:picLocks noChangeAspect="1"/>
          </p:cNvPicPr>
          <p:nvPr/>
        </p:nvPicPr>
        <p:blipFill>
          <a:blip r:embed="rId3"/>
          <a:srcRect t="27" b="27"/>
          <a:stretch>
            <a:fillRect/>
          </a:stretch>
        </p:blipFill>
        <p:spPr>
          <a:xfrm>
            <a:off x="0" y="0"/>
            <a:ext cx="12192000" cy="6858000"/>
          </a:xfrm>
          <a:prstGeom prst="rect">
            <a:avLst/>
          </a:prstGeom>
        </p:spPr>
      </p:pic>
      <p:sp>
        <p:nvSpPr>
          <p:cNvPr id="20" name="Rectangle 19">
            <a:extLst>
              <a:ext uri="{FF2B5EF4-FFF2-40B4-BE49-F238E27FC236}">
                <a16:creationId xmlns:a16="http://schemas.microsoft.com/office/drawing/2014/main" id="{A7D85854-B7BE-437D-8021-AFF6FE9C48C1}"/>
              </a:ext>
            </a:extLst>
          </p:cNvPr>
          <p:cNvSpPr>
            <a:spLocks noGrp="1"/>
          </p:cNvSpPr>
          <p:nvPr/>
        </p:nvSpPr>
        <p:spPr>
          <a:xfrm>
            <a:off x="609600" y="6457950"/>
            <a:ext cx="8382000" cy="219075"/>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Alcide / Pilotage du projet</a:t>
            </a:r>
          </a:p>
        </p:txBody>
      </p:sp>
      <p:sp>
        <p:nvSpPr>
          <p:cNvPr id="23" name="Rectangle 22">
            <a:extLst>
              <a:ext uri="{FF2B5EF4-FFF2-40B4-BE49-F238E27FC236}">
                <a16:creationId xmlns:a16="http://schemas.microsoft.com/office/drawing/2014/main" id="{48E08E0F-FBC9-4357-B449-2AA94A0B5B3C}"/>
              </a:ext>
            </a:extLst>
          </p:cNvPr>
          <p:cNvSpPr>
            <a:spLocks noGrp="1"/>
          </p:cNvSpPr>
          <p:nvPr/>
        </p:nvSpPr>
        <p:spPr>
          <a:xfrm>
            <a:off x="609600" y="609600"/>
            <a:ext cx="10972800" cy="704850"/>
          </a:xfrm>
          <a:prstGeom prst="rect">
            <a:avLst/>
          </a:prstGeom>
          <a:noFill/>
          <a:ln w="0">
            <a:noFill/>
          </a:ln>
        </p:spPr>
        <p:txBody>
          <a:bodyPr wrap="square" lIns="0" tIns="0" rIns="0" bIns="0" anchor="t">
            <a:noAutofit/>
          </a:bodyPr>
          <a:lstStyle/>
          <a:p>
            <a:pPr algn="l">
              <a:buNone/>
              <a:defRPr sz="3750" b="1">
                <a:solidFill>
                  <a:srgbClr val="F4F7F3"/>
                </a:solidFill>
                <a:latin typeface="Segoe UI"/>
                <a:ea typeface="Segoe UI"/>
                <a:cs typeface="Segoe UI"/>
              </a:defRPr>
            </a:pPr>
            <a:r>
              <a:rPr sz="3750" b="1">
                <a:solidFill>
                  <a:srgbClr val="F4F7F3"/>
                </a:solidFill>
                <a:latin typeface="Segoe UI"/>
                <a:ea typeface="Segoe UI"/>
                <a:cs typeface="Segoe UI"/>
              </a:rPr>
              <a:t>Le temps de travail prévu</a:t>
            </a:r>
          </a:p>
        </p:txBody>
      </p:sp>
      <p:sp>
        <p:nvSpPr>
          <p:cNvPr id="24" name="Rectangle 23">
            <a:extLst>
              <a:ext uri="{FF2B5EF4-FFF2-40B4-BE49-F238E27FC236}">
                <a16:creationId xmlns:a16="http://schemas.microsoft.com/office/drawing/2014/main" id="{F0178232-160F-4C79-9CF6-4906746DE80B}"/>
              </a:ext>
            </a:extLst>
          </p:cNvPr>
          <p:cNvSpPr>
            <a:spLocks noGrp="1"/>
          </p:cNvSpPr>
          <p:nvPr/>
        </p:nvSpPr>
        <p:spPr>
          <a:xfrm>
            <a:off x="609600" y="1438275"/>
            <a:ext cx="10972800" cy="457200"/>
          </a:xfrm>
          <a:prstGeom prst="rect">
            <a:avLst/>
          </a:prstGeom>
          <a:noFill/>
          <a:ln w="0">
            <a:noFill/>
          </a:ln>
        </p:spPr>
        <p:txBody>
          <a:bodyPr wrap="square" lIns="0" tIns="0" rIns="0" bIns="0" anchor="t">
            <a:noAutofit/>
          </a:bodyPr>
          <a:lstStyle/>
          <a:p>
            <a:pPr algn="l">
              <a:buNone/>
              <a:defRPr sz="1875" b="0">
                <a:solidFill>
                  <a:srgbClr val="C1D0C1"/>
                </a:solidFill>
                <a:latin typeface="Segoe UI"/>
                <a:ea typeface="Segoe UI"/>
                <a:cs typeface="Segoe UI"/>
              </a:defRPr>
            </a:pPr>
            <a:r>
              <a:rPr sz="1875" b="0">
                <a:solidFill>
                  <a:srgbClr val="C1D0C1"/>
                </a:solidFill>
                <a:latin typeface="Segoe UI"/>
                <a:ea typeface="Segoe UI"/>
                <a:cs typeface="Segoe UI"/>
              </a:rPr>
              <a:t>Charge prévisionnelle de l’équipe</a:t>
            </a:r>
          </a:p>
        </p:txBody>
      </p:sp>
      <p:graphicFrame>
        <p:nvGraphicFramePr>
          <p:cNvPr id="37" name="Tableau 36"/>
          <p:cNvGraphicFramePr/>
          <p:nvPr/>
        </p:nvGraphicFramePr>
        <p:xfrm>
          <a:off x="609600" y="2057400"/>
          <a:ext cx="10972800" cy="3333750"/>
        </p:xfrm>
        <a:graphic>
          <a:graphicData uri="http://schemas.openxmlformats.org/drawingml/2006/table">
            <a:tbl>
              <a:tblPr/>
              <a:tblGrid>
                <a:gridCol w="3950208">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316736">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316736">
                  <a:extLst>
                    <a:ext uri="{9D8B030D-6E8A-4147-A177-3AD203B41FA5}">
                      <a16:colId xmlns:a16="http://schemas.microsoft.com/office/drawing/2014/main" val="20006"/>
                    </a:ext>
                  </a:extLst>
                </a:gridCol>
              </a:tblGrid>
              <a:tr h="476250">
                <a:tc>
                  <a:txBody>
                    <a:bodyPr/>
                    <a:lstStyle/>
                    <a:p>
                      <a:pPr algn="l">
                        <a:buNone/>
                      </a:pPr>
                      <a:r>
                        <a:rPr sz="2025" b="1">
                          <a:solidFill>
                            <a:srgbClr val="BACDB7"/>
                          </a:solidFill>
                          <a:latin typeface="Segoe UI"/>
                          <a:ea typeface="Segoe UI"/>
                          <a:cs typeface="Segoe UI"/>
                        </a:rPr>
                        <a:t>Phase</a:t>
                      </a:r>
                    </a:p>
                  </a:txBody>
                  <a:tcPr anchor="ctr">
                    <a:solidFill>
                      <a:srgbClr val="213B2E"/>
                    </a:solidFill>
                  </a:tcPr>
                </a:tc>
                <a:tc>
                  <a:txBody>
                    <a:bodyPr/>
                    <a:lstStyle/>
                    <a:p>
                      <a:pPr algn="l">
                        <a:buNone/>
                      </a:pPr>
                      <a:r>
                        <a:rPr sz="2025" b="1">
                          <a:solidFill>
                            <a:srgbClr val="BACDB7"/>
                          </a:solidFill>
                          <a:latin typeface="Segoe UI"/>
                          <a:ea typeface="Segoe UI"/>
                          <a:cs typeface="Segoe UI"/>
                        </a:rPr>
                        <a:t>PO</a:t>
                      </a:r>
                    </a:p>
                  </a:txBody>
                  <a:tcPr anchor="ctr">
                    <a:solidFill>
                      <a:srgbClr val="213B2E"/>
                    </a:solidFill>
                  </a:tcPr>
                </a:tc>
                <a:tc>
                  <a:txBody>
                    <a:bodyPr/>
                    <a:lstStyle/>
                    <a:p>
                      <a:pPr algn="l">
                        <a:buNone/>
                      </a:pPr>
                      <a:r>
                        <a:rPr sz="2025" b="1">
                          <a:solidFill>
                            <a:srgbClr val="BACDB7"/>
                          </a:solidFill>
                          <a:latin typeface="Segoe UI"/>
                          <a:ea typeface="Segoe UI"/>
                          <a:cs typeface="Segoe UI"/>
                        </a:rPr>
                        <a:t>Kevin</a:t>
                      </a:r>
                    </a:p>
                  </a:txBody>
                  <a:tcPr anchor="ctr">
                    <a:solidFill>
                      <a:srgbClr val="213B2E"/>
                    </a:solidFill>
                  </a:tcPr>
                </a:tc>
                <a:tc>
                  <a:txBody>
                    <a:bodyPr/>
                    <a:lstStyle/>
                    <a:p>
                      <a:pPr algn="l">
                        <a:buNone/>
                      </a:pPr>
                      <a:r>
                        <a:rPr sz="2025" b="1">
                          <a:solidFill>
                            <a:srgbClr val="BACDB7"/>
                          </a:solidFill>
                          <a:latin typeface="Segoe UI"/>
                          <a:ea typeface="Segoe UI"/>
                          <a:cs typeface="Segoe UI"/>
                        </a:rPr>
                        <a:t>QA</a:t>
                      </a:r>
                    </a:p>
                  </a:txBody>
                  <a:tcPr anchor="ctr">
                    <a:solidFill>
                      <a:srgbClr val="213B2E"/>
                    </a:solidFill>
                  </a:tcPr>
                </a:tc>
                <a:tc>
                  <a:txBody>
                    <a:bodyPr/>
                    <a:lstStyle/>
                    <a:p>
                      <a:pPr algn="l">
                        <a:buNone/>
                      </a:pPr>
                      <a:r>
                        <a:rPr sz="2025" b="1">
                          <a:solidFill>
                            <a:srgbClr val="BACDB7"/>
                          </a:solidFill>
                          <a:latin typeface="Segoe UI"/>
                          <a:ea typeface="Segoe UI"/>
                          <a:cs typeface="Segoe UI"/>
                        </a:rPr>
                        <a:t>Séc.</a:t>
                      </a:r>
                    </a:p>
                  </a:txBody>
                  <a:tcPr anchor="ctr">
                    <a:solidFill>
                      <a:srgbClr val="213B2E"/>
                    </a:solidFill>
                  </a:tcPr>
                </a:tc>
                <a:tc>
                  <a:txBody>
                    <a:bodyPr/>
                    <a:lstStyle/>
                    <a:p>
                      <a:pPr algn="l">
                        <a:buNone/>
                      </a:pPr>
                      <a:r>
                        <a:rPr sz="2025" b="1">
                          <a:solidFill>
                            <a:srgbClr val="BACDB7"/>
                          </a:solidFill>
                          <a:latin typeface="Segoe UI"/>
                          <a:ea typeface="Segoe UI"/>
                          <a:cs typeface="Segoe UI"/>
                        </a:rPr>
                        <a:t>Sport</a:t>
                      </a:r>
                    </a:p>
                  </a:txBody>
                  <a:tcPr anchor="ctr">
                    <a:solidFill>
                      <a:srgbClr val="213B2E"/>
                    </a:solidFill>
                  </a:tcPr>
                </a:tc>
                <a:tc>
                  <a:txBody>
                    <a:bodyPr/>
                    <a:lstStyle/>
                    <a:p>
                      <a:pPr algn="l">
                        <a:buNone/>
                      </a:pPr>
                      <a:r>
                        <a:rPr sz="2025" b="1">
                          <a:solidFill>
                            <a:srgbClr val="BACDB7"/>
                          </a:solidFill>
                          <a:latin typeface="Segoe UI"/>
                          <a:ea typeface="Segoe UI"/>
                          <a:cs typeface="Segoe UI"/>
                        </a:rPr>
                        <a:t>Total</a:t>
                      </a:r>
                    </a:p>
                  </a:txBody>
                  <a:tcPr anchor="ctr">
                    <a:solidFill>
                      <a:srgbClr val="213B2E"/>
                    </a:solidFill>
                  </a:tcPr>
                </a:tc>
                <a:extLst>
                  <a:ext uri="{0D108BD9-81ED-4DB2-BD59-A6C34878D82A}">
                    <a16:rowId xmlns:a16="http://schemas.microsoft.com/office/drawing/2014/main" val="10000"/>
                  </a:ext>
                </a:extLst>
              </a:tr>
              <a:tr h="476250">
                <a:tc>
                  <a:txBody>
                    <a:bodyPr/>
                    <a:lstStyle/>
                    <a:p>
                      <a:pPr algn="l">
                        <a:buNone/>
                      </a:pPr>
                      <a:r>
                        <a:rPr sz="2025" b="0">
                          <a:solidFill>
                            <a:srgbClr val="F4F7F3"/>
                          </a:solidFill>
                          <a:latin typeface="Segoe UI"/>
                          <a:ea typeface="Segoe UI"/>
                          <a:cs typeface="Segoe UI"/>
                        </a:rPr>
                        <a:t>Cadrage</a:t>
                      </a:r>
                    </a:p>
                  </a:txBody>
                  <a:tcPr anchor="ctr">
                    <a:solidFill>
                      <a:srgbClr val="1B2923"/>
                    </a:solidFill>
                  </a:tcPr>
                </a:tc>
                <a:tc>
                  <a:txBody>
                    <a:bodyPr/>
                    <a:lstStyle/>
                    <a:p>
                      <a:pPr algn="l">
                        <a:buNone/>
                      </a:pPr>
                      <a:r>
                        <a:rPr sz="2025" b="0">
                          <a:solidFill>
                            <a:srgbClr val="F4F7F3"/>
                          </a:solidFill>
                          <a:latin typeface="Segoe UI"/>
                          <a:ea typeface="Segoe UI"/>
                          <a:cs typeface="Segoe UI"/>
                        </a:rPr>
                        <a:t>3,5</a:t>
                      </a:r>
                    </a:p>
                  </a:txBody>
                  <a:tcPr anchor="ctr">
                    <a:solidFill>
                      <a:srgbClr val="1B2923"/>
                    </a:solidFill>
                  </a:tcPr>
                </a:tc>
                <a:tc>
                  <a:txBody>
                    <a:bodyPr/>
                    <a:lstStyle/>
                    <a:p>
                      <a:pPr algn="l">
                        <a:buNone/>
                      </a:pPr>
                      <a:r>
                        <a:rPr sz="2025" b="0">
                          <a:solidFill>
                            <a:srgbClr val="F4F7F3"/>
                          </a:solidFill>
                          <a:latin typeface="Segoe UI"/>
                          <a:ea typeface="Segoe UI"/>
                          <a:cs typeface="Segoe UI"/>
                        </a:rPr>
                        <a:t>4,5</a:t>
                      </a:r>
                    </a:p>
                  </a:txBody>
                  <a:tcPr anchor="ctr">
                    <a:solidFill>
                      <a:srgbClr val="1B2923"/>
                    </a:solidFill>
                  </a:tcPr>
                </a:tc>
                <a:tc>
                  <a:txBody>
                    <a:bodyPr/>
                    <a:lstStyle/>
                    <a:p>
                      <a:pPr algn="l">
                        <a:buNone/>
                      </a:pPr>
                      <a:r>
                        <a:rPr sz="2025" b="0">
                          <a:solidFill>
                            <a:srgbClr val="F4F7F3"/>
                          </a:solidFill>
                          <a:latin typeface="Segoe UI"/>
                          <a:ea typeface="Segoe UI"/>
                          <a:cs typeface="Segoe UI"/>
                        </a:rPr>
                        <a:t>2</a:t>
                      </a:r>
                    </a:p>
                  </a:txBody>
                  <a:tcPr anchor="ctr">
                    <a:solidFill>
                      <a:srgbClr val="1B2923"/>
                    </a:solidFill>
                  </a:tcPr>
                </a:tc>
                <a:tc>
                  <a:txBody>
                    <a:bodyPr/>
                    <a:lstStyle/>
                    <a:p>
                      <a:pPr algn="l">
                        <a:buNone/>
                      </a:pPr>
                      <a:r>
                        <a:rPr sz="2025" b="0">
                          <a:solidFill>
                            <a:srgbClr val="F4F7F3"/>
                          </a:solidFill>
                          <a:latin typeface="Segoe UI"/>
                          <a:ea typeface="Segoe UI"/>
                          <a:cs typeface="Segoe UI"/>
                        </a:rPr>
                        <a:t>1,5</a:t>
                      </a:r>
                    </a:p>
                  </a:txBody>
                  <a:tcPr anchor="ctr">
                    <a:solidFill>
                      <a:srgbClr val="1B2923"/>
                    </a:solidFill>
                  </a:tcPr>
                </a:tc>
                <a:tc>
                  <a:txBody>
                    <a:bodyPr/>
                    <a:lstStyle/>
                    <a:p>
                      <a:pPr algn="l">
                        <a:buNone/>
                      </a:pPr>
                      <a:r>
                        <a:rPr sz="2025" b="0">
                          <a:solidFill>
                            <a:srgbClr val="F4F7F3"/>
                          </a:solidFill>
                          <a:latin typeface="Segoe UI"/>
                          <a:ea typeface="Segoe UI"/>
                          <a:cs typeface="Segoe UI"/>
                        </a:rPr>
                        <a:t>1,5</a:t>
                      </a:r>
                    </a:p>
                  </a:txBody>
                  <a:tcPr anchor="ctr">
                    <a:solidFill>
                      <a:srgbClr val="1B2923"/>
                    </a:solidFill>
                  </a:tcPr>
                </a:tc>
                <a:tc>
                  <a:txBody>
                    <a:bodyPr/>
                    <a:lstStyle/>
                    <a:p>
                      <a:pPr algn="l">
                        <a:buNone/>
                      </a:pPr>
                      <a:r>
                        <a:rPr sz="2025" b="0">
                          <a:solidFill>
                            <a:srgbClr val="F4F7F3"/>
                          </a:solidFill>
                          <a:latin typeface="Segoe UI"/>
                          <a:ea typeface="Segoe UI"/>
                          <a:cs typeface="Segoe UI"/>
                        </a:rPr>
                        <a:t>13</a:t>
                      </a:r>
                    </a:p>
                  </a:txBody>
                  <a:tcPr anchor="ctr">
                    <a:solidFill>
                      <a:srgbClr val="1B2923"/>
                    </a:solidFill>
                  </a:tcPr>
                </a:tc>
                <a:extLst>
                  <a:ext uri="{0D108BD9-81ED-4DB2-BD59-A6C34878D82A}">
                    <a16:rowId xmlns:a16="http://schemas.microsoft.com/office/drawing/2014/main" val="10001"/>
                  </a:ext>
                </a:extLst>
              </a:tr>
              <a:tr h="476250">
                <a:tc>
                  <a:txBody>
                    <a:bodyPr/>
                    <a:lstStyle/>
                    <a:p>
                      <a:pPr algn="l">
                        <a:buNone/>
                      </a:pPr>
                      <a:r>
                        <a:rPr sz="2025" b="0">
                          <a:solidFill>
                            <a:srgbClr val="F4F7F3"/>
                          </a:solidFill>
                          <a:latin typeface="Segoe UI"/>
                          <a:ea typeface="Segoe UI"/>
                          <a:cs typeface="Segoe UI"/>
                        </a:rPr>
                        <a:t>Socle produit</a:t>
                      </a:r>
                    </a:p>
                  </a:txBody>
                  <a:tcPr anchor="ctr">
                    <a:solidFill>
                      <a:srgbClr val="1B2923"/>
                    </a:solidFill>
                  </a:tcPr>
                </a:tc>
                <a:tc>
                  <a:txBody>
                    <a:bodyPr/>
                    <a:lstStyle/>
                    <a:p>
                      <a:pPr algn="l">
                        <a:buNone/>
                      </a:pPr>
                      <a:r>
                        <a:rPr sz="2025" b="0">
                          <a:solidFill>
                            <a:srgbClr val="F4F7F3"/>
                          </a:solidFill>
                          <a:latin typeface="Segoe UI"/>
                          <a:ea typeface="Segoe UI"/>
                          <a:cs typeface="Segoe UI"/>
                        </a:rPr>
                        <a:t>2</a:t>
                      </a:r>
                    </a:p>
                  </a:txBody>
                  <a:tcPr anchor="ctr">
                    <a:solidFill>
                      <a:srgbClr val="1B2923"/>
                    </a:solidFill>
                  </a:tcPr>
                </a:tc>
                <a:tc>
                  <a:txBody>
                    <a:bodyPr/>
                    <a:lstStyle/>
                    <a:p>
                      <a:pPr algn="l">
                        <a:buNone/>
                      </a:pPr>
                      <a:r>
                        <a:rPr sz="2025" b="0">
                          <a:solidFill>
                            <a:srgbClr val="F4F7F3"/>
                          </a:solidFill>
                          <a:latin typeface="Segoe UI"/>
                          <a:ea typeface="Segoe UI"/>
                          <a:cs typeface="Segoe UI"/>
                        </a:rPr>
                        <a:t>11</a:t>
                      </a:r>
                    </a:p>
                  </a:txBody>
                  <a:tcPr anchor="ctr">
                    <a:solidFill>
                      <a:srgbClr val="1B2923"/>
                    </a:solidFill>
                  </a:tcPr>
                </a:tc>
                <a:tc>
                  <a:txBody>
                    <a:bodyPr/>
                    <a:lstStyle/>
                    <a:p>
                      <a:pPr algn="l">
                        <a:buNone/>
                      </a:pPr>
                      <a:r>
                        <a:rPr sz="2025" b="0">
                          <a:solidFill>
                            <a:srgbClr val="F4F7F3"/>
                          </a:solidFill>
                          <a:latin typeface="Segoe UI"/>
                          <a:ea typeface="Segoe UI"/>
                          <a:cs typeface="Segoe UI"/>
                        </a:rPr>
                        <a:t>4,5</a:t>
                      </a:r>
                    </a:p>
                  </a:txBody>
                  <a:tcPr anchor="ctr">
                    <a:solidFill>
                      <a:srgbClr val="1B2923"/>
                    </a:solidFill>
                  </a:tcPr>
                </a:tc>
                <a:tc>
                  <a:txBody>
                    <a:bodyPr/>
                    <a:lstStyle/>
                    <a:p>
                      <a:pPr algn="l">
                        <a:buNone/>
                      </a:pPr>
                      <a:r>
                        <a:rPr sz="2025" b="0">
                          <a:solidFill>
                            <a:srgbClr val="F4F7F3"/>
                          </a:solidFill>
                          <a:latin typeface="Segoe UI"/>
                          <a:ea typeface="Segoe UI"/>
                          <a:cs typeface="Segoe UI"/>
                        </a:rPr>
                        <a:t>4</a:t>
                      </a:r>
                    </a:p>
                  </a:txBody>
                  <a:tcPr anchor="ctr">
                    <a:solidFill>
                      <a:srgbClr val="1B2923"/>
                    </a:solidFill>
                  </a:tcPr>
                </a:tc>
                <a:tc>
                  <a:txBody>
                    <a:bodyPr/>
                    <a:lstStyle/>
                    <a:p>
                      <a:pPr algn="l">
                        <a:buNone/>
                      </a:pPr>
                      <a:r>
                        <a:rPr sz="2025" b="0">
                          <a:solidFill>
                            <a:srgbClr val="F4F7F3"/>
                          </a:solidFill>
                          <a:latin typeface="Segoe UI"/>
                          <a:ea typeface="Segoe UI"/>
                          <a:cs typeface="Segoe UI"/>
                        </a:rPr>
                        <a:t>0,5</a:t>
                      </a:r>
                    </a:p>
                  </a:txBody>
                  <a:tcPr anchor="ctr">
                    <a:solidFill>
                      <a:srgbClr val="1B2923"/>
                    </a:solidFill>
                  </a:tcPr>
                </a:tc>
                <a:tc>
                  <a:txBody>
                    <a:bodyPr/>
                    <a:lstStyle/>
                    <a:p>
                      <a:pPr algn="l">
                        <a:buNone/>
                      </a:pPr>
                      <a:r>
                        <a:rPr sz="2025" b="0">
                          <a:solidFill>
                            <a:srgbClr val="F4F7F3"/>
                          </a:solidFill>
                          <a:latin typeface="Segoe UI"/>
                          <a:ea typeface="Segoe UI"/>
                          <a:cs typeface="Segoe UI"/>
                        </a:rPr>
                        <a:t>22</a:t>
                      </a:r>
                    </a:p>
                  </a:txBody>
                  <a:tcPr anchor="ctr">
                    <a:solidFill>
                      <a:srgbClr val="1B2923"/>
                    </a:solidFill>
                  </a:tcPr>
                </a:tc>
                <a:extLst>
                  <a:ext uri="{0D108BD9-81ED-4DB2-BD59-A6C34878D82A}">
                    <a16:rowId xmlns:a16="http://schemas.microsoft.com/office/drawing/2014/main" val="10002"/>
                  </a:ext>
                </a:extLst>
              </a:tr>
              <a:tr h="476250">
                <a:tc>
                  <a:txBody>
                    <a:bodyPr/>
                    <a:lstStyle/>
                    <a:p>
                      <a:pPr algn="l">
                        <a:buNone/>
                      </a:pPr>
                      <a:r>
                        <a:rPr sz="2025" b="0">
                          <a:solidFill>
                            <a:srgbClr val="F4F7F3"/>
                          </a:solidFill>
                          <a:latin typeface="Segoe UI"/>
                          <a:ea typeface="Segoe UI"/>
                          <a:cs typeface="Segoe UI"/>
                        </a:rPr>
                        <a:t>Recette / livraison</a:t>
                      </a:r>
                    </a:p>
                  </a:txBody>
                  <a:tcPr anchor="ctr">
                    <a:solidFill>
                      <a:srgbClr val="1B2923"/>
                    </a:solidFill>
                  </a:tcPr>
                </a:tc>
                <a:tc>
                  <a:txBody>
                    <a:bodyPr/>
                    <a:lstStyle/>
                    <a:p>
                      <a:pPr algn="l">
                        <a:buNone/>
                      </a:pPr>
                      <a:r>
                        <a:rPr sz="2025" b="0">
                          <a:solidFill>
                            <a:srgbClr val="F4F7F3"/>
                          </a:solidFill>
                          <a:latin typeface="Segoe UI"/>
                          <a:ea typeface="Segoe UI"/>
                          <a:cs typeface="Segoe UI"/>
                        </a:rPr>
                        <a:t>0,5</a:t>
                      </a:r>
                    </a:p>
                  </a:txBody>
                  <a:tcPr anchor="ctr">
                    <a:solidFill>
                      <a:srgbClr val="1B2923"/>
                    </a:solidFill>
                  </a:tcPr>
                </a:tc>
                <a:tc>
                  <a:txBody>
                    <a:bodyPr/>
                    <a:lstStyle/>
                    <a:p>
                      <a:pPr algn="l">
                        <a:buNone/>
                      </a:pPr>
                      <a:r>
                        <a:rPr sz="2025" b="0">
                          <a:solidFill>
                            <a:srgbClr val="F4F7F3"/>
                          </a:solidFill>
                          <a:latin typeface="Segoe UI"/>
                          <a:ea typeface="Segoe UI"/>
                          <a:cs typeface="Segoe UI"/>
                        </a:rPr>
                        <a:t>8,5</a:t>
                      </a:r>
                    </a:p>
                  </a:txBody>
                  <a:tcPr anchor="ctr">
                    <a:solidFill>
                      <a:srgbClr val="1B2923"/>
                    </a:solidFill>
                  </a:tcPr>
                </a:tc>
                <a:tc>
                  <a:txBody>
                    <a:bodyPr/>
                    <a:lstStyle/>
                    <a:p>
                      <a:pPr algn="l">
                        <a:buNone/>
                      </a:pPr>
                      <a:r>
                        <a:rPr sz="2025" b="0">
                          <a:solidFill>
                            <a:srgbClr val="F4F7F3"/>
                          </a:solidFill>
                          <a:latin typeface="Segoe UI"/>
                          <a:ea typeface="Segoe UI"/>
                          <a:cs typeface="Segoe UI"/>
                        </a:rPr>
                        <a:t>3</a:t>
                      </a:r>
                    </a:p>
                  </a:txBody>
                  <a:tcPr anchor="ctr">
                    <a:solidFill>
                      <a:srgbClr val="1B2923"/>
                    </a:solidFill>
                  </a:tcPr>
                </a:tc>
                <a:tc>
                  <a:txBody>
                    <a:bodyPr/>
                    <a:lstStyle/>
                    <a:p>
                      <a:pPr algn="l">
                        <a:buNone/>
                      </a:pPr>
                      <a:r>
                        <a:rPr sz="2025" b="0">
                          <a:solidFill>
                            <a:srgbClr val="F4F7F3"/>
                          </a:solidFill>
                          <a:latin typeface="Segoe UI"/>
                          <a:ea typeface="Segoe UI"/>
                          <a:cs typeface="Segoe UI"/>
                        </a:rPr>
                        <a:t>2,5</a:t>
                      </a:r>
                    </a:p>
                  </a:txBody>
                  <a:tcPr anchor="ctr">
                    <a:solidFill>
                      <a:srgbClr val="1B2923"/>
                    </a:solidFill>
                  </a:tcPr>
                </a:tc>
                <a:tc>
                  <a:txBody>
                    <a:bodyPr/>
                    <a:lstStyle/>
                    <a:p>
                      <a:pPr algn="l">
                        <a:buNone/>
                      </a:pPr>
                      <a:r>
                        <a:rPr sz="2025" b="0">
                          <a:solidFill>
                            <a:srgbClr val="F4F7F3"/>
                          </a:solidFill>
                          <a:latin typeface="Segoe UI"/>
                          <a:ea typeface="Segoe UI"/>
                          <a:cs typeface="Segoe UI"/>
                        </a:rPr>
                        <a:t>0,5</a:t>
                      </a:r>
                    </a:p>
                  </a:txBody>
                  <a:tcPr anchor="ctr">
                    <a:solidFill>
                      <a:srgbClr val="1B2923"/>
                    </a:solidFill>
                  </a:tcPr>
                </a:tc>
                <a:tc>
                  <a:txBody>
                    <a:bodyPr/>
                    <a:lstStyle/>
                    <a:p>
                      <a:pPr algn="l">
                        <a:buNone/>
                      </a:pPr>
                      <a:r>
                        <a:rPr sz="2025" b="0">
                          <a:solidFill>
                            <a:srgbClr val="F4F7F3"/>
                          </a:solidFill>
                          <a:latin typeface="Segoe UI"/>
                          <a:ea typeface="Segoe UI"/>
                          <a:cs typeface="Segoe UI"/>
                        </a:rPr>
                        <a:t>15</a:t>
                      </a:r>
                    </a:p>
                  </a:txBody>
                  <a:tcPr anchor="ctr">
                    <a:solidFill>
                      <a:srgbClr val="1B2923"/>
                    </a:solidFill>
                  </a:tcPr>
                </a:tc>
                <a:extLst>
                  <a:ext uri="{0D108BD9-81ED-4DB2-BD59-A6C34878D82A}">
                    <a16:rowId xmlns:a16="http://schemas.microsoft.com/office/drawing/2014/main" val="10003"/>
                  </a:ext>
                </a:extLst>
              </a:tr>
              <a:tr h="476250">
                <a:tc>
                  <a:txBody>
                    <a:bodyPr/>
                    <a:lstStyle/>
                    <a:p>
                      <a:pPr algn="l">
                        <a:buNone/>
                      </a:pPr>
                      <a:r>
                        <a:rPr sz="2025" b="0">
                          <a:solidFill>
                            <a:srgbClr val="F4F7F3"/>
                          </a:solidFill>
                          <a:latin typeface="Segoe UI"/>
                          <a:ea typeface="Segoe UI"/>
                          <a:cs typeface="Segoe UI"/>
                        </a:rPr>
                        <a:t>Programmes / UX</a:t>
                      </a:r>
                    </a:p>
                  </a:txBody>
                  <a:tcPr anchor="ctr">
                    <a:solidFill>
                      <a:srgbClr val="1B2923"/>
                    </a:solidFill>
                  </a:tcPr>
                </a:tc>
                <a:tc>
                  <a:txBody>
                    <a:bodyPr/>
                    <a:lstStyle/>
                    <a:p>
                      <a:pPr algn="l">
                        <a:buNone/>
                      </a:pPr>
                      <a:r>
                        <a:rPr sz="2025" b="0">
                          <a:solidFill>
                            <a:srgbClr val="F4F7F3"/>
                          </a:solidFill>
                          <a:latin typeface="Segoe UI"/>
                          <a:ea typeface="Segoe UI"/>
                          <a:cs typeface="Segoe UI"/>
                        </a:rPr>
                        <a:t>1,5</a:t>
                      </a:r>
                    </a:p>
                  </a:txBody>
                  <a:tcPr anchor="ctr">
                    <a:solidFill>
                      <a:srgbClr val="1B2923"/>
                    </a:solidFill>
                  </a:tcPr>
                </a:tc>
                <a:tc>
                  <a:txBody>
                    <a:bodyPr/>
                    <a:lstStyle/>
                    <a:p>
                      <a:pPr algn="l">
                        <a:buNone/>
                      </a:pPr>
                      <a:r>
                        <a:rPr sz="2025" b="0">
                          <a:solidFill>
                            <a:srgbClr val="F4F7F3"/>
                          </a:solidFill>
                          <a:latin typeface="Segoe UI"/>
                          <a:ea typeface="Segoe UI"/>
                          <a:cs typeface="Segoe UI"/>
                        </a:rPr>
                        <a:t>9,5</a:t>
                      </a:r>
                    </a:p>
                  </a:txBody>
                  <a:tcPr anchor="ctr">
                    <a:solidFill>
                      <a:srgbClr val="1B2923"/>
                    </a:solidFill>
                  </a:tcPr>
                </a:tc>
                <a:tc>
                  <a:txBody>
                    <a:bodyPr/>
                    <a:lstStyle/>
                    <a:p>
                      <a:pPr algn="l">
                        <a:buNone/>
                      </a:pPr>
                      <a:r>
                        <a:rPr sz="2025" b="0">
                          <a:solidFill>
                            <a:srgbClr val="F4F7F3"/>
                          </a:solidFill>
                          <a:latin typeface="Segoe UI"/>
                          <a:ea typeface="Segoe UI"/>
                          <a:cs typeface="Segoe UI"/>
                        </a:rPr>
                        <a:t>3,5</a:t>
                      </a:r>
                    </a:p>
                  </a:txBody>
                  <a:tcPr anchor="ctr">
                    <a:solidFill>
                      <a:srgbClr val="1B2923"/>
                    </a:solidFill>
                  </a:tcPr>
                </a:tc>
                <a:tc>
                  <a:txBody>
                    <a:bodyPr/>
                    <a:lstStyle/>
                    <a:p>
                      <a:pPr algn="l">
                        <a:buNone/>
                      </a:pPr>
                      <a:r>
                        <a:rPr sz="2025" b="0">
                          <a:solidFill>
                            <a:srgbClr val="F4F7F3"/>
                          </a:solidFill>
                          <a:latin typeface="Segoe UI"/>
                          <a:ea typeface="Segoe UI"/>
                          <a:cs typeface="Segoe UI"/>
                        </a:rPr>
                        <a:t>1,5</a:t>
                      </a:r>
                    </a:p>
                  </a:txBody>
                  <a:tcPr anchor="ctr">
                    <a:solidFill>
                      <a:srgbClr val="1B2923"/>
                    </a:solidFill>
                  </a:tcPr>
                </a:tc>
                <a:tc>
                  <a:txBody>
                    <a:bodyPr/>
                    <a:lstStyle/>
                    <a:p>
                      <a:pPr algn="l">
                        <a:buNone/>
                      </a:pPr>
                      <a:r>
                        <a:rPr sz="2025" b="0">
                          <a:solidFill>
                            <a:srgbClr val="F4F7F3"/>
                          </a:solidFill>
                          <a:latin typeface="Segoe UI"/>
                          <a:ea typeface="Segoe UI"/>
                          <a:cs typeface="Segoe UI"/>
                        </a:rPr>
                        <a:t>1</a:t>
                      </a:r>
                    </a:p>
                  </a:txBody>
                  <a:tcPr anchor="ctr">
                    <a:solidFill>
                      <a:srgbClr val="1B2923"/>
                    </a:solidFill>
                  </a:tcPr>
                </a:tc>
                <a:tc>
                  <a:txBody>
                    <a:bodyPr/>
                    <a:lstStyle/>
                    <a:p>
                      <a:pPr algn="l">
                        <a:buNone/>
                      </a:pPr>
                      <a:r>
                        <a:rPr sz="2025" b="0">
                          <a:solidFill>
                            <a:srgbClr val="F4F7F3"/>
                          </a:solidFill>
                          <a:latin typeface="Segoe UI"/>
                          <a:ea typeface="Segoe UI"/>
                          <a:cs typeface="Segoe UI"/>
                        </a:rPr>
                        <a:t>17</a:t>
                      </a:r>
                    </a:p>
                  </a:txBody>
                  <a:tcPr anchor="ctr">
                    <a:solidFill>
                      <a:srgbClr val="1B2923"/>
                    </a:solidFill>
                  </a:tcPr>
                </a:tc>
                <a:extLst>
                  <a:ext uri="{0D108BD9-81ED-4DB2-BD59-A6C34878D82A}">
                    <a16:rowId xmlns:a16="http://schemas.microsoft.com/office/drawing/2014/main" val="10004"/>
                  </a:ext>
                </a:extLst>
              </a:tr>
              <a:tr h="476250">
                <a:tc>
                  <a:txBody>
                    <a:bodyPr/>
                    <a:lstStyle/>
                    <a:p>
                      <a:pPr algn="l">
                        <a:buNone/>
                      </a:pPr>
                      <a:r>
                        <a:rPr sz="2025" b="0">
                          <a:solidFill>
                            <a:srgbClr val="F4F7F3"/>
                          </a:solidFill>
                          <a:latin typeface="Segoe UI"/>
                          <a:ea typeface="Segoe UI"/>
                          <a:cs typeface="Segoe UI"/>
                        </a:rPr>
                        <a:t>Stabilisation</a:t>
                      </a:r>
                    </a:p>
                  </a:txBody>
                  <a:tcPr anchor="ctr">
                    <a:solidFill>
                      <a:srgbClr val="1B2923"/>
                    </a:solidFill>
                  </a:tcPr>
                </a:tc>
                <a:tc>
                  <a:txBody>
                    <a:bodyPr/>
                    <a:lstStyle/>
                    <a:p>
                      <a:pPr algn="l">
                        <a:buNone/>
                      </a:pPr>
                      <a:r>
                        <a:rPr sz="2025" b="0">
                          <a:solidFill>
                            <a:srgbClr val="F4F7F3"/>
                          </a:solidFill>
                          <a:latin typeface="Segoe UI"/>
                          <a:ea typeface="Segoe UI"/>
                          <a:cs typeface="Segoe UI"/>
                        </a:rPr>
                        <a:t>2,5</a:t>
                      </a:r>
                    </a:p>
                  </a:txBody>
                  <a:tcPr anchor="ctr">
                    <a:solidFill>
                      <a:srgbClr val="1B2923"/>
                    </a:solidFill>
                  </a:tcPr>
                </a:tc>
                <a:tc>
                  <a:txBody>
                    <a:bodyPr/>
                    <a:lstStyle/>
                    <a:p>
                      <a:pPr algn="l">
                        <a:buNone/>
                      </a:pPr>
                      <a:r>
                        <a:rPr sz="2025" b="0">
                          <a:solidFill>
                            <a:srgbClr val="F4F7F3"/>
                          </a:solidFill>
                          <a:latin typeface="Segoe UI"/>
                          <a:ea typeface="Segoe UI"/>
                          <a:cs typeface="Segoe UI"/>
                        </a:rPr>
                        <a:t>6,5</a:t>
                      </a:r>
                    </a:p>
                  </a:txBody>
                  <a:tcPr anchor="ctr">
                    <a:solidFill>
                      <a:srgbClr val="1B2923"/>
                    </a:solidFill>
                  </a:tcPr>
                </a:tc>
                <a:tc>
                  <a:txBody>
                    <a:bodyPr/>
                    <a:lstStyle/>
                    <a:p>
                      <a:pPr algn="l">
                        <a:buNone/>
                      </a:pPr>
                      <a:r>
                        <a:rPr sz="2025" b="0">
                          <a:solidFill>
                            <a:srgbClr val="F4F7F3"/>
                          </a:solidFill>
                          <a:latin typeface="Segoe UI"/>
                          <a:ea typeface="Segoe UI"/>
                          <a:cs typeface="Segoe UI"/>
                        </a:rPr>
                        <a:t>3</a:t>
                      </a:r>
                    </a:p>
                  </a:txBody>
                  <a:tcPr anchor="ctr">
                    <a:solidFill>
                      <a:srgbClr val="1B2923"/>
                    </a:solidFill>
                  </a:tcPr>
                </a:tc>
                <a:tc>
                  <a:txBody>
                    <a:bodyPr/>
                    <a:lstStyle/>
                    <a:p>
                      <a:pPr algn="l">
                        <a:buNone/>
                      </a:pPr>
                      <a:r>
                        <a:rPr sz="2025" b="0">
                          <a:solidFill>
                            <a:srgbClr val="F4F7F3"/>
                          </a:solidFill>
                          <a:latin typeface="Segoe UI"/>
                          <a:ea typeface="Segoe UI"/>
                          <a:cs typeface="Segoe UI"/>
                        </a:rPr>
                        <a:t>0,5</a:t>
                      </a:r>
                    </a:p>
                  </a:txBody>
                  <a:tcPr anchor="ctr">
                    <a:solidFill>
                      <a:srgbClr val="1B2923"/>
                    </a:solidFill>
                  </a:tcPr>
                </a:tc>
                <a:tc>
                  <a:txBody>
                    <a:bodyPr/>
                    <a:lstStyle/>
                    <a:p>
                      <a:pPr algn="l">
                        <a:buNone/>
                      </a:pPr>
                      <a:r>
                        <a:rPr sz="2025" b="0">
                          <a:solidFill>
                            <a:srgbClr val="F4F7F3"/>
                          </a:solidFill>
                          <a:latin typeface="Segoe UI"/>
                          <a:ea typeface="Segoe UI"/>
                          <a:cs typeface="Segoe UI"/>
                        </a:rPr>
                        <a:t>1,5</a:t>
                      </a:r>
                    </a:p>
                  </a:txBody>
                  <a:tcPr anchor="ctr">
                    <a:solidFill>
                      <a:srgbClr val="1B2923"/>
                    </a:solidFill>
                  </a:tcPr>
                </a:tc>
                <a:tc>
                  <a:txBody>
                    <a:bodyPr/>
                    <a:lstStyle/>
                    <a:p>
                      <a:pPr algn="l">
                        <a:buNone/>
                      </a:pPr>
                      <a:r>
                        <a:rPr sz="2025" b="0">
                          <a:solidFill>
                            <a:srgbClr val="F4F7F3"/>
                          </a:solidFill>
                          <a:latin typeface="Segoe UI"/>
                          <a:ea typeface="Segoe UI"/>
                          <a:cs typeface="Segoe UI"/>
                        </a:rPr>
                        <a:t>14</a:t>
                      </a:r>
                    </a:p>
                  </a:txBody>
                  <a:tcPr anchor="ctr">
                    <a:solidFill>
                      <a:srgbClr val="1B2923"/>
                    </a:solidFill>
                  </a:tcPr>
                </a:tc>
                <a:extLst>
                  <a:ext uri="{0D108BD9-81ED-4DB2-BD59-A6C34878D82A}">
                    <a16:rowId xmlns:a16="http://schemas.microsoft.com/office/drawing/2014/main" val="10005"/>
                  </a:ext>
                </a:extLst>
              </a:tr>
              <a:tr h="476250">
                <a:tc>
                  <a:txBody>
                    <a:bodyPr/>
                    <a:lstStyle/>
                    <a:p>
                      <a:pPr algn="l">
                        <a:buNone/>
                      </a:pPr>
                      <a:r>
                        <a:rPr sz="2025" b="0">
                          <a:solidFill>
                            <a:srgbClr val="F4F7F3"/>
                          </a:solidFill>
                          <a:latin typeface="Segoe UI"/>
                          <a:ea typeface="Segoe UI"/>
                          <a:cs typeface="Segoe UI"/>
                        </a:rPr>
                        <a:t>Total JH</a:t>
                      </a:r>
                    </a:p>
                  </a:txBody>
                  <a:tcPr anchor="ctr">
                    <a:solidFill>
                      <a:srgbClr val="1B2923"/>
                    </a:solidFill>
                  </a:tcPr>
                </a:tc>
                <a:tc>
                  <a:txBody>
                    <a:bodyPr/>
                    <a:lstStyle/>
                    <a:p>
                      <a:pPr algn="l">
                        <a:buNone/>
                      </a:pPr>
                      <a:r>
                        <a:rPr sz="2025" b="0">
                          <a:solidFill>
                            <a:srgbClr val="F4F7F3"/>
                          </a:solidFill>
                          <a:latin typeface="Segoe UI"/>
                          <a:ea typeface="Segoe UI"/>
                          <a:cs typeface="Segoe UI"/>
                        </a:rPr>
                        <a:t>10</a:t>
                      </a:r>
                    </a:p>
                  </a:txBody>
                  <a:tcPr anchor="ctr">
                    <a:solidFill>
                      <a:srgbClr val="1B2923"/>
                    </a:solidFill>
                  </a:tcPr>
                </a:tc>
                <a:tc>
                  <a:txBody>
                    <a:bodyPr/>
                    <a:lstStyle/>
                    <a:p>
                      <a:pPr algn="l">
                        <a:buNone/>
                      </a:pPr>
                      <a:r>
                        <a:rPr sz="2025" b="0">
                          <a:solidFill>
                            <a:srgbClr val="F4F7F3"/>
                          </a:solidFill>
                          <a:latin typeface="Segoe UI"/>
                          <a:ea typeface="Segoe UI"/>
                          <a:cs typeface="Segoe UI"/>
                        </a:rPr>
                        <a:t>40</a:t>
                      </a:r>
                    </a:p>
                  </a:txBody>
                  <a:tcPr anchor="ctr">
                    <a:solidFill>
                      <a:srgbClr val="1B2923"/>
                    </a:solidFill>
                  </a:tcPr>
                </a:tc>
                <a:tc>
                  <a:txBody>
                    <a:bodyPr/>
                    <a:lstStyle/>
                    <a:p>
                      <a:pPr algn="l">
                        <a:buNone/>
                      </a:pPr>
                      <a:r>
                        <a:rPr sz="2025" b="0">
                          <a:solidFill>
                            <a:srgbClr val="F4F7F3"/>
                          </a:solidFill>
                          <a:latin typeface="Segoe UI"/>
                          <a:ea typeface="Segoe UI"/>
                          <a:cs typeface="Segoe UI"/>
                        </a:rPr>
                        <a:t>16</a:t>
                      </a:r>
                    </a:p>
                  </a:txBody>
                  <a:tcPr anchor="ctr">
                    <a:solidFill>
                      <a:srgbClr val="1B2923"/>
                    </a:solidFill>
                  </a:tcPr>
                </a:tc>
                <a:tc>
                  <a:txBody>
                    <a:bodyPr/>
                    <a:lstStyle/>
                    <a:p>
                      <a:pPr algn="l">
                        <a:buNone/>
                      </a:pPr>
                      <a:r>
                        <a:rPr sz="2025" b="0">
                          <a:solidFill>
                            <a:srgbClr val="F4F7F3"/>
                          </a:solidFill>
                          <a:latin typeface="Segoe UI"/>
                          <a:ea typeface="Segoe UI"/>
                          <a:cs typeface="Segoe UI"/>
                        </a:rPr>
                        <a:t>10</a:t>
                      </a:r>
                    </a:p>
                  </a:txBody>
                  <a:tcPr anchor="ctr">
                    <a:solidFill>
                      <a:srgbClr val="1B2923"/>
                    </a:solidFill>
                  </a:tcPr>
                </a:tc>
                <a:tc>
                  <a:txBody>
                    <a:bodyPr/>
                    <a:lstStyle/>
                    <a:p>
                      <a:pPr algn="l">
                        <a:buNone/>
                      </a:pPr>
                      <a:r>
                        <a:rPr sz="2025" b="0">
                          <a:solidFill>
                            <a:srgbClr val="F4F7F3"/>
                          </a:solidFill>
                          <a:latin typeface="Segoe UI"/>
                          <a:ea typeface="Segoe UI"/>
                          <a:cs typeface="Segoe UI"/>
                        </a:rPr>
                        <a:t>5</a:t>
                      </a:r>
                    </a:p>
                  </a:txBody>
                  <a:tcPr anchor="ctr">
                    <a:solidFill>
                      <a:srgbClr val="1B2923"/>
                    </a:solidFill>
                  </a:tcPr>
                </a:tc>
                <a:tc>
                  <a:txBody>
                    <a:bodyPr/>
                    <a:lstStyle/>
                    <a:p>
                      <a:pPr algn="l">
                        <a:buNone/>
                      </a:pPr>
                      <a:r>
                        <a:rPr sz="2025" b="0">
                          <a:solidFill>
                            <a:srgbClr val="F4F7F3"/>
                          </a:solidFill>
                          <a:latin typeface="Segoe UI"/>
                          <a:ea typeface="Segoe UI"/>
                          <a:cs typeface="Segoe UI"/>
                        </a:rPr>
                        <a:t>81</a:t>
                      </a:r>
                    </a:p>
                  </a:txBody>
                  <a:tcPr anchor="ctr">
                    <a:solidFill>
                      <a:srgbClr val="1B2923"/>
                    </a:solidFill>
                  </a:tcPr>
                </a:tc>
                <a:extLst>
                  <a:ext uri="{0D108BD9-81ED-4DB2-BD59-A6C34878D82A}">
                    <a16:rowId xmlns:a16="http://schemas.microsoft.com/office/drawing/2014/main" val="10006"/>
                  </a:ext>
                </a:extLst>
              </a:tr>
            </a:tbl>
          </a:graphicData>
        </a:graphic>
      </p:graphicFrame>
      <p:sp>
        <p:nvSpPr>
          <p:cNvPr id="26" name="Rectangle 25">
            <a:extLst>
              <a:ext uri="{FF2B5EF4-FFF2-40B4-BE49-F238E27FC236}">
                <a16:creationId xmlns:a16="http://schemas.microsoft.com/office/drawing/2014/main" id="{C0BDF488-9090-469F-968A-506AA95FFD82}"/>
              </a:ext>
            </a:extLst>
          </p:cNvPr>
          <p:cNvSpPr>
            <a:spLocks noGrp="1"/>
          </p:cNvSpPr>
          <p:nvPr/>
        </p:nvSpPr>
        <p:spPr>
          <a:xfrm>
            <a:off x="609600" y="5657850"/>
            <a:ext cx="10972800" cy="409575"/>
          </a:xfrm>
          <a:prstGeom prst="rect">
            <a:avLst/>
          </a:prstGeom>
          <a:noFill/>
          <a:ln w="0">
            <a:noFill/>
          </a:ln>
        </p:spPr>
        <p:txBody>
          <a:bodyPr wrap="square" lIns="0" tIns="0" rIns="0" bIns="0" anchor="t">
            <a:noAutofit/>
          </a:bodyPr>
          <a:lstStyle/>
          <a:p>
            <a:pPr algn="l">
              <a:buNone/>
              <a:defRPr sz="2250" b="1">
                <a:solidFill>
                  <a:srgbClr val="BACDB7"/>
                </a:solidFill>
                <a:latin typeface="Segoe UI"/>
                <a:ea typeface="Segoe UI"/>
                <a:cs typeface="Segoe UI"/>
              </a:defRPr>
            </a:pPr>
            <a:r>
              <a:rPr sz="2250" b="1">
                <a:solidFill>
                  <a:srgbClr val="BACDB7"/>
                </a:solidFill>
                <a:latin typeface="Segoe UI"/>
                <a:ea typeface="Segoe UI"/>
                <a:cs typeface="Segoe UI"/>
              </a:rPr>
              <a:t>Même enveloppe : 81 JH = 567 h = 36 450 € HT de travail</a:t>
            </a:r>
          </a:p>
        </p:txBody>
      </p:sp>
      <p:sp>
        <p:nvSpPr>
          <p:cNvPr id="30" name="Rectangle 29">
            <a:extLst>
              <a:ext uri="{FF2B5EF4-FFF2-40B4-BE49-F238E27FC236}">
                <a16:creationId xmlns:a16="http://schemas.microsoft.com/office/drawing/2014/main" id="{70CF8208-C67D-49E2-A370-9EA324B0A2E1}"/>
              </a:ext>
            </a:extLst>
          </p:cNvPr>
          <p:cNvSpPr>
            <a:spLocks noGrp="1"/>
          </p:cNvSpPr>
          <p:nvPr/>
        </p:nvSpPr>
        <p:spPr>
          <a:xfrm>
            <a:off x="11049000" y="6438900"/>
            <a:ext cx="533400" cy="228600"/>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11</a:t>
            </a:r>
          </a:p>
        </p:txBody>
      </p:sp>
    </p:spTree>
    <p:extLst>
      <p:ext uri="{BB962C8B-B14F-4D97-AF65-F5344CB8AC3E}">
        <p14:creationId xmlns:p14="http://schemas.microsoft.com/office/powerpoint/2010/main" val="1622956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B2923"/>
        </a:solidFill>
        <a:effectLst/>
      </p:bgPr>
    </p:bg>
    <p:spTree>
      <p:nvGrpSpPr>
        <p:cNvPr id="1" name=""/>
        <p:cNvGrpSpPr/>
        <p:nvPr/>
      </p:nvGrpSpPr>
      <p:grpSpPr>
        <a:xfrm>
          <a:off x="0" y="0"/>
          <a:ext cx="0" cy="0"/>
          <a:chOff x="0" y="0"/>
          <a:chExt cx="0" cy="0"/>
        </a:xfrm>
      </p:grpSpPr>
      <p:pic>
        <p:nvPicPr>
          <p:cNvPr id="58" name="Image 57"/>
          <p:cNvPicPr>
            <a:picLocks noChangeAspect="1"/>
          </p:cNvPicPr>
          <p:nvPr/>
        </p:nvPicPr>
        <p:blipFill>
          <a:blip r:embed="rId3"/>
          <a:srcRect t="27" b="27"/>
          <a:stretch>
            <a:fillRect/>
          </a:stretch>
        </p:blipFill>
        <p:spPr>
          <a:xfrm>
            <a:off x="0" y="0"/>
            <a:ext cx="12192000" cy="6858000"/>
          </a:xfrm>
          <a:prstGeom prst="rect">
            <a:avLst/>
          </a:prstGeom>
        </p:spPr>
      </p:pic>
      <p:sp>
        <p:nvSpPr>
          <p:cNvPr id="50" name="Rectangle 49">
            <a:extLst>
              <a:ext uri="{FF2B5EF4-FFF2-40B4-BE49-F238E27FC236}">
                <a16:creationId xmlns:a16="http://schemas.microsoft.com/office/drawing/2014/main" id="{428CA8BB-0900-428A-987E-8CF4D2034160}"/>
              </a:ext>
            </a:extLst>
          </p:cNvPr>
          <p:cNvSpPr>
            <a:spLocks noGrp="1"/>
          </p:cNvSpPr>
          <p:nvPr/>
        </p:nvSpPr>
        <p:spPr>
          <a:xfrm>
            <a:off x="609600" y="609600"/>
            <a:ext cx="10972800" cy="704850"/>
          </a:xfrm>
          <a:prstGeom prst="rect">
            <a:avLst/>
          </a:prstGeom>
          <a:noFill/>
          <a:ln w="0">
            <a:noFill/>
          </a:ln>
        </p:spPr>
        <p:txBody>
          <a:bodyPr wrap="square" lIns="0" tIns="0" rIns="0" bIns="0" anchor="t">
            <a:noAutofit/>
          </a:bodyPr>
          <a:lstStyle/>
          <a:p>
            <a:pPr algn="l">
              <a:buNone/>
              <a:defRPr sz="3450" b="1">
                <a:solidFill>
                  <a:srgbClr val="F4F7F3"/>
                </a:solidFill>
                <a:latin typeface="Segoe UI"/>
                <a:ea typeface="Segoe UI"/>
                <a:cs typeface="Segoe UI"/>
              </a:defRPr>
            </a:pPr>
            <a:r>
              <a:rPr sz="3450" b="1">
                <a:solidFill>
                  <a:srgbClr val="F4F7F3"/>
                </a:solidFill>
                <a:latin typeface="Segoe UI"/>
                <a:ea typeface="Segoe UI"/>
                <a:cs typeface="Segoe UI"/>
              </a:rPr>
              <a:t>Le report de l’export PDF</a:t>
            </a:r>
          </a:p>
        </p:txBody>
      </p:sp>
      <p:graphicFrame>
        <p:nvGraphicFramePr>
          <p:cNvPr id="61" name="Tableau 60"/>
          <p:cNvGraphicFramePr/>
          <p:nvPr/>
        </p:nvGraphicFramePr>
        <p:xfrm>
          <a:off x="609600" y="2038350"/>
          <a:ext cx="10972800" cy="3733800"/>
        </p:xfrm>
        <a:graphic>
          <a:graphicData uri="http://schemas.openxmlformats.org/drawingml/2006/table">
            <a:tbl>
              <a:tblPr/>
              <a:tblGrid>
                <a:gridCol w="2952750">
                  <a:extLst>
                    <a:ext uri="{9D8B030D-6E8A-4147-A177-3AD203B41FA5}">
                      <a16:colId xmlns:a16="http://schemas.microsoft.com/office/drawing/2014/main" val="20000"/>
                    </a:ext>
                  </a:extLst>
                </a:gridCol>
                <a:gridCol w="8020050">
                  <a:extLst>
                    <a:ext uri="{9D8B030D-6E8A-4147-A177-3AD203B41FA5}">
                      <a16:colId xmlns:a16="http://schemas.microsoft.com/office/drawing/2014/main" val="20001"/>
                    </a:ext>
                  </a:extLst>
                </a:gridCol>
              </a:tblGrid>
              <a:tr h="504825">
                <a:tc>
                  <a:txBody>
                    <a:bodyPr/>
                    <a:lstStyle/>
                    <a:p>
                      <a:pPr algn="l">
                        <a:buNone/>
                      </a:pPr>
                      <a:r>
                        <a:rPr sz="1950" b="1">
                          <a:solidFill>
                            <a:srgbClr val="BACDB7"/>
                          </a:solidFill>
                          <a:latin typeface="Segoe UI"/>
                          <a:ea typeface="Segoe UI"/>
                          <a:cs typeface="Segoe UI"/>
                        </a:rPr>
                        <a:t>Point du compte rendu</a:t>
                      </a:r>
                    </a:p>
                  </a:txBody>
                  <a:tcPr marL="95250" marR="76200" marT="0" marB="0" anchor="ctr">
                    <a:solidFill>
                      <a:srgbClr val="213B2E"/>
                    </a:solidFill>
                  </a:tcPr>
                </a:tc>
                <a:tc>
                  <a:txBody>
                    <a:bodyPr/>
                    <a:lstStyle/>
                    <a:p>
                      <a:pPr algn="l">
                        <a:buNone/>
                      </a:pPr>
                      <a:r>
                        <a:rPr sz="1950" b="1">
                          <a:solidFill>
                            <a:srgbClr val="BACDB7"/>
                          </a:solidFill>
                          <a:latin typeface="Segoe UI"/>
                          <a:ea typeface="Segoe UI"/>
                          <a:cs typeface="Segoe UI"/>
                        </a:rPr>
                        <a:t>Demande, décision et suite</a:t>
                      </a:r>
                    </a:p>
                  </a:txBody>
                  <a:tcPr marL="95250" marR="76200" marT="0" marB="0" anchor="ctr">
                    <a:solidFill>
                      <a:srgbClr val="213B2E"/>
                    </a:solidFill>
                  </a:tcPr>
                </a:tc>
                <a:extLst>
                  <a:ext uri="{0D108BD9-81ED-4DB2-BD59-A6C34878D82A}">
                    <a16:rowId xmlns:a16="http://schemas.microsoft.com/office/drawing/2014/main" val="10000"/>
                  </a:ext>
                </a:extLst>
              </a:tr>
              <a:tr h="523875">
                <a:tc>
                  <a:txBody>
                    <a:bodyPr/>
                    <a:lstStyle/>
                    <a:p>
                      <a:pPr algn="l">
                        <a:buNone/>
                      </a:pPr>
                      <a:r>
                        <a:rPr sz="1950" b="0">
                          <a:solidFill>
                            <a:srgbClr val="F4F7F3"/>
                          </a:solidFill>
                          <a:latin typeface="Segoe UI"/>
                          <a:ea typeface="Segoe UI"/>
                          <a:cs typeface="Segoe UI"/>
                        </a:rPr>
                        <a:t>Évolution du besoin</a:t>
                      </a:r>
                    </a:p>
                  </a:txBody>
                  <a:tcPr marL="95250" marR="76200" marT="0" marB="0" anchor="ctr">
                    <a:solidFill>
                      <a:srgbClr val="1B2923"/>
                    </a:solidFill>
                  </a:tcPr>
                </a:tc>
                <a:tc>
                  <a:txBody>
                    <a:bodyPr/>
                    <a:lstStyle/>
                    <a:p>
                      <a:pPr algn="l">
                        <a:buNone/>
                      </a:pPr>
                      <a:r>
                        <a:rPr sz="1950" b="0">
                          <a:solidFill>
                            <a:srgbClr val="F4F7F3"/>
                          </a:solidFill>
                          <a:latin typeface="Segoe UI"/>
                          <a:ea typeface="Segoe UI"/>
                          <a:cs typeface="Segoe UI"/>
                        </a:rPr>
                        <a:t>Avancer l’export PDF avant le pilote</a:t>
                      </a:r>
                    </a:p>
                  </a:txBody>
                  <a:tcPr marL="95250" marR="76200" marT="0" marB="0" anchor="ctr">
                    <a:solidFill>
                      <a:srgbClr val="1B2923"/>
                    </a:solidFill>
                  </a:tcPr>
                </a:tc>
                <a:extLst>
                  <a:ext uri="{0D108BD9-81ED-4DB2-BD59-A6C34878D82A}">
                    <a16:rowId xmlns:a16="http://schemas.microsoft.com/office/drawing/2014/main" val="10001"/>
                  </a:ext>
                </a:extLst>
              </a:tr>
              <a:tr h="800100">
                <a:tc>
                  <a:txBody>
                    <a:bodyPr/>
                    <a:lstStyle/>
                    <a:p>
                      <a:pPr algn="l">
                        <a:buNone/>
                      </a:pPr>
                      <a:r>
                        <a:rPr sz="1950" b="0">
                          <a:solidFill>
                            <a:srgbClr val="F4F7F3"/>
                          </a:solidFill>
                          <a:latin typeface="Segoe UI"/>
                          <a:ea typeface="Segoe UI"/>
                          <a:cs typeface="Segoe UI"/>
                        </a:rPr>
                        <a:t>Estimation</a:t>
                      </a:r>
                    </a:p>
                  </a:txBody>
                  <a:tcPr marL="95250" marR="76200" marT="0" marB="0" anchor="ctr">
                    <a:solidFill>
                      <a:srgbClr val="1B2923"/>
                    </a:solidFill>
                  </a:tcPr>
                </a:tc>
                <a:tc>
                  <a:txBody>
                    <a:bodyPr/>
                    <a:lstStyle/>
                    <a:p>
                      <a:pPr algn="l">
                        <a:buNone/>
                      </a:pPr>
                      <a:r>
                        <a:rPr sz="1950" b="0">
                          <a:solidFill>
                            <a:srgbClr val="F4F7F3"/>
                          </a:solidFill>
                          <a:latin typeface="Segoe UI"/>
                          <a:ea typeface="Segoe UI"/>
                          <a:cs typeface="Segoe UI"/>
                        </a:rPr>
                        <a:t>Kevin : 2 j de développement + QA : 1 j de tests</a:t>
                      </a:r>
                    </a:p>
                    <a:p>
                      <a:pPr algn="l">
                        <a:buNone/>
                      </a:pPr>
                      <a:r>
                        <a:rPr sz="1950" b="0">
                          <a:solidFill>
                            <a:srgbClr val="F4F7F3"/>
                          </a:solidFill>
                          <a:latin typeface="Segoe UI"/>
                          <a:ea typeface="Segoe UI"/>
                          <a:cs typeface="Segoe UI"/>
                        </a:rPr>
                        <a:t>3 j × 450 € HT = 1 350 € HT</a:t>
                      </a:r>
                    </a:p>
                  </a:txBody>
                  <a:tcPr marL="95250" marR="76200" marT="0" marB="0" anchor="ctr">
                    <a:solidFill>
                      <a:srgbClr val="1B2923"/>
                    </a:solidFill>
                  </a:tcPr>
                </a:tc>
                <a:extLst>
                  <a:ext uri="{0D108BD9-81ED-4DB2-BD59-A6C34878D82A}">
                    <a16:rowId xmlns:a16="http://schemas.microsoft.com/office/drawing/2014/main" val="10002"/>
                  </a:ext>
                </a:extLst>
              </a:tr>
              <a:tr h="523875">
                <a:tc>
                  <a:txBody>
                    <a:bodyPr/>
                    <a:lstStyle/>
                    <a:p>
                      <a:pPr algn="l">
                        <a:buNone/>
                      </a:pPr>
                      <a:r>
                        <a:rPr sz="1950" b="0">
                          <a:solidFill>
                            <a:srgbClr val="F4F7F3"/>
                          </a:solidFill>
                          <a:latin typeface="Segoe UI"/>
                          <a:ea typeface="Segoe UI"/>
                          <a:cs typeface="Segoe UI"/>
                        </a:rPr>
                        <a:t>Décision</a:t>
                      </a:r>
                    </a:p>
                  </a:txBody>
                  <a:tcPr marL="95250" marR="76200" marT="0" marB="0" anchor="ctr">
                    <a:solidFill>
                      <a:srgbClr val="1B2923"/>
                    </a:solidFill>
                  </a:tcPr>
                </a:tc>
                <a:tc>
                  <a:txBody>
                    <a:bodyPr/>
                    <a:lstStyle/>
                    <a:p>
                      <a:pPr algn="l">
                        <a:buNone/>
                      </a:pPr>
                      <a:r>
                        <a:rPr sz="1950" b="0">
                          <a:solidFill>
                            <a:srgbClr val="F4F7F3"/>
                          </a:solidFill>
                          <a:latin typeface="Segoe UI"/>
                          <a:ea typeface="Segoe UI"/>
                          <a:cs typeface="Segoe UI"/>
                        </a:rPr>
                        <a:t>Reporter le PDF après les retours du pilote</a:t>
                      </a:r>
                    </a:p>
                  </a:txBody>
                  <a:tcPr marL="95250" marR="76200" marT="0" marB="0" anchor="ctr">
                    <a:solidFill>
                      <a:srgbClr val="1B2923"/>
                    </a:solidFill>
                  </a:tcPr>
                </a:tc>
                <a:extLst>
                  <a:ext uri="{0D108BD9-81ED-4DB2-BD59-A6C34878D82A}">
                    <a16:rowId xmlns:a16="http://schemas.microsoft.com/office/drawing/2014/main" val="10003"/>
                  </a:ext>
                </a:extLst>
              </a:tr>
              <a:tr h="800100">
                <a:tc>
                  <a:txBody>
                    <a:bodyPr/>
                    <a:lstStyle/>
                    <a:p>
                      <a:pPr algn="l">
                        <a:buNone/>
                      </a:pPr>
                      <a:r>
                        <a:rPr sz="1950" b="0">
                          <a:solidFill>
                            <a:srgbClr val="F4F7F3"/>
                          </a:solidFill>
                          <a:latin typeface="Segoe UI"/>
                          <a:ea typeface="Segoe UI"/>
                          <a:cs typeface="Segoe UI"/>
                        </a:rPr>
                        <a:t>Responsables</a:t>
                      </a:r>
                    </a:p>
                  </a:txBody>
                  <a:tcPr marL="95250" marR="76200" marT="0" marB="0" anchor="ctr">
                    <a:solidFill>
                      <a:srgbClr val="1B2923"/>
                    </a:solidFill>
                  </a:tcPr>
                </a:tc>
                <a:tc>
                  <a:txBody>
                    <a:bodyPr/>
                    <a:lstStyle/>
                    <a:p>
                      <a:pPr algn="l">
                        <a:buNone/>
                      </a:pPr>
                      <a:r>
                        <a:rPr sz="1950" b="0">
                          <a:solidFill>
                            <a:srgbClr val="F4F7F3"/>
                          </a:solidFill>
                          <a:latin typeface="Segoe UI"/>
                          <a:ea typeface="Segoe UI"/>
                          <a:cs typeface="Segoe UI"/>
                        </a:rPr>
                        <a:t>PO : réexaminer le besoin</a:t>
                      </a:r>
                    </a:p>
                    <a:p>
                      <a:pPr algn="l">
                        <a:buNone/>
                      </a:pPr>
                      <a:r>
                        <a:rPr sz="1950" b="0">
                          <a:solidFill>
                            <a:srgbClr val="F4F7F3"/>
                          </a:solidFill>
                          <a:latin typeface="Segoe UI"/>
                          <a:ea typeface="Segoe UI"/>
                          <a:cs typeface="Segoe UI"/>
                        </a:rPr>
                        <a:t>Kevin et QA : réestimer si le besoin est confirmé</a:t>
                      </a:r>
                    </a:p>
                  </a:txBody>
                  <a:tcPr marL="95250" marR="76200" marT="0" marB="0" anchor="ctr">
                    <a:solidFill>
                      <a:srgbClr val="1B2923"/>
                    </a:solidFill>
                  </a:tcPr>
                </a:tc>
                <a:extLst>
                  <a:ext uri="{0D108BD9-81ED-4DB2-BD59-A6C34878D82A}">
                    <a16:rowId xmlns:a16="http://schemas.microsoft.com/office/drawing/2014/main" val="10004"/>
                  </a:ext>
                </a:extLst>
              </a:tr>
              <a:tr h="581025">
                <a:tc>
                  <a:txBody>
                    <a:bodyPr/>
                    <a:lstStyle/>
                    <a:p>
                      <a:pPr algn="l">
                        <a:buNone/>
                      </a:pPr>
                      <a:r>
                        <a:rPr sz="1950" b="0">
                          <a:solidFill>
                            <a:srgbClr val="F4F7F3"/>
                          </a:solidFill>
                          <a:latin typeface="Segoe UI"/>
                          <a:ea typeface="Segoe UI"/>
                          <a:cs typeface="Segoe UI"/>
                        </a:rPr>
                        <a:t>Échéance proposée</a:t>
                      </a:r>
                    </a:p>
                  </a:txBody>
                  <a:tcPr marL="95250" marR="76200" marT="0" marB="0" anchor="ctr">
                    <a:solidFill>
                      <a:srgbClr val="1B2923"/>
                    </a:solidFill>
                  </a:tcPr>
                </a:tc>
                <a:tc>
                  <a:txBody>
                    <a:bodyPr/>
                    <a:lstStyle/>
                    <a:p>
                      <a:pPr algn="l">
                        <a:buNone/>
                      </a:pPr>
                      <a:r>
                        <a:rPr sz="1950" b="0">
                          <a:solidFill>
                            <a:srgbClr val="F4F7F3"/>
                          </a:solidFill>
                          <a:latin typeface="Segoe UI"/>
                          <a:ea typeface="Segoe UI"/>
                          <a:cs typeface="Segoe UI"/>
                        </a:rPr>
                        <a:t>Bilan du 28 septembre, puis arbitrage du commanditaire</a:t>
                      </a:r>
                    </a:p>
                  </a:txBody>
                  <a:tcPr marL="95250" marR="76200" marT="0" marB="0" anchor="ctr">
                    <a:solidFill>
                      <a:srgbClr val="1B2923"/>
                    </a:solidFill>
                  </a:tcPr>
                </a:tc>
                <a:extLst>
                  <a:ext uri="{0D108BD9-81ED-4DB2-BD59-A6C34878D82A}">
                    <a16:rowId xmlns:a16="http://schemas.microsoft.com/office/drawing/2014/main" val="10005"/>
                  </a:ext>
                </a:extLst>
              </a:tr>
            </a:tbl>
          </a:graphicData>
        </a:graphic>
      </p:graphicFrame>
      <p:sp>
        <p:nvSpPr>
          <p:cNvPr id="53" name="Rectangle 52">
            <a:extLst>
              <a:ext uri="{FF2B5EF4-FFF2-40B4-BE49-F238E27FC236}">
                <a16:creationId xmlns:a16="http://schemas.microsoft.com/office/drawing/2014/main" id="{5642DB1E-C1DF-477C-8358-7F8CEBA18F34}"/>
              </a:ext>
            </a:extLst>
          </p:cNvPr>
          <p:cNvSpPr>
            <a:spLocks noGrp="1"/>
          </p:cNvSpPr>
          <p:nvPr/>
        </p:nvSpPr>
        <p:spPr>
          <a:xfrm>
            <a:off x="609600" y="6076950"/>
            <a:ext cx="10972800" cy="314325"/>
          </a:xfrm>
          <a:prstGeom prst="rect">
            <a:avLst/>
          </a:prstGeom>
          <a:noFill/>
          <a:ln w="0">
            <a:noFill/>
          </a:ln>
        </p:spPr>
        <p:txBody>
          <a:bodyPr wrap="square" lIns="0" tIns="0" rIns="0" bIns="0" anchor="t">
            <a:noAutofit/>
          </a:bodyPr>
          <a:lstStyle/>
          <a:p>
            <a:pPr algn="l">
              <a:buNone/>
              <a:defRPr sz="1950" b="1">
                <a:solidFill>
                  <a:srgbClr val="BACDB7"/>
                </a:solidFill>
                <a:latin typeface="Segoe UI"/>
                <a:ea typeface="Segoe UI"/>
                <a:cs typeface="Segoe UI"/>
              </a:defRPr>
            </a:pPr>
            <a:r>
              <a:rPr sz="1950" b="1">
                <a:solidFill>
                  <a:srgbClr val="BACDB7"/>
                </a:solidFill>
                <a:latin typeface="Segoe UI"/>
                <a:ea typeface="Segoe UI"/>
                <a:cs typeface="Segoe UI"/>
              </a:rPr>
              <a:t>Base conservée : 81 JH et 42 818 € HT. Réserve non mobilisée.</a:t>
            </a:r>
          </a:p>
        </p:txBody>
      </p:sp>
      <p:sp>
        <p:nvSpPr>
          <p:cNvPr id="54" name="Rectangle 53">
            <a:extLst>
              <a:ext uri="{FF2B5EF4-FFF2-40B4-BE49-F238E27FC236}">
                <a16:creationId xmlns:a16="http://schemas.microsoft.com/office/drawing/2014/main" id="{F9494721-CC54-4406-98A5-1A2A6841AE61}"/>
              </a:ext>
            </a:extLst>
          </p:cNvPr>
          <p:cNvSpPr>
            <a:spLocks noGrp="1"/>
          </p:cNvSpPr>
          <p:nvPr/>
        </p:nvSpPr>
        <p:spPr>
          <a:xfrm>
            <a:off x="609600" y="6457950"/>
            <a:ext cx="8382000" cy="219075"/>
          </a:xfrm>
          <a:prstGeom prst="rect">
            <a:avLst/>
          </a:prstGeom>
          <a:noFill/>
          <a:ln w="0">
            <a:noFill/>
          </a:ln>
        </p:spPr>
        <p:txBody>
          <a:bodyPr wrap="square" lIns="0" tIns="0" rIns="0" bIns="0" anchor="t">
            <a:noAutofit/>
          </a:bodyPr>
          <a:lstStyle/>
          <a:p>
            <a:pPr algn="l">
              <a:buNone/>
              <a:defRPr sz="1125" b="0">
                <a:solidFill>
                  <a:srgbClr val="C1D0C1"/>
                </a:solidFill>
                <a:latin typeface="Segoe UI"/>
                <a:ea typeface="Segoe UI"/>
                <a:cs typeface="Segoe UI"/>
              </a:defRPr>
            </a:pPr>
            <a:r>
              <a:rPr sz="1125" b="0">
                <a:solidFill>
                  <a:srgbClr val="C1D0C1"/>
                </a:solidFill>
                <a:latin typeface="Segoe UI"/>
                <a:ea typeface="Segoe UI"/>
                <a:cs typeface="Segoe UI"/>
              </a:rPr>
              <a:t>Alcide / Pilotage du projet</a:t>
            </a:r>
          </a:p>
        </p:txBody>
      </p:sp>
      <p:sp>
        <p:nvSpPr>
          <p:cNvPr id="55" name="Rectangle 54">
            <a:extLst>
              <a:ext uri="{FF2B5EF4-FFF2-40B4-BE49-F238E27FC236}">
                <a16:creationId xmlns:a16="http://schemas.microsoft.com/office/drawing/2014/main" id="{46AD888F-E9E9-4670-8F99-455D754CB438}"/>
              </a:ext>
            </a:extLst>
          </p:cNvPr>
          <p:cNvSpPr>
            <a:spLocks noGrp="1"/>
          </p:cNvSpPr>
          <p:nvPr/>
        </p:nvSpPr>
        <p:spPr>
          <a:xfrm>
            <a:off x="11049000" y="6438900"/>
            <a:ext cx="533400" cy="228600"/>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12</a:t>
            </a:r>
          </a:p>
        </p:txBody>
      </p:sp>
    </p:spTree>
    <p:extLst>
      <p:ext uri="{BB962C8B-B14F-4D97-AF65-F5344CB8AC3E}">
        <p14:creationId xmlns:p14="http://schemas.microsoft.com/office/powerpoint/2010/main" val="1946735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B2923"/>
        </a:solidFill>
        <a:effectLst/>
      </p:bgPr>
    </p:bg>
    <p:spTree>
      <p:nvGrpSpPr>
        <p:cNvPr id="1" name=""/>
        <p:cNvGrpSpPr/>
        <p:nvPr/>
      </p:nvGrpSpPr>
      <p:grpSpPr>
        <a:xfrm>
          <a:off x="0" y="0"/>
          <a:ext cx="0" cy="0"/>
          <a:chOff x="0" y="0"/>
          <a:chExt cx="0" cy="0"/>
        </a:xfrm>
      </p:grpSpPr>
      <p:pic>
        <p:nvPicPr>
          <p:cNvPr id="116" name="Image 115"/>
          <p:cNvPicPr>
            <a:picLocks noChangeAspect="1"/>
          </p:cNvPicPr>
          <p:nvPr/>
        </p:nvPicPr>
        <p:blipFill>
          <a:blip r:embed="rId3"/>
          <a:srcRect t="27" b="27"/>
          <a:stretch>
            <a:fillRect/>
          </a:stretch>
        </p:blipFill>
        <p:spPr>
          <a:xfrm>
            <a:off x="0" y="0"/>
            <a:ext cx="12192000" cy="6858000"/>
          </a:xfrm>
          <a:prstGeom prst="rect">
            <a:avLst/>
          </a:prstGeom>
        </p:spPr>
      </p:pic>
      <p:sp>
        <p:nvSpPr>
          <p:cNvPr id="62" name="Rectangle 61">
            <a:extLst>
              <a:ext uri="{FF2B5EF4-FFF2-40B4-BE49-F238E27FC236}">
                <a16:creationId xmlns:a16="http://schemas.microsoft.com/office/drawing/2014/main" id="{47665038-906D-4EFA-B312-7ECA20CDAEB4}"/>
              </a:ext>
            </a:extLst>
          </p:cNvPr>
          <p:cNvSpPr>
            <a:spLocks noGrp="1"/>
          </p:cNvSpPr>
          <p:nvPr/>
        </p:nvSpPr>
        <p:spPr>
          <a:xfrm>
            <a:off x="609600" y="609600"/>
            <a:ext cx="10972800" cy="704850"/>
          </a:xfrm>
          <a:prstGeom prst="rect">
            <a:avLst/>
          </a:prstGeom>
          <a:noFill/>
          <a:ln w="0">
            <a:noFill/>
          </a:ln>
        </p:spPr>
        <p:txBody>
          <a:bodyPr wrap="square" lIns="0" tIns="0" rIns="0" bIns="0" anchor="t">
            <a:noAutofit/>
          </a:bodyPr>
          <a:lstStyle/>
          <a:p>
            <a:pPr algn="l">
              <a:buNone/>
              <a:defRPr sz="3450" b="1">
                <a:solidFill>
                  <a:srgbClr val="F4F7F3"/>
                </a:solidFill>
                <a:latin typeface="Segoe UI"/>
                <a:ea typeface="Segoe UI"/>
                <a:cs typeface="Segoe UI"/>
              </a:defRPr>
            </a:pPr>
            <a:r>
              <a:rPr sz="3450" b="1">
                <a:solidFill>
                  <a:srgbClr val="F4F7F3"/>
                </a:solidFill>
                <a:latin typeface="Segoe UI"/>
                <a:ea typeface="Segoe UI"/>
                <a:cs typeface="Segoe UI"/>
              </a:rPr>
              <a:t>Le choix de simplifier l’interface</a:t>
            </a:r>
          </a:p>
        </p:txBody>
      </p:sp>
      <p:sp>
        <p:nvSpPr>
          <p:cNvPr id="63" name="Rectangle 62">
            <a:extLst>
              <a:ext uri="{FF2B5EF4-FFF2-40B4-BE49-F238E27FC236}">
                <a16:creationId xmlns:a16="http://schemas.microsoft.com/office/drawing/2014/main" id="{45A11A77-7180-41CB-A64D-F7442B57DC85}"/>
              </a:ext>
            </a:extLst>
          </p:cNvPr>
          <p:cNvSpPr>
            <a:spLocks noGrp="1"/>
          </p:cNvSpPr>
          <p:nvPr/>
        </p:nvSpPr>
        <p:spPr>
          <a:xfrm>
            <a:off x="609600" y="1438275"/>
            <a:ext cx="10972800" cy="457200"/>
          </a:xfrm>
          <a:prstGeom prst="rect">
            <a:avLst/>
          </a:prstGeom>
          <a:noFill/>
          <a:ln w="0">
            <a:noFill/>
          </a:ln>
        </p:spPr>
        <p:txBody>
          <a:bodyPr wrap="square" lIns="0" tIns="0" rIns="0" bIns="0" anchor="t">
            <a:noAutofit/>
          </a:bodyPr>
          <a:lstStyle/>
          <a:p>
            <a:pPr algn="l">
              <a:buNone/>
              <a:defRPr sz="1950" b="0">
                <a:solidFill>
                  <a:srgbClr val="C1D0C1"/>
                </a:solidFill>
                <a:latin typeface="Segoe UI"/>
                <a:ea typeface="Segoe UI"/>
                <a:cs typeface="Segoe UI"/>
              </a:defRPr>
            </a:pPr>
            <a:r>
              <a:rPr sz="1950" b="0">
                <a:solidFill>
                  <a:srgbClr val="C1D0C1"/>
                </a:solidFill>
                <a:latin typeface="Segoe UI"/>
                <a:ea typeface="Segoe UI"/>
                <a:cs typeface="Segoe UI"/>
              </a:rPr>
              <a:t>Choix retenu : un parcours centré sur l’entraînement</a:t>
            </a:r>
          </a:p>
        </p:txBody>
      </p:sp>
      <p:graphicFrame>
        <p:nvGraphicFramePr>
          <p:cNvPr id="119" name="Tableau 118"/>
          <p:cNvGraphicFramePr/>
          <p:nvPr/>
        </p:nvGraphicFramePr>
        <p:xfrm>
          <a:off x="609600" y="2009775"/>
          <a:ext cx="10972800" cy="1362075"/>
        </p:xfrm>
        <a:graphic>
          <a:graphicData uri="http://schemas.openxmlformats.org/drawingml/2006/table">
            <a:tbl>
              <a:tblPr/>
              <a:tblGrid>
                <a:gridCol w="2590800">
                  <a:extLst>
                    <a:ext uri="{9D8B030D-6E8A-4147-A177-3AD203B41FA5}">
                      <a16:colId xmlns:a16="http://schemas.microsoft.com/office/drawing/2014/main" val="20000"/>
                    </a:ext>
                  </a:extLst>
                </a:gridCol>
                <a:gridCol w="3514725">
                  <a:extLst>
                    <a:ext uri="{9D8B030D-6E8A-4147-A177-3AD203B41FA5}">
                      <a16:colId xmlns:a16="http://schemas.microsoft.com/office/drawing/2014/main" val="20001"/>
                    </a:ext>
                  </a:extLst>
                </a:gridCol>
                <a:gridCol w="4867275">
                  <a:extLst>
                    <a:ext uri="{9D8B030D-6E8A-4147-A177-3AD203B41FA5}">
                      <a16:colId xmlns:a16="http://schemas.microsoft.com/office/drawing/2014/main" val="20002"/>
                    </a:ext>
                  </a:extLst>
                </a:gridCol>
              </a:tblGrid>
              <a:tr h="409575">
                <a:tc>
                  <a:txBody>
                    <a:bodyPr/>
                    <a:lstStyle/>
                    <a:p>
                      <a:pPr algn="l">
                        <a:buNone/>
                      </a:pPr>
                      <a:r>
                        <a:rPr sz="1800" b="1">
                          <a:solidFill>
                            <a:srgbClr val="BACDB7"/>
                          </a:solidFill>
                          <a:latin typeface="Segoe UI"/>
                          <a:ea typeface="Segoe UI"/>
                          <a:cs typeface="Segoe UI"/>
                        </a:rPr>
                        <a:t>Option</a:t>
                      </a:r>
                    </a:p>
                  </a:txBody>
                  <a:tcPr marL="95250" marR="76200" marT="0" marB="0" anchor="ctr">
                    <a:solidFill>
                      <a:srgbClr val="213B2E"/>
                    </a:solidFill>
                  </a:tcPr>
                </a:tc>
                <a:tc>
                  <a:txBody>
                    <a:bodyPr/>
                    <a:lstStyle/>
                    <a:p>
                      <a:pPr algn="l">
                        <a:buNone/>
                      </a:pPr>
                      <a:r>
                        <a:rPr sz="1800" b="1">
                          <a:solidFill>
                            <a:srgbClr val="BACDB7"/>
                          </a:solidFill>
                          <a:latin typeface="Segoe UI"/>
                          <a:ea typeface="Segoe UI"/>
                          <a:cs typeface="Segoe UI"/>
                        </a:rPr>
                        <a:t>Intérêt</a:t>
                      </a:r>
                    </a:p>
                  </a:txBody>
                  <a:tcPr marL="95250" marR="76200" marT="0" marB="0" anchor="ctr">
                    <a:solidFill>
                      <a:srgbClr val="213B2E"/>
                    </a:solidFill>
                  </a:tcPr>
                </a:tc>
                <a:tc>
                  <a:txBody>
                    <a:bodyPr/>
                    <a:lstStyle/>
                    <a:p>
                      <a:pPr algn="l">
                        <a:buNone/>
                      </a:pPr>
                      <a:r>
                        <a:rPr sz="1800" b="1">
                          <a:solidFill>
                            <a:srgbClr val="BACDB7"/>
                          </a:solidFill>
                          <a:latin typeface="Segoe UI"/>
                          <a:ea typeface="Segoe UI"/>
                          <a:cs typeface="Segoe UI"/>
                        </a:rPr>
                        <a:t>Conséquence</a:t>
                      </a:r>
                    </a:p>
                  </a:txBody>
                  <a:tcPr marL="95250" marR="76200" marT="0" marB="0" anchor="ctr">
                    <a:solidFill>
                      <a:srgbClr val="213B2E"/>
                    </a:solidFill>
                  </a:tcPr>
                </a:tc>
                <a:extLst>
                  <a:ext uri="{0D108BD9-81ED-4DB2-BD59-A6C34878D82A}">
                    <a16:rowId xmlns:a16="http://schemas.microsoft.com/office/drawing/2014/main" val="10000"/>
                  </a:ext>
                </a:extLst>
              </a:tr>
              <a:tr h="476250">
                <a:tc>
                  <a:txBody>
                    <a:bodyPr/>
                    <a:lstStyle/>
                    <a:p>
                      <a:pPr algn="l">
                        <a:buNone/>
                      </a:pPr>
                      <a:r>
                        <a:rPr sz="1800" b="0">
                          <a:solidFill>
                            <a:srgbClr val="F4F7F3"/>
                          </a:solidFill>
                          <a:latin typeface="Segoe UI"/>
                          <a:ea typeface="Segoe UI"/>
                          <a:cs typeface="Segoe UI"/>
                        </a:rPr>
                        <a:t>Garder les réglages</a:t>
                      </a:r>
                    </a:p>
                  </a:txBody>
                  <a:tcPr marL="95250" marR="76200" marT="0" marB="0" anchor="ctr">
                    <a:solidFill>
                      <a:srgbClr val="1B2923"/>
                    </a:solidFill>
                  </a:tcPr>
                </a:tc>
                <a:tc>
                  <a:txBody>
                    <a:bodyPr/>
                    <a:lstStyle/>
                    <a:p>
                      <a:pPr algn="l">
                        <a:buNone/>
                      </a:pPr>
                      <a:r>
                        <a:rPr sz="1800" b="0">
                          <a:solidFill>
                            <a:srgbClr val="F4F7F3"/>
                          </a:solidFill>
                          <a:latin typeface="Segoe UI"/>
                          <a:ea typeface="Segoe UI"/>
                          <a:cs typeface="Segoe UI"/>
                        </a:rPr>
                        <a:t>Réglage direct du moteur</a:t>
                      </a:r>
                    </a:p>
                  </a:txBody>
                  <a:tcPr marL="95250" marR="76200" marT="0" marB="0" anchor="ctr">
                    <a:solidFill>
                      <a:srgbClr val="1B2923"/>
                    </a:solidFill>
                  </a:tcPr>
                </a:tc>
                <a:tc>
                  <a:txBody>
                    <a:bodyPr/>
                    <a:lstStyle/>
                    <a:p>
                      <a:pPr algn="l">
                        <a:buNone/>
                      </a:pPr>
                      <a:r>
                        <a:rPr sz="1800" b="0">
                          <a:solidFill>
                            <a:srgbClr val="F4F7F3"/>
                          </a:solidFill>
                          <a:latin typeface="Segoe UI"/>
                          <a:ea typeface="Segoe UI"/>
                          <a:cs typeface="Segoe UI"/>
                        </a:rPr>
                        <a:t>Maintenir leur explication dans le parcours</a:t>
                      </a:r>
                    </a:p>
                  </a:txBody>
                  <a:tcPr marL="95250" marR="76200" marT="0" marB="0" anchor="ctr">
                    <a:solidFill>
                      <a:srgbClr val="1B2923"/>
                    </a:solidFill>
                  </a:tcPr>
                </a:tc>
                <a:extLst>
                  <a:ext uri="{0D108BD9-81ED-4DB2-BD59-A6C34878D82A}">
                    <a16:rowId xmlns:a16="http://schemas.microsoft.com/office/drawing/2014/main" val="10001"/>
                  </a:ext>
                </a:extLst>
              </a:tr>
              <a:tr h="476250">
                <a:tc>
                  <a:txBody>
                    <a:bodyPr/>
                    <a:lstStyle/>
                    <a:p>
                      <a:pPr algn="l">
                        <a:buNone/>
                      </a:pPr>
                      <a:r>
                        <a:rPr sz="1800" b="0">
                          <a:solidFill>
                            <a:srgbClr val="F4F7F3"/>
                          </a:solidFill>
                          <a:latin typeface="Segoe UI"/>
                          <a:ea typeface="Segoe UI"/>
                          <a:cs typeface="Segoe UI"/>
                        </a:rPr>
                        <a:t>Simplifier, retenu</a:t>
                      </a:r>
                    </a:p>
                  </a:txBody>
                  <a:tcPr marL="95250" marR="76200" marT="0" marB="0" anchor="ctr">
                    <a:solidFill>
                      <a:srgbClr val="1B2923"/>
                    </a:solidFill>
                  </a:tcPr>
                </a:tc>
                <a:tc>
                  <a:txBody>
                    <a:bodyPr/>
                    <a:lstStyle/>
                    <a:p>
                      <a:pPr algn="l">
                        <a:buNone/>
                      </a:pPr>
                      <a:r>
                        <a:rPr sz="1800" b="0">
                          <a:solidFill>
                            <a:srgbClr val="F4F7F3"/>
                          </a:solidFill>
                          <a:latin typeface="Segoe UI"/>
                          <a:ea typeface="Segoe UI"/>
                          <a:cs typeface="Segoe UI"/>
                        </a:rPr>
                        <a:t>Objectif, durée et contraintes</a:t>
                      </a:r>
                    </a:p>
                  </a:txBody>
                  <a:tcPr marL="95250" marR="76200" marT="0" marB="0" anchor="ctr">
                    <a:solidFill>
                      <a:srgbClr val="1B2923"/>
                    </a:solidFill>
                  </a:tcPr>
                </a:tc>
                <a:tc>
                  <a:txBody>
                    <a:bodyPr/>
                    <a:lstStyle/>
                    <a:p>
                      <a:pPr algn="l">
                        <a:buNone/>
                      </a:pPr>
                      <a:r>
                        <a:rPr sz="1800" b="0">
                          <a:solidFill>
                            <a:srgbClr val="F4F7F3"/>
                          </a:solidFill>
                          <a:latin typeface="Segoe UI"/>
                          <a:ea typeface="Segoe UI"/>
                          <a:cs typeface="Segoe UI"/>
                        </a:rPr>
                        <a:t>L’équipe gère la configuration côté serveur</a:t>
                      </a:r>
                    </a:p>
                  </a:txBody>
                  <a:tcPr marL="95250" marR="76200" marT="0" marB="0" anchor="ctr">
                    <a:solidFill>
                      <a:srgbClr val="1B2923"/>
                    </a:solidFill>
                  </a:tcPr>
                </a:tc>
                <a:extLst>
                  <a:ext uri="{0D108BD9-81ED-4DB2-BD59-A6C34878D82A}">
                    <a16:rowId xmlns:a16="http://schemas.microsoft.com/office/drawing/2014/main" val="10002"/>
                  </a:ext>
                </a:extLst>
              </a:tr>
            </a:tbl>
          </a:graphicData>
        </a:graphic>
      </p:graphicFrame>
      <p:sp>
        <p:nvSpPr>
          <p:cNvPr id="65" name="Rectangle 64">
            <a:extLst>
              <a:ext uri="{FF2B5EF4-FFF2-40B4-BE49-F238E27FC236}">
                <a16:creationId xmlns:a16="http://schemas.microsoft.com/office/drawing/2014/main" id="{858D4662-534C-4480-90D8-EB6C779573CD}"/>
              </a:ext>
            </a:extLst>
          </p:cNvPr>
          <p:cNvSpPr>
            <a:spLocks noGrp="1"/>
          </p:cNvSpPr>
          <p:nvPr/>
        </p:nvSpPr>
        <p:spPr>
          <a:xfrm>
            <a:off x="609600" y="4381500"/>
            <a:ext cx="1476375" cy="609600"/>
          </a:xfrm>
          <a:prstGeom prst="rect">
            <a:avLst/>
          </a:prstGeom>
          <a:solidFill>
            <a:srgbClr val="213B2E"/>
          </a:solidFill>
          <a:ln w="10478">
            <a:solidFill>
              <a:srgbClr val="BACDB7"/>
            </a:solidFill>
          </a:ln>
        </p:spPr>
        <p:txBody>
          <a:bodyPr wrap="square" lIns="66675" tIns="0" rIns="66675" bIns="0" anchor="ctr">
            <a:noAutofit/>
          </a:bodyPr>
          <a:lstStyle/>
          <a:p>
            <a:pPr algn="ctr">
              <a:buNone/>
              <a:defRPr sz="1650">
                <a:solidFill>
                  <a:srgbClr val="F4F7F3"/>
                </a:solidFill>
                <a:latin typeface="Segoe UI"/>
                <a:ea typeface="Segoe UI"/>
                <a:cs typeface="Segoe UI"/>
              </a:defRPr>
            </a:pPr>
            <a:r>
              <a:rPr sz="1650">
                <a:solidFill>
                  <a:srgbClr val="F4F7F3"/>
                </a:solidFill>
                <a:latin typeface="Segoe UI"/>
                <a:ea typeface="Segoe UI"/>
                <a:cs typeface="Segoe UI"/>
              </a:rPr>
              <a:t>Information</a:t>
            </a:r>
          </a:p>
          <a:p>
            <a:pPr algn="ctr">
              <a:buNone/>
              <a:defRPr sz="1650">
                <a:solidFill>
                  <a:srgbClr val="F4F7F3"/>
                </a:solidFill>
                <a:latin typeface="Segoe UI"/>
                <a:ea typeface="Segoe UI"/>
                <a:cs typeface="Segoe UI"/>
              </a:defRPr>
            </a:pPr>
            <a:r>
              <a:rPr sz="1650">
                <a:solidFill>
                  <a:srgbClr val="F4F7F3"/>
                </a:solidFill>
                <a:latin typeface="Segoe UI"/>
                <a:ea typeface="Segoe UI"/>
                <a:cs typeface="Segoe UI"/>
              </a:rPr>
              <a:t>affichée</a:t>
            </a:r>
          </a:p>
        </p:txBody>
      </p:sp>
      <p:sp>
        <p:nvSpPr>
          <p:cNvPr id="66" name="Losange 65">
            <a:extLst>
              <a:ext uri="{FF2B5EF4-FFF2-40B4-BE49-F238E27FC236}">
                <a16:creationId xmlns:a16="http://schemas.microsoft.com/office/drawing/2014/main" id="{31123F4C-FD7A-4AE5-84FA-030921155353}"/>
              </a:ext>
            </a:extLst>
          </p:cNvPr>
          <p:cNvSpPr>
            <a:spLocks noGrp="1"/>
          </p:cNvSpPr>
          <p:nvPr/>
        </p:nvSpPr>
        <p:spPr>
          <a:xfrm>
            <a:off x="2371725" y="4248150"/>
            <a:ext cx="1638300" cy="876300"/>
          </a:xfrm>
          <a:prstGeom prst="diamond">
            <a:avLst/>
          </a:prstGeom>
          <a:solidFill>
            <a:srgbClr val="213B2E"/>
          </a:solidFill>
          <a:ln w="10478">
            <a:solidFill>
              <a:srgbClr val="BACDB7"/>
            </a:solidFill>
          </a:ln>
        </p:spPr>
        <p:txBody>
          <a:bodyPr/>
          <a:lstStyle/>
          <a:p>
            <a:endParaRPr lang="fr-FR"/>
          </a:p>
        </p:txBody>
      </p:sp>
      <p:sp>
        <p:nvSpPr>
          <p:cNvPr id="67" name="Rectangle 66">
            <a:extLst>
              <a:ext uri="{FF2B5EF4-FFF2-40B4-BE49-F238E27FC236}">
                <a16:creationId xmlns:a16="http://schemas.microsoft.com/office/drawing/2014/main" id="{C0CB4F28-6819-4814-A71F-241AFADC01FB}"/>
              </a:ext>
            </a:extLst>
          </p:cNvPr>
          <p:cNvSpPr>
            <a:spLocks noGrp="1"/>
          </p:cNvSpPr>
          <p:nvPr/>
        </p:nvSpPr>
        <p:spPr>
          <a:xfrm>
            <a:off x="2447925" y="4410075"/>
            <a:ext cx="1485900" cy="609600"/>
          </a:xfrm>
          <a:prstGeom prst="rect">
            <a:avLst/>
          </a:prstGeom>
          <a:noFill/>
          <a:ln w="0">
            <a:noFill/>
          </a:ln>
        </p:spPr>
        <p:txBody>
          <a:bodyPr wrap="square" lIns="0" tIns="0" rIns="0" bIns="0" anchor="ctr">
            <a:noAutofit/>
          </a:bodyPr>
          <a:lstStyle/>
          <a:p>
            <a:pPr algn="ctr">
              <a:buNone/>
              <a:defRPr sz="1650" b="0">
                <a:solidFill>
                  <a:srgbClr val="F4F7F3"/>
                </a:solidFill>
                <a:latin typeface="Segoe UI"/>
                <a:ea typeface="Segoe UI"/>
                <a:cs typeface="Segoe UI"/>
              </a:defRPr>
            </a:pPr>
            <a:r>
              <a:rPr sz="1650" b="0">
                <a:solidFill>
                  <a:srgbClr val="F4F7F3"/>
                </a:solidFill>
                <a:latin typeface="Segoe UI"/>
                <a:ea typeface="Segoe UI"/>
                <a:cs typeface="Segoe UI"/>
              </a:rPr>
              <a:t>Utile à</a:t>
            </a:r>
          </a:p>
          <a:p>
            <a:pPr algn="ctr">
              <a:buNone/>
              <a:defRPr sz="1650" b="0">
                <a:solidFill>
                  <a:srgbClr val="F4F7F3"/>
                </a:solidFill>
                <a:latin typeface="Segoe UI"/>
                <a:ea typeface="Segoe UI"/>
                <a:cs typeface="Segoe UI"/>
              </a:defRPr>
            </a:pPr>
            <a:r>
              <a:rPr sz="1650" b="0">
                <a:solidFill>
                  <a:srgbClr val="F4F7F3"/>
                </a:solidFill>
                <a:latin typeface="Segoe UI"/>
                <a:ea typeface="Segoe UI"/>
                <a:cs typeface="Segoe UI"/>
              </a:rPr>
              <a:t>la séance ?</a:t>
            </a:r>
          </a:p>
        </p:txBody>
      </p:sp>
      <p:sp>
        <p:nvSpPr>
          <p:cNvPr id="68" name="Rectangle 67">
            <a:extLst>
              <a:ext uri="{FF2B5EF4-FFF2-40B4-BE49-F238E27FC236}">
                <a16:creationId xmlns:a16="http://schemas.microsoft.com/office/drawing/2014/main" id="{A62F54D4-AA71-4898-9BF0-455710997C87}"/>
              </a:ext>
            </a:extLst>
          </p:cNvPr>
          <p:cNvSpPr>
            <a:spLocks noGrp="1"/>
          </p:cNvSpPr>
          <p:nvPr/>
        </p:nvSpPr>
        <p:spPr>
          <a:xfrm>
            <a:off x="4400550" y="3667125"/>
            <a:ext cx="2286000" cy="638175"/>
          </a:xfrm>
          <a:prstGeom prst="rect">
            <a:avLst/>
          </a:prstGeom>
          <a:solidFill>
            <a:srgbClr val="213B2E"/>
          </a:solidFill>
          <a:ln w="10478">
            <a:solidFill>
              <a:srgbClr val="BACDB7"/>
            </a:solidFill>
          </a:ln>
        </p:spPr>
        <p:txBody>
          <a:bodyPr wrap="square" lIns="66675" tIns="0" rIns="66675" bIns="0" anchor="ctr">
            <a:noAutofit/>
          </a:bodyPr>
          <a:lstStyle/>
          <a:p>
            <a:pPr algn="ctr">
              <a:buNone/>
              <a:defRPr sz="1650">
                <a:solidFill>
                  <a:srgbClr val="F4F7F3"/>
                </a:solidFill>
                <a:latin typeface="Segoe UI"/>
                <a:ea typeface="Segoe UI"/>
                <a:cs typeface="Segoe UI"/>
              </a:defRPr>
            </a:pPr>
            <a:r>
              <a:rPr sz="1650">
                <a:solidFill>
                  <a:srgbClr val="F4F7F3"/>
                </a:solidFill>
                <a:latin typeface="Segoe UI"/>
                <a:ea typeface="Segoe UI"/>
                <a:cs typeface="Segoe UI"/>
              </a:rPr>
              <a:t>Conserver avec</a:t>
            </a:r>
          </a:p>
          <a:p>
            <a:pPr algn="ctr">
              <a:buNone/>
              <a:defRPr sz="1650">
                <a:solidFill>
                  <a:srgbClr val="F4F7F3"/>
                </a:solidFill>
                <a:latin typeface="Segoe UI"/>
                <a:ea typeface="Segoe UI"/>
                <a:cs typeface="Segoe UI"/>
              </a:defRPr>
            </a:pPr>
            <a:r>
              <a:rPr sz="1650">
                <a:solidFill>
                  <a:srgbClr val="F4F7F3"/>
                </a:solidFill>
                <a:latin typeface="Segoe UI"/>
                <a:ea typeface="Segoe UI"/>
                <a:cs typeface="Segoe UI"/>
              </a:rPr>
              <a:t>un libellé métier</a:t>
            </a:r>
          </a:p>
        </p:txBody>
      </p:sp>
      <p:sp>
        <p:nvSpPr>
          <p:cNvPr id="69" name="Rectangle 68">
            <a:extLst>
              <a:ext uri="{FF2B5EF4-FFF2-40B4-BE49-F238E27FC236}">
                <a16:creationId xmlns:a16="http://schemas.microsoft.com/office/drawing/2014/main" id="{03E238E3-9F16-40F0-971F-D4579CFC8D80}"/>
              </a:ext>
            </a:extLst>
          </p:cNvPr>
          <p:cNvSpPr>
            <a:spLocks noGrp="1"/>
          </p:cNvSpPr>
          <p:nvPr/>
        </p:nvSpPr>
        <p:spPr>
          <a:xfrm>
            <a:off x="4400550" y="5172075"/>
            <a:ext cx="2286000" cy="638175"/>
          </a:xfrm>
          <a:prstGeom prst="rect">
            <a:avLst/>
          </a:prstGeom>
          <a:solidFill>
            <a:srgbClr val="213B2E"/>
          </a:solidFill>
          <a:ln w="10478">
            <a:solidFill>
              <a:srgbClr val="BACDB7"/>
            </a:solidFill>
          </a:ln>
        </p:spPr>
        <p:txBody>
          <a:bodyPr wrap="square" lIns="66675" tIns="0" rIns="66675" bIns="0" anchor="ctr">
            <a:noAutofit/>
          </a:bodyPr>
          <a:lstStyle/>
          <a:p>
            <a:pPr algn="ctr">
              <a:buNone/>
              <a:defRPr sz="1650">
                <a:solidFill>
                  <a:srgbClr val="F4F7F3"/>
                </a:solidFill>
                <a:latin typeface="Segoe UI"/>
                <a:ea typeface="Segoe UI"/>
                <a:cs typeface="Segoe UI"/>
              </a:defRPr>
            </a:pPr>
            <a:r>
              <a:rPr sz="1650">
                <a:solidFill>
                  <a:srgbClr val="F4F7F3"/>
                </a:solidFill>
                <a:latin typeface="Segoe UI"/>
                <a:ea typeface="Segoe UI"/>
                <a:cs typeface="Segoe UI"/>
              </a:rPr>
              <a:t>Configuration</a:t>
            </a:r>
          </a:p>
          <a:p>
            <a:pPr algn="ctr">
              <a:buNone/>
              <a:defRPr sz="1650">
                <a:solidFill>
                  <a:srgbClr val="F4F7F3"/>
                </a:solidFill>
                <a:latin typeface="Segoe UI"/>
                <a:ea typeface="Segoe UI"/>
                <a:cs typeface="Segoe UI"/>
              </a:defRPr>
            </a:pPr>
            <a:r>
              <a:rPr sz="1650">
                <a:solidFill>
                  <a:srgbClr val="F4F7F3"/>
                </a:solidFill>
                <a:latin typeface="Segoe UI"/>
                <a:ea typeface="Segoe UI"/>
                <a:cs typeface="Segoe UI"/>
              </a:rPr>
              <a:t>côté serveur</a:t>
            </a:r>
          </a:p>
        </p:txBody>
      </p:sp>
      <p:sp>
        <p:nvSpPr>
          <p:cNvPr id="70" name="Rectangle 69">
            <a:extLst>
              <a:ext uri="{FF2B5EF4-FFF2-40B4-BE49-F238E27FC236}">
                <a16:creationId xmlns:a16="http://schemas.microsoft.com/office/drawing/2014/main" id="{582ABA72-033A-4304-A69C-15D6E22D7767}"/>
              </a:ext>
            </a:extLst>
          </p:cNvPr>
          <p:cNvSpPr>
            <a:spLocks noGrp="1"/>
          </p:cNvSpPr>
          <p:nvPr/>
        </p:nvSpPr>
        <p:spPr>
          <a:xfrm>
            <a:off x="7058025" y="4391025"/>
            <a:ext cx="2095500" cy="676275"/>
          </a:xfrm>
          <a:prstGeom prst="rect">
            <a:avLst/>
          </a:prstGeom>
          <a:solidFill>
            <a:srgbClr val="213B2E"/>
          </a:solidFill>
          <a:ln w="10478">
            <a:solidFill>
              <a:srgbClr val="BACDB7"/>
            </a:solidFill>
          </a:ln>
        </p:spPr>
        <p:txBody>
          <a:bodyPr wrap="square" lIns="66675" tIns="0" rIns="66675" bIns="0" anchor="ctr">
            <a:noAutofit/>
          </a:bodyPr>
          <a:lstStyle/>
          <a:p>
            <a:pPr algn="ctr">
              <a:buNone/>
              <a:defRPr sz="1650">
                <a:solidFill>
                  <a:srgbClr val="F4F7F3"/>
                </a:solidFill>
                <a:latin typeface="Segoe UI"/>
                <a:ea typeface="Segoe UI"/>
                <a:cs typeface="Segoe UI"/>
              </a:defRPr>
            </a:pPr>
            <a:r>
              <a:rPr sz="1650">
                <a:solidFill>
                  <a:srgbClr val="F4F7F3"/>
                </a:solidFill>
                <a:latin typeface="Segoe UI"/>
                <a:ea typeface="Segoe UI"/>
                <a:cs typeface="Segoe UI"/>
              </a:rPr>
              <a:t>Contrôler</a:t>
            </a:r>
          </a:p>
          <a:p>
            <a:pPr algn="ctr">
              <a:buNone/>
              <a:defRPr sz="1650">
                <a:solidFill>
                  <a:srgbClr val="F4F7F3"/>
                </a:solidFill>
                <a:latin typeface="Segoe UI"/>
                <a:ea typeface="Segoe UI"/>
                <a:cs typeface="Segoe UI"/>
              </a:defRPr>
            </a:pPr>
            <a:r>
              <a:rPr sz="1650">
                <a:solidFill>
                  <a:srgbClr val="F4F7F3"/>
                </a:solidFill>
                <a:latin typeface="Segoe UI"/>
                <a:ea typeface="Segoe UI"/>
                <a:cs typeface="Segoe UI"/>
              </a:rPr>
              <a:t>Génération et Coach</a:t>
            </a:r>
          </a:p>
        </p:txBody>
      </p:sp>
      <p:sp>
        <p:nvSpPr>
          <p:cNvPr id="71" name="Losange 70">
            <a:extLst>
              <a:ext uri="{FF2B5EF4-FFF2-40B4-BE49-F238E27FC236}">
                <a16:creationId xmlns:a16="http://schemas.microsoft.com/office/drawing/2014/main" id="{B825ADFC-6869-4B7B-8806-5A17EB701FC7}"/>
              </a:ext>
            </a:extLst>
          </p:cNvPr>
          <p:cNvSpPr>
            <a:spLocks noGrp="1"/>
          </p:cNvSpPr>
          <p:nvPr/>
        </p:nvSpPr>
        <p:spPr>
          <a:xfrm>
            <a:off x="9525000" y="4286250"/>
            <a:ext cx="1866900" cy="895350"/>
          </a:xfrm>
          <a:prstGeom prst="diamond">
            <a:avLst/>
          </a:prstGeom>
          <a:solidFill>
            <a:srgbClr val="213B2E"/>
          </a:solidFill>
          <a:ln w="10478">
            <a:solidFill>
              <a:srgbClr val="BACDB7"/>
            </a:solidFill>
          </a:ln>
        </p:spPr>
        <p:txBody>
          <a:bodyPr/>
          <a:lstStyle/>
          <a:p>
            <a:endParaRPr lang="fr-FR"/>
          </a:p>
        </p:txBody>
      </p:sp>
      <p:sp>
        <p:nvSpPr>
          <p:cNvPr id="72" name="Rectangle 71">
            <a:extLst>
              <a:ext uri="{FF2B5EF4-FFF2-40B4-BE49-F238E27FC236}">
                <a16:creationId xmlns:a16="http://schemas.microsoft.com/office/drawing/2014/main" id="{8E3AE046-F9B0-4287-88E1-E24632B034CF}"/>
              </a:ext>
            </a:extLst>
          </p:cNvPr>
          <p:cNvSpPr>
            <a:spLocks noGrp="1"/>
          </p:cNvSpPr>
          <p:nvPr/>
        </p:nvSpPr>
        <p:spPr>
          <a:xfrm>
            <a:off x="9601200" y="4448175"/>
            <a:ext cx="1714500" cy="628650"/>
          </a:xfrm>
          <a:prstGeom prst="rect">
            <a:avLst/>
          </a:prstGeom>
          <a:noFill/>
          <a:ln w="0">
            <a:noFill/>
          </a:ln>
        </p:spPr>
        <p:txBody>
          <a:bodyPr wrap="square" lIns="0" tIns="0" rIns="0" bIns="0" anchor="ctr">
            <a:noAutofit/>
          </a:bodyPr>
          <a:lstStyle/>
          <a:p>
            <a:pPr algn="ctr">
              <a:buNone/>
              <a:defRPr sz="1650" b="0">
                <a:solidFill>
                  <a:srgbClr val="F4F7F3"/>
                </a:solidFill>
                <a:latin typeface="Segoe UI"/>
                <a:ea typeface="Segoe UI"/>
                <a:cs typeface="Segoe UI"/>
              </a:defRPr>
            </a:pPr>
            <a:r>
              <a:rPr sz="1650" b="0">
                <a:solidFill>
                  <a:srgbClr val="F4F7F3"/>
                </a:solidFill>
                <a:latin typeface="Segoe UI"/>
                <a:ea typeface="Segoe UI"/>
                <a:cs typeface="Segoe UI"/>
              </a:rPr>
              <a:t>Critères</a:t>
            </a:r>
          </a:p>
          <a:p>
            <a:pPr algn="ctr">
              <a:buNone/>
              <a:defRPr sz="1650" b="0">
                <a:solidFill>
                  <a:srgbClr val="F4F7F3"/>
                </a:solidFill>
                <a:latin typeface="Segoe UI"/>
                <a:ea typeface="Segoe UI"/>
                <a:cs typeface="Segoe UI"/>
              </a:defRPr>
            </a:pPr>
            <a:r>
              <a:rPr sz="1650" b="0">
                <a:solidFill>
                  <a:srgbClr val="F4F7F3"/>
                </a:solidFill>
                <a:latin typeface="Segoe UI"/>
                <a:ea typeface="Segoe UI"/>
                <a:cs typeface="Segoe UI"/>
              </a:rPr>
              <a:t>satisfaits ?</a:t>
            </a:r>
          </a:p>
        </p:txBody>
      </p:sp>
      <p:sp>
        <p:nvSpPr>
          <p:cNvPr id="73" name="Rectangle 72">
            <a:extLst>
              <a:ext uri="{FF2B5EF4-FFF2-40B4-BE49-F238E27FC236}">
                <a16:creationId xmlns:a16="http://schemas.microsoft.com/office/drawing/2014/main" id="{37DCF79D-9922-4AD5-A3B8-D9C836B73CAC}"/>
              </a:ext>
            </a:extLst>
          </p:cNvPr>
          <p:cNvSpPr>
            <a:spLocks noGrp="1"/>
          </p:cNvSpPr>
          <p:nvPr/>
        </p:nvSpPr>
        <p:spPr>
          <a:xfrm>
            <a:off x="9525000" y="3533775"/>
            <a:ext cx="2057400" cy="600075"/>
          </a:xfrm>
          <a:prstGeom prst="rect">
            <a:avLst/>
          </a:prstGeom>
          <a:solidFill>
            <a:srgbClr val="213B2E"/>
          </a:solidFill>
          <a:ln w="10478">
            <a:solidFill>
              <a:srgbClr val="BACDB7"/>
            </a:solidFill>
          </a:ln>
        </p:spPr>
        <p:txBody>
          <a:bodyPr wrap="square" lIns="66675" tIns="0" rIns="66675" bIns="0" anchor="ctr">
            <a:noAutofit/>
          </a:bodyPr>
          <a:lstStyle/>
          <a:p>
            <a:pPr algn="ctr">
              <a:buNone/>
              <a:defRPr sz="1650">
                <a:solidFill>
                  <a:srgbClr val="F4F7F3"/>
                </a:solidFill>
                <a:latin typeface="Segoe UI"/>
                <a:ea typeface="Segoe UI"/>
                <a:cs typeface="Segoe UI"/>
              </a:defRPr>
            </a:pPr>
            <a:r>
              <a:rPr sz="1650">
                <a:solidFill>
                  <a:srgbClr val="F4F7F3"/>
                </a:solidFill>
                <a:latin typeface="Segoe UI"/>
                <a:ea typeface="Segoe UI"/>
                <a:cs typeface="Segoe UI"/>
              </a:rPr>
              <a:t>Consigner puis</a:t>
            </a:r>
          </a:p>
          <a:p>
            <a:pPr algn="ctr">
              <a:buNone/>
              <a:defRPr sz="1650">
                <a:solidFill>
                  <a:srgbClr val="F4F7F3"/>
                </a:solidFill>
                <a:latin typeface="Segoe UI"/>
                <a:ea typeface="Segoe UI"/>
                <a:cs typeface="Segoe UI"/>
              </a:defRPr>
            </a:pPr>
            <a:r>
              <a:rPr sz="1650">
                <a:solidFill>
                  <a:srgbClr val="F4F7F3"/>
                </a:solidFill>
                <a:latin typeface="Segoe UI"/>
                <a:ea typeface="Segoe UI"/>
                <a:cs typeface="Segoe UI"/>
              </a:rPr>
              <a:t>recueillir les retours</a:t>
            </a:r>
          </a:p>
        </p:txBody>
      </p:sp>
      <p:sp>
        <p:nvSpPr>
          <p:cNvPr id="74" name="Rectangle 73">
            <a:extLst>
              <a:ext uri="{FF2B5EF4-FFF2-40B4-BE49-F238E27FC236}">
                <a16:creationId xmlns:a16="http://schemas.microsoft.com/office/drawing/2014/main" id="{91CCAF7A-0CED-46BD-B374-A0770477D6EC}"/>
              </a:ext>
            </a:extLst>
          </p:cNvPr>
          <p:cNvSpPr>
            <a:spLocks noGrp="1"/>
          </p:cNvSpPr>
          <p:nvPr/>
        </p:nvSpPr>
        <p:spPr>
          <a:xfrm>
            <a:off x="9439275" y="5572125"/>
            <a:ext cx="2143125" cy="504825"/>
          </a:xfrm>
          <a:prstGeom prst="rect">
            <a:avLst/>
          </a:prstGeom>
          <a:solidFill>
            <a:srgbClr val="213B2E"/>
          </a:solidFill>
          <a:ln w="10478">
            <a:solidFill>
              <a:srgbClr val="BACDB7"/>
            </a:solidFill>
          </a:ln>
        </p:spPr>
        <p:txBody>
          <a:bodyPr wrap="square" lIns="66675" tIns="0" rIns="66675" bIns="0" anchor="ctr">
            <a:noAutofit/>
          </a:bodyPr>
          <a:lstStyle/>
          <a:p>
            <a:pPr algn="ctr">
              <a:buNone/>
              <a:defRPr sz="1650">
                <a:solidFill>
                  <a:srgbClr val="F4F7F3"/>
                </a:solidFill>
                <a:latin typeface="Segoe UI"/>
                <a:ea typeface="Segoe UI"/>
                <a:cs typeface="Segoe UI"/>
              </a:defRPr>
            </a:pPr>
            <a:r>
              <a:rPr sz="1650">
                <a:solidFill>
                  <a:srgbClr val="F4F7F3"/>
                </a:solidFill>
                <a:latin typeface="Segoe UI"/>
                <a:ea typeface="Segoe UI"/>
                <a:cs typeface="Segoe UI"/>
              </a:rPr>
              <a:t>Corriger et rejouer</a:t>
            </a:r>
          </a:p>
        </p:txBody>
      </p:sp>
      <p:cxnSp>
        <p:nvCxnSpPr>
          <p:cNvPr id="130" name="Connecteur droit avec flèche 129"/>
          <p:cNvCxnSpPr>
            <a:stCxn id="65" idx="3"/>
            <a:endCxn id="66" idx="1"/>
          </p:cNvCxnSpPr>
          <p:nvPr/>
        </p:nvCxnSpPr>
        <p:spPr>
          <a:xfrm>
            <a:off x="2085975" y="4686300"/>
            <a:ext cx="285750" cy="0"/>
          </a:xfrm>
          <a:prstGeom prst="straightConnector1">
            <a:avLst/>
          </a:prstGeom>
          <a:ln w="17145">
            <a:solidFill>
              <a:srgbClr val="BACDB7"/>
            </a:solidFill>
            <a:tailEnd type="triangle" w="sm" len="sm"/>
          </a:ln>
        </p:spPr>
      </p:cxnSp>
      <p:cxnSp>
        <p:nvCxnSpPr>
          <p:cNvPr id="131" name="Connecteur : en angle 130"/>
          <p:cNvCxnSpPr>
            <a:stCxn id="66" idx="0"/>
            <a:endCxn id="68" idx="1"/>
          </p:cNvCxnSpPr>
          <p:nvPr/>
        </p:nvCxnSpPr>
        <p:spPr>
          <a:xfrm flipV="1">
            <a:off x="3190875" y="3986213"/>
            <a:ext cx="1209675" cy="261938"/>
          </a:xfrm>
          <a:prstGeom prst="bentConnector3">
            <a:avLst>
              <a:gd name="adj1" fmla="val 0"/>
            </a:avLst>
          </a:prstGeom>
          <a:ln w="17145">
            <a:solidFill>
              <a:srgbClr val="BACDB7"/>
            </a:solidFill>
            <a:tailEnd type="triangle" w="sm" len="sm"/>
          </a:ln>
        </p:spPr>
      </p:cxnSp>
      <p:cxnSp>
        <p:nvCxnSpPr>
          <p:cNvPr id="132" name="Connecteur : en angle 131"/>
          <p:cNvCxnSpPr>
            <a:stCxn id="66" idx="2"/>
            <a:endCxn id="69" idx="1"/>
          </p:cNvCxnSpPr>
          <p:nvPr/>
        </p:nvCxnSpPr>
        <p:spPr>
          <a:xfrm>
            <a:off x="3190875" y="5124450"/>
            <a:ext cx="1209675" cy="366713"/>
          </a:xfrm>
          <a:prstGeom prst="bentConnector3">
            <a:avLst>
              <a:gd name="adj1" fmla="val 0"/>
            </a:avLst>
          </a:prstGeom>
          <a:ln w="17145">
            <a:solidFill>
              <a:srgbClr val="BACDB7"/>
            </a:solidFill>
            <a:tailEnd type="triangle" w="sm" len="sm"/>
          </a:ln>
        </p:spPr>
      </p:cxnSp>
      <p:cxnSp>
        <p:nvCxnSpPr>
          <p:cNvPr id="133" name="Connecteur : en angle 132"/>
          <p:cNvCxnSpPr>
            <a:stCxn id="68" idx="3"/>
            <a:endCxn id="70" idx="0"/>
          </p:cNvCxnSpPr>
          <p:nvPr/>
        </p:nvCxnSpPr>
        <p:spPr>
          <a:xfrm>
            <a:off x="6686550" y="3986213"/>
            <a:ext cx="1419225" cy="404813"/>
          </a:xfrm>
          <a:prstGeom prst="bentConnector2">
            <a:avLst/>
          </a:prstGeom>
          <a:ln w="17145">
            <a:solidFill>
              <a:srgbClr val="BACDB7"/>
            </a:solidFill>
            <a:tailEnd type="triangle" w="sm" len="sm"/>
          </a:ln>
        </p:spPr>
      </p:cxnSp>
      <p:cxnSp>
        <p:nvCxnSpPr>
          <p:cNvPr id="134" name="Connecteur : en angle 133"/>
          <p:cNvCxnSpPr>
            <a:stCxn id="69" idx="3"/>
            <a:endCxn id="70" idx="2"/>
          </p:cNvCxnSpPr>
          <p:nvPr/>
        </p:nvCxnSpPr>
        <p:spPr>
          <a:xfrm flipV="1">
            <a:off x="6686550" y="5067300"/>
            <a:ext cx="1419225" cy="423863"/>
          </a:xfrm>
          <a:prstGeom prst="bentConnector2">
            <a:avLst/>
          </a:prstGeom>
          <a:ln w="17145">
            <a:solidFill>
              <a:srgbClr val="BACDB7"/>
            </a:solidFill>
            <a:tailEnd type="triangle" w="sm" len="sm"/>
          </a:ln>
        </p:spPr>
      </p:cxnSp>
      <p:cxnSp>
        <p:nvCxnSpPr>
          <p:cNvPr id="135" name="Connecteur droit avec flèche 134"/>
          <p:cNvCxnSpPr>
            <a:stCxn id="70" idx="3"/>
            <a:endCxn id="71" idx="1"/>
          </p:cNvCxnSpPr>
          <p:nvPr/>
        </p:nvCxnSpPr>
        <p:spPr>
          <a:xfrm>
            <a:off x="9153525" y="4729163"/>
            <a:ext cx="371475" cy="4763"/>
          </a:xfrm>
          <a:prstGeom prst="straightConnector1">
            <a:avLst/>
          </a:prstGeom>
          <a:ln w="17145">
            <a:solidFill>
              <a:srgbClr val="BACDB7"/>
            </a:solidFill>
            <a:tailEnd type="triangle" w="sm" len="sm"/>
          </a:ln>
        </p:spPr>
      </p:cxnSp>
      <p:cxnSp>
        <p:nvCxnSpPr>
          <p:cNvPr id="136" name="Connecteur droit avec flèche 135"/>
          <p:cNvCxnSpPr>
            <a:stCxn id="71" idx="0"/>
            <a:endCxn id="73" idx="2"/>
          </p:cNvCxnSpPr>
          <p:nvPr/>
        </p:nvCxnSpPr>
        <p:spPr>
          <a:xfrm flipV="1">
            <a:off x="10458450" y="4133850"/>
            <a:ext cx="95250" cy="152400"/>
          </a:xfrm>
          <a:prstGeom prst="straightConnector1">
            <a:avLst/>
          </a:prstGeom>
          <a:ln w="17145">
            <a:solidFill>
              <a:srgbClr val="BACDB7"/>
            </a:solidFill>
            <a:tailEnd type="triangle" w="sm" len="sm"/>
          </a:ln>
        </p:spPr>
      </p:cxnSp>
      <p:cxnSp>
        <p:nvCxnSpPr>
          <p:cNvPr id="137" name="Connecteur droit avec flèche 136"/>
          <p:cNvCxnSpPr>
            <a:stCxn id="71" idx="2"/>
            <a:endCxn id="74" idx="0"/>
          </p:cNvCxnSpPr>
          <p:nvPr/>
        </p:nvCxnSpPr>
        <p:spPr>
          <a:xfrm>
            <a:off x="10458450" y="5181600"/>
            <a:ext cx="52388" cy="390525"/>
          </a:xfrm>
          <a:prstGeom prst="straightConnector1">
            <a:avLst/>
          </a:prstGeom>
          <a:ln w="17145">
            <a:solidFill>
              <a:srgbClr val="BACDB7"/>
            </a:solidFill>
            <a:tailEnd type="triangle" w="sm" len="sm"/>
          </a:ln>
        </p:spPr>
      </p:cxnSp>
      <p:cxnSp>
        <p:nvCxnSpPr>
          <p:cNvPr id="138" name="Connecteur : en angle 137"/>
          <p:cNvCxnSpPr>
            <a:stCxn id="74" idx="1"/>
            <a:endCxn id="70" idx="2"/>
          </p:cNvCxnSpPr>
          <p:nvPr/>
        </p:nvCxnSpPr>
        <p:spPr>
          <a:xfrm flipH="1" flipV="1">
            <a:off x="8105775" y="5067300"/>
            <a:ext cx="1333500" cy="757238"/>
          </a:xfrm>
          <a:prstGeom prst="bentConnector2">
            <a:avLst/>
          </a:prstGeom>
          <a:ln w="17145">
            <a:solidFill>
              <a:srgbClr val="BACDB7"/>
            </a:solidFill>
            <a:tailEnd type="triangle" w="sm" len="sm"/>
          </a:ln>
        </p:spPr>
      </p:cxnSp>
      <p:sp>
        <p:nvSpPr>
          <p:cNvPr id="84" name="Rectangle 83">
            <a:extLst>
              <a:ext uri="{FF2B5EF4-FFF2-40B4-BE49-F238E27FC236}">
                <a16:creationId xmlns:a16="http://schemas.microsoft.com/office/drawing/2014/main" id="{BB6E3DDF-C2F5-4559-B286-0561D7AABEB7}"/>
              </a:ext>
            </a:extLst>
          </p:cNvPr>
          <p:cNvSpPr>
            <a:spLocks noGrp="1"/>
          </p:cNvSpPr>
          <p:nvPr/>
        </p:nvSpPr>
        <p:spPr>
          <a:xfrm>
            <a:off x="3886200" y="3648075"/>
            <a:ext cx="504825" cy="276225"/>
          </a:xfrm>
          <a:prstGeom prst="rect">
            <a:avLst/>
          </a:prstGeom>
          <a:noFill/>
          <a:ln w="0">
            <a:noFill/>
          </a:ln>
        </p:spPr>
        <p:txBody>
          <a:bodyPr wrap="square" lIns="0" tIns="0" rIns="0" bIns="0" anchor="t">
            <a:noAutofit/>
          </a:bodyPr>
          <a:lstStyle/>
          <a:p>
            <a:pPr algn="l">
              <a:buNone/>
              <a:defRPr sz="1650" b="1">
                <a:solidFill>
                  <a:srgbClr val="D9BC7F"/>
                </a:solidFill>
                <a:latin typeface="Segoe UI"/>
                <a:ea typeface="Segoe UI"/>
                <a:cs typeface="Segoe UI"/>
              </a:defRPr>
            </a:pPr>
            <a:r>
              <a:rPr sz="1650" b="1">
                <a:solidFill>
                  <a:srgbClr val="D9BC7F"/>
                </a:solidFill>
                <a:latin typeface="Segoe UI"/>
                <a:ea typeface="Segoe UI"/>
                <a:cs typeface="Segoe UI"/>
              </a:rPr>
              <a:t>Oui</a:t>
            </a:r>
          </a:p>
        </p:txBody>
      </p:sp>
      <p:sp>
        <p:nvSpPr>
          <p:cNvPr id="85" name="Rectangle 84">
            <a:extLst>
              <a:ext uri="{FF2B5EF4-FFF2-40B4-BE49-F238E27FC236}">
                <a16:creationId xmlns:a16="http://schemas.microsoft.com/office/drawing/2014/main" id="{C600D44C-92C0-410E-82C8-6603B937134A}"/>
              </a:ext>
            </a:extLst>
          </p:cNvPr>
          <p:cNvSpPr>
            <a:spLocks noGrp="1"/>
          </p:cNvSpPr>
          <p:nvPr/>
        </p:nvSpPr>
        <p:spPr>
          <a:xfrm>
            <a:off x="3886200" y="5162550"/>
            <a:ext cx="504825" cy="276225"/>
          </a:xfrm>
          <a:prstGeom prst="rect">
            <a:avLst/>
          </a:prstGeom>
          <a:noFill/>
          <a:ln w="0">
            <a:noFill/>
          </a:ln>
        </p:spPr>
        <p:txBody>
          <a:bodyPr wrap="square" lIns="0" tIns="0" rIns="0" bIns="0" anchor="t">
            <a:noAutofit/>
          </a:bodyPr>
          <a:lstStyle/>
          <a:p>
            <a:pPr algn="l">
              <a:buNone/>
              <a:defRPr sz="1650" b="1">
                <a:solidFill>
                  <a:srgbClr val="D9BC7F"/>
                </a:solidFill>
                <a:latin typeface="Segoe UI"/>
                <a:ea typeface="Segoe UI"/>
                <a:cs typeface="Segoe UI"/>
              </a:defRPr>
            </a:pPr>
            <a:r>
              <a:rPr sz="1650" b="1">
                <a:solidFill>
                  <a:srgbClr val="D9BC7F"/>
                </a:solidFill>
                <a:latin typeface="Segoe UI"/>
                <a:ea typeface="Segoe UI"/>
                <a:cs typeface="Segoe UI"/>
              </a:rPr>
              <a:t>Non</a:t>
            </a:r>
          </a:p>
        </p:txBody>
      </p:sp>
      <p:sp>
        <p:nvSpPr>
          <p:cNvPr id="86" name="Rectangle 85">
            <a:extLst>
              <a:ext uri="{FF2B5EF4-FFF2-40B4-BE49-F238E27FC236}">
                <a16:creationId xmlns:a16="http://schemas.microsoft.com/office/drawing/2014/main" id="{0A88F77B-F270-4F83-956E-597C5A234377}"/>
              </a:ext>
            </a:extLst>
          </p:cNvPr>
          <p:cNvSpPr>
            <a:spLocks noGrp="1"/>
          </p:cNvSpPr>
          <p:nvPr/>
        </p:nvSpPr>
        <p:spPr>
          <a:xfrm>
            <a:off x="11077575" y="4114800"/>
            <a:ext cx="476250" cy="276225"/>
          </a:xfrm>
          <a:prstGeom prst="rect">
            <a:avLst/>
          </a:prstGeom>
          <a:noFill/>
          <a:ln w="0">
            <a:noFill/>
          </a:ln>
        </p:spPr>
        <p:txBody>
          <a:bodyPr wrap="square" lIns="0" tIns="0" rIns="0" bIns="0" anchor="t">
            <a:noAutofit/>
          </a:bodyPr>
          <a:lstStyle/>
          <a:p>
            <a:pPr algn="l">
              <a:buNone/>
              <a:defRPr sz="1500" b="1">
                <a:solidFill>
                  <a:srgbClr val="D9BC7F"/>
                </a:solidFill>
                <a:latin typeface="Segoe UI"/>
                <a:ea typeface="Segoe UI"/>
                <a:cs typeface="Segoe UI"/>
              </a:defRPr>
            </a:pPr>
            <a:r>
              <a:rPr sz="1500" b="1">
                <a:solidFill>
                  <a:srgbClr val="D9BC7F"/>
                </a:solidFill>
                <a:latin typeface="Segoe UI"/>
                <a:ea typeface="Segoe UI"/>
                <a:cs typeface="Segoe UI"/>
              </a:rPr>
              <a:t>Oui</a:t>
            </a:r>
          </a:p>
        </p:txBody>
      </p:sp>
      <p:sp>
        <p:nvSpPr>
          <p:cNvPr id="87" name="Rectangle 86">
            <a:extLst>
              <a:ext uri="{FF2B5EF4-FFF2-40B4-BE49-F238E27FC236}">
                <a16:creationId xmlns:a16="http://schemas.microsoft.com/office/drawing/2014/main" id="{22E78C38-FC70-455B-83D8-83C8B86FF552}"/>
              </a:ext>
            </a:extLst>
          </p:cNvPr>
          <p:cNvSpPr>
            <a:spLocks noGrp="1"/>
          </p:cNvSpPr>
          <p:nvPr/>
        </p:nvSpPr>
        <p:spPr>
          <a:xfrm>
            <a:off x="11077575" y="5257800"/>
            <a:ext cx="476250" cy="276225"/>
          </a:xfrm>
          <a:prstGeom prst="rect">
            <a:avLst/>
          </a:prstGeom>
          <a:noFill/>
          <a:ln w="0">
            <a:noFill/>
          </a:ln>
        </p:spPr>
        <p:txBody>
          <a:bodyPr wrap="square" lIns="0" tIns="0" rIns="0" bIns="0" anchor="t">
            <a:noAutofit/>
          </a:bodyPr>
          <a:lstStyle/>
          <a:p>
            <a:pPr algn="l">
              <a:buNone/>
              <a:defRPr sz="1500" b="1">
                <a:solidFill>
                  <a:srgbClr val="D9BC7F"/>
                </a:solidFill>
                <a:latin typeface="Segoe UI"/>
                <a:ea typeface="Segoe UI"/>
                <a:cs typeface="Segoe UI"/>
              </a:defRPr>
            </a:pPr>
            <a:r>
              <a:rPr sz="1500" b="1">
                <a:solidFill>
                  <a:srgbClr val="D9BC7F"/>
                </a:solidFill>
                <a:latin typeface="Segoe UI"/>
                <a:ea typeface="Segoe UI"/>
                <a:cs typeface="Segoe UI"/>
              </a:rPr>
              <a:t>Non</a:t>
            </a:r>
          </a:p>
        </p:txBody>
      </p:sp>
      <p:sp>
        <p:nvSpPr>
          <p:cNvPr id="89" name="Rectangle 88">
            <a:extLst>
              <a:ext uri="{FF2B5EF4-FFF2-40B4-BE49-F238E27FC236}">
                <a16:creationId xmlns:a16="http://schemas.microsoft.com/office/drawing/2014/main" id="{8DB65291-B84A-4495-882D-B0BAA77CEF41}"/>
              </a:ext>
            </a:extLst>
          </p:cNvPr>
          <p:cNvSpPr>
            <a:spLocks noGrp="1"/>
          </p:cNvSpPr>
          <p:nvPr/>
        </p:nvSpPr>
        <p:spPr>
          <a:xfrm>
            <a:off x="609600" y="6457950"/>
            <a:ext cx="8382000" cy="219075"/>
          </a:xfrm>
          <a:prstGeom prst="rect">
            <a:avLst/>
          </a:prstGeom>
          <a:noFill/>
          <a:ln w="0">
            <a:noFill/>
          </a:ln>
        </p:spPr>
        <p:txBody>
          <a:bodyPr wrap="square" lIns="0" tIns="0" rIns="0" bIns="0" anchor="t">
            <a:noAutofit/>
          </a:bodyPr>
          <a:lstStyle/>
          <a:p>
            <a:pPr algn="l">
              <a:buNone/>
              <a:defRPr sz="1125" b="0">
                <a:solidFill>
                  <a:srgbClr val="C1D0C1"/>
                </a:solidFill>
                <a:latin typeface="Segoe UI"/>
                <a:ea typeface="Segoe UI"/>
                <a:cs typeface="Segoe UI"/>
              </a:defRPr>
            </a:pPr>
            <a:r>
              <a:rPr sz="1125" b="0">
                <a:solidFill>
                  <a:srgbClr val="C1D0C1"/>
                </a:solidFill>
                <a:latin typeface="Segoe UI"/>
                <a:ea typeface="Segoe UI"/>
                <a:cs typeface="Segoe UI"/>
              </a:rPr>
              <a:t>Alcide / Pilotage du projet</a:t>
            </a:r>
          </a:p>
        </p:txBody>
      </p:sp>
      <p:sp>
        <p:nvSpPr>
          <p:cNvPr id="90" name="Rectangle 89">
            <a:extLst>
              <a:ext uri="{FF2B5EF4-FFF2-40B4-BE49-F238E27FC236}">
                <a16:creationId xmlns:a16="http://schemas.microsoft.com/office/drawing/2014/main" id="{B9885D48-0169-4595-A5B1-3E3FDCE5D66E}"/>
              </a:ext>
            </a:extLst>
          </p:cNvPr>
          <p:cNvSpPr>
            <a:spLocks noGrp="1"/>
          </p:cNvSpPr>
          <p:nvPr/>
        </p:nvSpPr>
        <p:spPr>
          <a:xfrm>
            <a:off x="11049000" y="6438900"/>
            <a:ext cx="533400" cy="228600"/>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13</a:t>
            </a:r>
          </a:p>
        </p:txBody>
      </p:sp>
    </p:spTree>
    <p:extLst>
      <p:ext uri="{BB962C8B-B14F-4D97-AF65-F5344CB8AC3E}">
        <p14:creationId xmlns:p14="http://schemas.microsoft.com/office/powerpoint/2010/main" val="67465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B2923"/>
        </a:solidFill>
        <a:effectLst/>
      </p:bgPr>
    </p:bg>
    <p:spTree>
      <p:nvGrpSpPr>
        <p:cNvPr id="1" name=""/>
        <p:cNvGrpSpPr/>
        <p:nvPr/>
      </p:nvGrpSpPr>
      <p:grpSpPr>
        <a:xfrm>
          <a:off x="0" y="0"/>
          <a:ext cx="0" cy="0"/>
          <a:chOff x="0" y="0"/>
          <a:chExt cx="0" cy="0"/>
        </a:xfrm>
      </p:grpSpPr>
      <p:pic>
        <p:nvPicPr>
          <p:cNvPr id="44" name="Image 43"/>
          <p:cNvPicPr>
            <a:picLocks noChangeAspect="1"/>
          </p:cNvPicPr>
          <p:nvPr/>
        </p:nvPicPr>
        <p:blipFill>
          <a:blip r:embed="rId3"/>
          <a:srcRect t="27" b="27"/>
          <a:stretch>
            <a:fillRect/>
          </a:stretch>
        </p:blipFill>
        <p:spPr>
          <a:xfrm>
            <a:off x="0" y="0"/>
            <a:ext cx="12192000" cy="6858000"/>
          </a:xfrm>
          <a:prstGeom prst="rect">
            <a:avLst/>
          </a:prstGeom>
        </p:spPr>
      </p:pic>
      <p:sp>
        <p:nvSpPr>
          <p:cNvPr id="7" name="Rectangle 6">
            <a:extLst>
              <a:ext uri="{FF2B5EF4-FFF2-40B4-BE49-F238E27FC236}">
                <a16:creationId xmlns:a16="http://schemas.microsoft.com/office/drawing/2014/main" id="{B978BD8A-C4CD-48AD-B1C8-C4F3AA1C1417}"/>
              </a:ext>
            </a:extLst>
          </p:cNvPr>
          <p:cNvSpPr>
            <a:spLocks noGrp="1"/>
          </p:cNvSpPr>
          <p:nvPr/>
        </p:nvSpPr>
        <p:spPr>
          <a:xfrm>
            <a:off x="609600" y="6457950"/>
            <a:ext cx="8382000" cy="219075"/>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Alcide / Pilotage du projet</a:t>
            </a:r>
          </a:p>
        </p:txBody>
      </p:sp>
      <p:sp>
        <p:nvSpPr>
          <p:cNvPr id="28" name="Rectangle 27">
            <a:extLst>
              <a:ext uri="{FF2B5EF4-FFF2-40B4-BE49-F238E27FC236}">
                <a16:creationId xmlns:a16="http://schemas.microsoft.com/office/drawing/2014/main" id="{37181121-0101-46F2-8CDE-7F6C5F54FB03}"/>
              </a:ext>
            </a:extLst>
          </p:cNvPr>
          <p:cNvSpPr>
            <a:spLocks noGrp="1"/>
          </p:cNvSpPr>
          <p:nvPr/>
        </p:nvSpPr>
        <p:spPr>
          <a:xfrm>
            <a:off x="609600" y="609600"/>
            <a:ext cx="10972800" cy="704850"/>
          </a:xfrm>
          <a:prstGeom prst="rect">
            <a:avLst/>
          </a:prstGeom>
          <a:noFill/>
          <a:ln w="0">
            <a:noFill/>
          </a:ln>
        </p:spPr>
        <p:txBody>
          <a:bodyPr wrap="square" lIns="0" tIns="0" rIns="0" bIns="0" anchor="t">
            <a:noAutofit/>
          </a:bodyPr>
          <a:lstStyle/>
          <a:p>
            <a:pPr algn="l">
              <a:buNone/>
              <a:defRPr sz="3600" b="1">
                <a:solidFill>
                  <a:srgbClr val="F4F7F3"/>
                </a:solidFill>
                <a:latin typeface="Segoe UI"/>
                <a:ea typeface="Segoe UI"/>
                <a:cs typeface="Segoe UI"/>
              </a:defRPr>
            </a:pPr>
            <a:r>
              <a:rPr sz="3600" b="1">
                <a:solidFill>
                  <a:srgbClr val="F4F7F3"/>
                </a:solidFill>
                <a:latin typeface="Segoe UI"/>
                <a:ea typeface="Segoe UI"/>
                <a:cs typeface="Segoe UI"/>
              </a:rPr>
              <a:t>Les écrans avant et après</a:t>
            </a:r>
          </a:p>
        </p:txBody>
      </p:sp>
      <p:sp>
        <p:nvSpPr>
          <p:cNvPr id="29" name="Rectangle 28">
            <a:extLst>
              <a:ext uri="{FF2B5EF4-FFF2-40B4-BE49-F238E27FC236}">
                <a16:creationId xmlns:a16="http://schemas.microsoft.com/office/drawing/2014/main" id="{0AD6E644-16A9-49D2-999C-ACBA10AFF60C}"/>
              </a:ext>
            </a:extLst>
          </p:cNvPr>
          <p:cNvSpPr>
            <a:spLocks noGrp="1"/>
          </p:cNvSpPr>
          <p:nvPr/>
        </p:nvSpPr>
        <p:spPr>
          <a:xfrm>
            <a:off x="609600" y="1609725"/>
            <a:ext cx="5238750" cy="381000"/>
          </a:xfrm>
          <a:prstGeom prst="rect">
            <a:avLst/>
          </a:prstGeom>
          <a:noFill/>
          <a:ln w="0">
            <a:noFill/>
          </a:ln>
        </p:spPr>
        <p:txBody>
          <a:bodyPr wrap="square" lIns="0" tIns="0" rIns="0" bIns="0" anchor="t">
            <a:noAutofit/>
          </a:bodyPr>
          <a:lstStyle/>
          <a:p>
            <a:pPr algn="l">
              <a:buNone/>
              <a:defRPr sz="2100" b="1">
                <a:solidFill>
                  <a:srgbClr val="BACDB7"/>
                </a:solidFill>
                <a:latin typeface="Segoe UI"/>
                <a:ea typeface="Segoe UI"/>
                <a:cs typeface="Segoe UI"/>
              </a:defRPr>
            </a:pPr>
            <a:r>
              <a:rPr sz="2100" b="1">
                <a:solidFill>
                  <a:srgbClr val="BACDB7"/>
                </a:solidFill>
                <a:latin typeface="Segoe UI"/>
                <a:ea typeface="Segoe UI"/>
                <a:cs typeface="Segoe UI"/>
              </a:rPr>
              <a:t>Écran du 21 juillet 2026</a:t>
            </a:r>
          </a:p>
        </p:txBody>
      </p:sp>
      <p:sp>
        <p:nvSpPr>
          <p:cNvPr id="30" name="Rectangle 29">
            <a:extLst>
              <a:ext uri="{FF2B5EF4-FFF2-40B4-BE49-F238E27FC236}">
                <a16:creationId xmlns:a16="http://schemas.microsoft.com/office/drawing/2014/main" id="{619FB791-D4BC-4269-82BB-04456DA9B3E2}"/>
              </a:ext>
            </a:extLst>
          </p:cNvPr>
          <p:cNvSpPr>
            <a:spLocks noGrp="1"/>
          </p:cNvSpPr>
          <p:nvPr/>
        </p:nvSpPr>
        <p:spPr>
          <a:xfrm>
            <a:off x="6343650" y="1609725"/>
            <a:ext cx="5238750" cy="381000"/>
          </a:xfrm>
          <a:prstGeom prst="rect">
            <a:avLst/>
          </a:prstGeom>
          <a:noFill/>
          <a:ln w="0">
            <a:noFill/>
          </a:ln>
        </p:spPr>
        <p:txBody>
          <a:bodyPr wrap="square" lIns="0" tIns="0" rIns="0" bIns="0" anchor="t">
            <a:noAutofit/>
          </a:bodyPr>
          <a:lstStyle/>
          <a:p>
            <a:pPr algn="l">
              <a:buNone/>
              <a:defRPr sz="2100" b="1">
                <a:solidFill>
                  <a:srgbClr val="BACDB7"/>
                </a:solidFill>
                <a:latin typeface="Segoe UI"/>
                <a:ea typeface="Segoe UI"/>
                <a:cs typeface="Segoe UI"/>
              </a:defRPr>
            </a:pPr>
            <a:r>
              <a:rPr sz="2100" b="1">
                <a:solidFill>
                  <a:srgbClr val="BACDB7"/>
                </a:solidFill>
                <a:latin typeface="Segoe UI"/>
                <a:ea typeface="Segoe UI"/>
                <a:cs typeface="Segoe UI"/>
              </a:rPr>
              <a:t>Écran du 11 septembre 2026</a:t>
            </a:r>
          </a:p>
        </p:txBody>
      </p:sp>
      <p:pic>
        <p:nvPicPr>
          <p:cNvPr id="49" name="Image 48"/>
          <p:cNvPicPr>
            <a:picLocks noChangeAspect="1"/>
          </p:cNvPicPr>
          <p:nvPr/>
        </p:nvPicPr>
        <p:blipFill>
          <a:blip r:embed="rId4"/>
          <a:srcRect l="46528" t="9677" r="2500" b="48618"/>
          <a:stretch>
            <a:fillRect/>
          </a:stretch>
        </p:blipFill>
        <p:spPr>
          <a:xfrm>
            <a:off x="609600" y="2095500"/>
            <a:ext cx="5238750" cy="2952750"/>
          </a:xfrm>
          <a:prstGeom prst="rect">
            <a:avLst/>
          </a:prstGeom>
        </p:spPr>
      </p:pic>
      <p:pic>
        <p:nvPicPr>
          <p:cNvPr id="50" name="Image 49"/>
          <p:cNvPicPr>
            <a:picLocks noChangeAspect="1"/>
          </p:cNvPicPr>
          <p:nvPr/>
        </p:nvPicPr>
        <p:blipFill>
          <a:blip r:embed="rId5"/>
          <a:srcRect l="20997" t="23585" r="21785" b="3966"/>
          <a:stretch>
            <a:fillRect/>
          </a:stretch>
        </p:blipFill>
        <p:spPr>
          <a:xfrm>
            <a:off x="6343650" y="2095500"/>
            <a:ext cx="5238750" cy="2952750"/>
          </a:xfrm>
          <a:prstGeom prst="rect">
            <a:avLst/>
          </a:prstGeom>
        </p:spPr>
      </p:pic>
      <p:sp>
        <p:nvSpPr>
          <p:cNvPr id="33" name="Rectangle 32">
            <a:extLst>
              <a:ext uri="{FF2B5EF4-FFF2-40B4-BE49-F238E27FC236}">
                <a16:creationId xmlns:a16="http://schemas.microsoft.com/office/drawing/2014/main" id="{85C2B252-5BED-40D4-9301-9E4DDC0448C4}"/>
              </a:ext>
            </a:extLst>
          </p:cNvPr>
          <p:cNvSpPr>
            <a:spLocks noGrp="1"/>
          </p:cNvSpPr>
          <p:nvPr/>
        </p:nvSpPr>
        <p:spPr>
          <a:xfrm>
            <a:off x="609600" y="5200650"/>
            <a:ext cx="5238750" cy="342900"/>
          </a:xfrm>
          <a:prstGeom prst="rect">
            <a:avLst/>
          </a:prstGeom>
          <a:noFill/>
          <a:ln w="0">
            <a:noFill/>
          </a:ln>
        </p:spPr>
        <p:txBody>
          <a:bodyPr wrap="square" lIns="0" tIns="0" rIns="0" bIns="0" anchor="t">
            <a:noAutofit/>
          </a:bodyPr>
          <a:lstStyle/>
          <a:p>
            <a:pPr algn="l">
              <a:buNone/>
              <a:defRPr sz="1875" b="0">
                <a:solidFill>
                  <a:srgbClr val="C1D0C1"/>
                </a:solidFill>
                <a:latin typeface="Segoe UI"/>
                <a:ea typeface="Segoe UI"/>
                <a:cs typeface="Segoe UI"/>
              </a:defRPr>
            </a:pPr>
            <a:r>
              <a:rPr sz="1875" b="0">
                <a:solidFill>
                  <a:srgbClr val="C1D0C1"/>
                </a:solidFill>
                <a:latin typeface="Segoe UI"/>
                <a:ea typeface="Segoe UI"/>
                <a:cs typeface="Segoe UI"/>
              </a:rPr>
              <a:t>Modèle, coût estimé et sortie affichés</a:t>
            </a:r>
          </a:p>
        </p:txBody>
      </p:sp>
      <p:sp>
        <p:nvSpPr>
          <p:cNvPr id="34" name="Rectangle 33">
            <a:extLst>
              <a:ext uri="{FF2B5EF4-FFF2-40B4-BE49-F238E27FC236}">
                <a16:creationId xmlns:a16="http://schemas.microsoft.com/office/drawing/2014/main" id="{1C8AF0FA-3C68-4730-B6E8-FA1C226C2FDB}"/>
              </a:ext>
            </a:extLst>
          </p:cNvPr>
          <p:cNvSpPr>
            <a:spLocks noGrp="1"/>
          </p:cNvSpPr>
          <p:nvPr/>
        </p:nvSpPr>
        <p:spPr>
          <a:xfrm>
            <a:off x="6343650" y="5200650"/>
            <a:ext cx="5238750" cy="342900"/>
          </a:xfrm>
          <a:prstGeom prst="rect">
            <a:avLst/>
          </a:prstGeom>
          <a:noFill/>
          <a:ln w="0">
            <a:noFill/>
          </a:ln>
        </p:spPr>
        <p:txBody>
          <a:bodyPr wrap="square" lIns="0" tIns="0" rIns="0" bIns="0" anchor="t">
            <a:noAutofit/>
          </a:bodyPr>
          <a:lstStyle/>
          <a:p>
            <a:pPr algn="l">
              <a:buNone/>
              <a:defRPr sz="1875" b="0">
                <a:solidFill>
                  <a:srgbClr val="C1D0C1"/>
                </a:solidFill>
                <a:latin typeface="Segoe UI"/>
                <a:ea typeface="Segoe UI"/>
                <a:cs typeface="Segoe UI"/>
              </a:defRPr>
            </a:pPr>
            <a:r>
              <a:rPr sz="1875" b="0">
                <a:solidFill>
                  <a:srgbClr val="C1D0C1"/>
                </a:solidFill>
                <a:latin typeface="Segoe UI"/>
                <a:ea typeface="Segoe UI"/>
                <a:cs typeface="Segoe UI"/>
              </a:rPr>
              <a:t>Informations d’exploitation retirées</a:t>
            </a:r>
          </a:p>
        </p:txBody>
      </p:sp>
      <p:sp>
        <p:nvSpPr>
          <p:cNvPr id="40" name="Rectangle 39">
            <a:extLst>
              <a:ext uri="{FF2B5EF4-FFF2-40B4-BE49-F238E27FC236}">
                <a16:creationId xmlns:a16="http://schemas.microsoft.com/office/drawing/2014/main" id="{18AB82CA-4095-4276-95BA-778D1026E321}"/>
              </a:ext>
            </a:extLst>
          </p:cNvPr>
          <p:cNvSpPr>
            <a:spLocks noGrp="1"/>
          </p:cNvSpPr>
          <p:nvPr/>
        </p:nvSpPr>
        <p:spPr>
          <a:xfrm>
            <a:off x="11049000" y="6438900"/>
            <a:ext cx="533400" cy="228600"/>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14</a:t>
            </a:r>
          </a:p>
        </p:txBody>
      </p:sp>
    </p:spTree>
    <p:extLst>
      <p:ext uri="{BB962C8B-B14F-4D97-AF65-F5344CB8AC3E}">
        <p14:creationId xmlns:p14="http://schemas.microsoft.com/office/powerpoint/2010/main" val="16229564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B2923"/>
        </a:solidFill>
        <a:effectLst/>
      </p:bgPr>
    </p:bg>
    <p:spTree>
      <p:nvGrpSpPr>
        <p:cNvPr id="1" name=""/>
        <p:cNvGrpSpPr/>
        <p:nvPr/>
      </p:nvGrpSpPr>
      <p:grpSpPr>
        <a:xfrm>
          <a:off x="0" y="0"/>
          <a:ext cx="0" cy="0"/>
          <a:chOff x="0" y="0"/>
          <a:chExt cx="0" cy="0"/>
        </a:xfrm>
      </p:grpSpPr>
      <p:pic>
        <p:nvPicPr>
          <p:cNvPr id="36" name="Image 35"/>
          <p:cNvPicPr>
            <a:picLocks noChangeAspect="1"/>
          </p:cNvPicPr>
          <p:nvPr/>
        </p:nvPicPr>
        <p:blipFill>
          <a:blip r:embed="rId3"/>
          <a:srcRect t="27" b="27"/>
          <a:stretch>
            <a:fillRect/>
          </a:stretch>
        </p:blipFill>
        <p:spPr>
          <a:xfrm>
            <a:off x="0" y="0"/>
            <a:ext cx="12192000" cy="6858000"/>
          </a:xfrm>
          <a:prstGeom prst="rect">
            <a:avLst/>
          </a:prstGeom>
        </p:spPr>
      </p:pic>
      <p:sp>
        <p:nvSpPr>
          <p:cNvPr id="26" name="Rectangle 25">
            <a:extLst>
              <a:ext uri="{FF2B5EF4-FFF2-40B4-BE49-F238E27FC236}">
                <a16:creationId xmlns:a16="http://schemas.microsoft.com/office/drawing/2014/main" id="{8859357E-88FC-487D-B233-6D248D816FFD}"/>
              </a:ext>
            </a:extLst>
          </p:cNvPr>
          <p:cNvSpPr>
            <a:spLocks noGrp="1"/>
          </p:cNvSpPr>
          <p:nvPr/>
        </p:nvSpPr>
        <p:spPr>
          <a:xfrm>
            <a:off x="609600" y="6457950"/>
            <a:ext cx="8382000" cy="219075"/>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Alcide / Pilotage du projet</a:t>
            </a:r>
          </a:p>
        </p:txBody>
      </p:sp>
      <p:sp>
        <p:nvSpPr>
          <p:cNvPr id="28" name="Rectangle 27">
            <a:extLst>
              <a:ext uri="{FF2B5EF4-FFF2-40B4-BE49-F238E27FC236}">
                <a16:creationId xmlns:a16="http://schemas.microsoft.com/office/drawing/2014/main" id="{D2F3CEA4-C851-4107-B963-3CF3A22028E1}"/>
              </a:ext>
            </a:extLst>
          </p:cNvPr>
          <p:cNvSpPr>
            <a:spLocks noGrp="1"/>
          </p:cNvSpPr>
          <p:nvPr/>
        </p:nvSpPr>
        <p:spPr>
          <a:xfrm>
            <a:off x="609600" y="609600"/>
            <a:ext cx="10972800" cy="704850"/>
          </a:xfrm>
          <a:prstGeom prst="rect">
            <a:avLst/>
          </a:prstGeom>
          <a:noFill/>
          <a:ln w="0">
            <a:noFill/>
          </a:ln>
        </p:spPr>
        <p:txBody>
          <a:bodyPr wrap="square" lIns="0" tIns="0" rIns="0" bIns="0" anchor="t">
            <a:noAutofit/>
          </a:bodyPr>
          <a:lstStyle/>
          <a:p>
            <a:pPr algn="l">
              <a:buNone/>
              <a:defRPr sz="3750" b="1">
                <a:solidFill>
                  <a:srgbClr val="F4F7F3"/>
                </a:solidFill>
                <a:latin typeface="Segoe UI"/>
                <a:ea typeface="Segoe UI"/>
                <a:cs typeface="Segoe UI"/>
              </a:defRPr>
            </a:pPr>
            <a:r>
              <a:rPr sz="3750" b="1">
                <a:solidFill>
                  <a:srgbClr val="F4F7F3"/>
                </a:solidFill>
                <a:latin typeface="Segoe UI"/>
                <a:ea typeface="Segoe UI"/>
                <a:cs typeface="Segoe UI"/>
              </a:rPr>
              <a:t>Les risques à surveiller</a:t>
            </a:r>
          </a:p>
        </p:txBody>
      </p:sp>
      <p:graphicFrame>
        <p:nvGraphicFramePr>
          <p:cNvPr id="39" name="Tableau 38"/>
          <p:cNvGraphicFramePr/>
          <p:nvPr/>
        </p:nvGraphicFramePr>
        <p:xfrm>
          <a:off x="609600" y="1990725"/>
          <a:ext cx="10972800" cy="3962400"/>
        </p:xfrm>
        <a:graphic>
          <a:graphicData uri="http://schemas.openxmlformats.org/drawingml/2006/table">
            <a:tbl>
              <a:tblPr/>
              <a:tblGrid>
                <a:gridCol w="3675888">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4828032">
                  <a:extLst>
                    <a:ext uri="{9D8B030D-6E8A-4147-A177-3AD203B41FA5}">
                      <a16:colId xmlns:a16="http://schemas.microsoft.com/office/drawing/2014/main" val="20002"/>
                    </a:ext>
                  </a:extLst>
                </a:gridCol>
              </a:tblGrid>
              <a:tr h="523875">
                <a:tc>
                  <a:txBody>
                    <a:bodyPr/>
                    <a:lstStyle/>
                    <a:p>
                      <a:pPr algn="l">
                        <a:buNone/>
                      </a:pPr>
                      <a:r>
                        <a:rPr sz="1950" b="1">
                          <a:solidFill>
                            <a:srgbClr val="BACDB7"/>
                          </a:solidFill>
                          <a:latin typeface="Segoe UI"/>
                          <a:ea typeface="Segoe UI"/>
                          <a:cs typeface="Segoe UI"/>
                        </a:rPr>
                        <a:t>Risque et signal</a:t>
                      </a:r>
                    </a:p>
                  </a:txBody>
                  <a:tcPr anchor="ctr">
                    <a:solidFill>
                      <a:srgbClr val="213B2E"/>
                    </a:solidFill>
                  </a:tcPr>
                </a:tc>
                <a:tc>
                  <a:txBody>
                    <a:bodyPr/>
                    <a:lstStyle/>
                    <a:p>
                      <a:pPr algn="l">
                        <a:buNone/>
                      </a:pPr>
                      <a:r>
                        <a:rPr sz="1950" b="1">
                          <a:solidFill>
                            <a:srgbClr val="BACDB7"/>
                          </a:solidFill>
                          <a:latin typeface="Segoe UI"/>
                          <a:ea typeface="Segoe UI"/>
                          <a:cs typeface="Segoe UI"/>
                        </a:rPr>
                        <a:t>Responsable du suivi</a:t>
                      </a:r>
                    </a:p>
                  </a:txBody>
                  <a:tcPr anchor="ctr">
                    <a:solidFill>
                      <a:srgbClr val="213B2E"/>
                    </a:solidFill>
                  </a:tcPr>
                </a:tc>
                <a:tc>
                  <a:txBody>
                    <a:bodyPr/>
                    <a:lstStyle/>
                    <a:p>
                      <a:pPr algn="l">
                        <a:buNone/>
                      </a:pPr>
                      <a:r>
                        <a:rPr sz="1950" b="1">
                          <a:solidFill>
                            <a:srgbClr val="BACDB7"/>
                          </a:solidFill>
                          <a:latin typeface="Segoe UI"/>
                          <a:ea typeface="Segoe UI"/>
                          <a:cs typeface="Segoe UI"/>
                        </a:rPr>
                        <a:t>Réponse et décision</a:t>
                      </a:r>
                    </a:p>
                  </a:txBody>
                  <a:tcPr anchor="ctr">
                    <a:solidFill>
                      <a:srgbClr val="213B2E"/>
                    </a:solidFill>
                  </a:tcPr>
                </a:tc>
                <a:extLst>
                  <a:ext uri="{0D108BD9-81ED-4DB2-BD59-A6C34878D82A}">
                    <a16:rowId xmlns:a16="http://schemas.microsoft.com/office/drawing/2014/main" val="10000"/>
                  </a:ext>
                </a:extLst>
              </a:tr>
              <a:tr h="819150">
                <a:tc>
                  <a:txBody>
                    <a:bodyPr/>
                    <a:lstStyle/>
                    <a:p>
                      <a:pPr algn="l">
                        <a:buNone/>
                      </a:pPr>
                      <a:r>
                        <a:rPr sz="1950" b="0">
                          <a:solidFill>
                            <a:srgbClr val="F4F7F3"/>
                          </a:solidFill>
                          <a:latin typeface="Segoe UI"/>
                          <a:ea typeface="Segoe UI"/>
                          <a:cs typeface="Segoe UI"/>
                        </a:rPr>
                        <a:t>Sortie IA invalide</a:t>
                      </a:r>
                    </a:p>
                    <a:p>
                      <a:pPr algn="l">
                        <a:buNone/>
                      </a:pPr>
                      <a:r>
                        <a:rPr sz="1950" b="0">
                          <a:solidFill>
                            <a:srgbClr val="F4F7F3"/>
                          </a:solidFill>
                          <a:latin typeface="Segoe UI"/>
                          <a:ea typeface="Segoe UI"/>
                          <a:cs typeface="Segoe UI"/>
                        </a:rPr>
                        <a:t>Rejets &gt; 5 %</a:t>
                      </a:r>
                    </a:p>
                  </a:txBody>
                  <a:tcPr anchor="ctr">
                    <a:solidFill>
                      <a:srgbClr val="1B2923"/>
                    </a:solidFill>
                  </a:tcPr>
                </a:tc>
                <a:tc>
                  <a:txBody>
                    <a:bodyPr/>
                    <a:lstStyle/>
                    <a:p>
                      <a:pPr algn="l">
                        <a:buNone/>
                      </a:pPr>
                      <a:r>
                        <a:rPr sz="1950" b="0">
                          <a:solidFill>
                            <a:srgbClr val="F4F7F3"/>
                          </a:solidFill>
                          <a:latin typeface="Segoe UI"/>
                          <a:ea typeface="Segoe UI"/>
                          <a:cs typeface="Segoe UI"/>
                        </a:rPr>
                        <a:t>QA + référent sport</a:t>
                      </a:r>
                    </a:p>
                  </a:txBody>
                  <a:tcPr anchor="ctr">
                    <a:solidFill>
                      <a:srgbClr val="1B2923"/>
                    </a:solidFill>
                  </a:tcPr>
                </a:tc>
                <a:tc>
                  <a:txBody>
                    <a:bodyPr/>
                    <a:lstStyle/>
                    <a:p>
                      <a:pPr algn="l">
                        <a:buNone/>
                      </a:pPr>
                      <a:r>
                        <a:rPr sz="1950" b="0">
                          <a:solidFill>
                            <a:srgbClr val="F4F7F3"/>
                          </a:solidFill>
                          <a:latin typeface="Segoe UI"/>
                          <a:ea typeface="Segoe UI"/>
                          <a:cs typeface="Segoe UI"/>
                        </a:rPr>
                        <a:t>Kevin ajuste le schéma ou le prompt, puis QA reteste</a:t>
                      </a:r>
                    </a:p>
                  </a:txBody>
                  <a:tcPr anchor="ctr">
                    <a:solidFill>
                      <a:srgbClr val="1B2923"/>
                    </a:solidFill>
                  </a:tcPr>
                </a:tc>
                <a:extLst>
                  <a:ext uri="{0D108BD9-81ED-4DB2-BD59-A6C34878D82A}">
                    <a16:rowId xmlns:a16="http://schemas.microsoft.com/office/drawing/2014/main" val="10001"/>
                  </a:ext>
                </a:extLst>
              </a:tr>
              <a:tr h="819150">
                <a:tc>
                  <a:txBody>
                    <a:bodyPr/>
                    <a:lstStyle/>
                    <a:p>
                      <a:pPr algn="l">
                        <a:buNone/>
                      </a:pPr>
                      <a:r>
                        <a:rPr sz="1950" b="0">
                          <a:solidFill>
                            <a:srgbClr val="F4F7F3"/>
                          </a:solidFill>
                          <a:latin typeface="Segoe UI"/>
                          <a:ea typeface="Segoe UI"/>
                          <a:cs typeface="Segoe UI"/>
                        </a:rPr>
                        <a:t>Coût IA</a:t>
                      </a:r>
                    </a:p>
                    <a:p>
                      <a:pPr algn="l">
                        <a:buNone/>
                      </a:pPr>
                      <a:r>
                        <a:rPr sz="1950" b="0">
                          <a:solidFill>
                            <a:srgbClr val="F4F7F3"/>
                          </a:solidFill>
                          <a:latin typeface="Segoe UI"/>
                          <a:ea typeface="Segoe UI"/>
                          <a:cs typeface="Segoe UI"/>
                        </a:rPr>
                        <a:t>&gt; 70 % du plafond</a:t>
                      </a:r>
                    </a:p>
                  </a:txBody>
                  <a:tcPr anchor="ctr">
                    <a:solidFill>
                      <a:srgbClr val="1B2923"/>
                    </a:solidFill>
                  </a:tcPr>
                </a:tc>
                <a:tc>
                  <a:txBody>
                    <a:bodyPr/>
                    <a:lstStyle/>
                    <a:p>
                      <a:pPr algn="l">
                        <a:buNone/>
                      </a:pPr>
                      <a:r>
                        <a:rPr sz="1950" b="0">
                          <a:solidFill>
                            <a:srgbClr val="F4F7F3"/>
                          </a:solidFill>
                          <a:latin typeface="Segoe UI"/>
                          <a:ea typeface="Segoe UI"/>
                          <a:cs typeface="Segoe UI"/>
                        </a:rPr>
                        <a:t>PO + Kevin</a:t>
                      </a:r>
                    </a:p>
                  </a:txBody>
                  <a:tcPr anchor="ctr">
                    <a:solidFill>
                      <a:srgbClr val="1B2923"/>
                    </a:solidFill>
                  </a:tcPr>
                </a:tc>
                <a:tc>
                  <a:txBody>
                    <a:bodyPr/>
                    <a:lstStyle/>
                    <a:p>
                      <a:pPr algn="l">
                        <a:buNone/>
                      </a:pPr>
                      <a:r>
                        <a:rPr sz="1950" b="0">
                          <a:solidFill>
                            <a:srgbClr val="F4F7F3"/>
                          </a:solidFill>
                          <a:latin typeface="Segoe UI"/>
                          <a:ea typeface="Segoe UI"/>
                          <a:cs typeface="Segoe UI"/>
                        </a:rPr>
                        <a:t>Analyse de consommation, quotas ou arbitrage du commanditaire</a:t>
                      </a:r>
                    </a:p>
                  </a:txBody>
                  <a:tcPr anchor="ctr">
                    <a:solidFill>
                      <a:srgbClr val="1B2923"/>
                    </a:solidFill>
                  </a:tcPr>
                </a:tc>
                <a:extLst>
                  <a:ext uri="{0D108BD9-81ED-4DB2-BD59-A6C34878D82A}">
                    <a16:rowId xmlns:a16="http://schemas.microsoft.com/office/drawing/2014/main" val="10002"/>
                  </a:ext>
                </a:extLst>
              </a:tr>
              <a:tr h="876300">
                <a:tc>
                  <a:txBody>
                    <a:bodyPr/>
                    <a:lstStyle/>
                    <a:p>
                      <a:pPr algn="l">
                        <a:buNone/>
                      </a:pPr>
                      <a:r>
                        <a:rPr sz="1950" b="0">
                          <a:solidFill>
                            <a:srgbClr val="F4F7F3"/>
                          </a:solidFill>
                          <a:latin typeface="Segoe UI"/>
                          <a:ea typeface="Segoe UI"/>
                          <a:cs typeface="Segoe UI"/>
                        </a:rPr>
                        <a:t>Accès aux données d’autrui</a:t>
                      </a:r>
                    </a:p>
                    <a:p>
                      <a:pPr algn="l">
                        <a:buNone/>
                      </a:pPr>
                      <a:r>
                        <a:rPr sz="1950" b="0">
                          <a:solidFill>
                            <a:srgbClr val="F4F7F3"/>
                          </a:solidFill>
                          <a:latin typeface="Segoe UI"/>
                          <a:ea typeface="Segoe UI"/>
                          <a:cs typeface="Segoe UI"/>
                        </a:rPr>
                        <a:t>Un contrôle en échec</a:t>
                      </a:r>
                    </a:p>
                  </a:txBody>
                  <a:tcPr anchor="ctr">
                    <a:solidFill>
                      <a:srgbClr val="1B2923"/>
                    </a:solidFill>
                  </a:tcPr>
                </a:tc>
                <a:tc>
                  <a:txBody>
                    <a:bodyPr/>
                    <a:lstStyle/>
                    <a:p>
                      <a:pPr algn="l">
                        <a:buNone/>
                      </a:pPr>
                      <a:r>
                        <a:rPr sz="1950" b="0">
                          <a:solidFill>
                            <a:srgbClr val="F4F7F3"/>
                          </a:solidFill>
                          <a:latin typeface="Segoe UI"/>
                          <a:ea typeface="Segoe UI"/>
                          <a:cs typeface="Segoe UI"/>
                        </a:rPr>
                        <a:t>Référent sécurité</a:t>
                      </a:r>
                    </a:p>
                  </a:txBody>
                  <a:tcPr anchor="ctr">
                    <a:solidFill>
                      <a:srgbClr val="1B2923"/>
                    </a:solidFill>
                  </a:tcPr>
                </a:tc>
                <a:tc>
                  <a:txBody>
                    <a:bodyPr/>
                    <a:lstStyle/>
                    <a:p>
                      <a:pPr algn="l">
                        <a:buNone/>
                      </a:pPr>
                      <a:r>
                        <a:rPr sz="1950" b="0">
                          <a:solidFill>
                            <a:srgbClr val="F4F7F3"/>
                          </a:solidFill>
                          <a:latin typeface="Segoe UI"/>
                          <a:ea typeface="Segoe UI"/>
                          <a:cs typeface="Segoe UI"/>
                        </a:rPr>
                        <a:t>Livraison bloquée, correction par Kevin et nouveau contrôle</a:t>
                      </a:r>
                    </a:p>
                  </a:txBody>
                  <a:tcPr anchor="ctr">
                    <a:solidFill>
                      <a:srgbClr val="1B2923"/>
                    </a:solidFill>
                  </a:tcPr>
                </a:tc>
                <a:extLst>
                  <a:ext uri="{0D108BD9-81ED-4DB2-BD59-A6C34878D82A}">
                    <a16:rowId xmlns:a16="http://schemas.microsoft.com/office/drawing/2014/main" val="10003"/>
                  </a:ext>
                </a:extLst>
              </a:tr>
              <a:tr h="762000">
                <a:tc>
                  <a:txBody>
                    <a:bodyPr/>
                    <a:lstStyle/>
                    <a:p>
                      <a:pPr algn="l">
                        <a:buNone/>
                      </a:pPr>
                      <a:r>
                        <a:rPr sz="1950" b="0">
                          <a:solidFill>
                            <a:srgbClr val="F4F7F3"/>
                          </a:solidFill>
                          <a:latin typeface="Segoe UI"/>
                          <a:ea typeface="Segoe UI"/>
                          <a:cs typeface="Segoe UI"/>
                        </a:rPr>
                        <a:t>Migration en échec</a:t>
                      </a:r>
                    </a:p>
                  </a:txBody>
                  <a:tcPr anchor="ctr">
                    <a:solidFill>
                      <a:srgbClr val="1B2923"/>
                    </a:solidFill>
                  </a:tcPr>
                </a:tc>
                <a:tc>
                  <a:txBody>
                    <a:bodyPr/>
                    <a:lstStyle/>
                    <a:p>
                      <a:pPr algn="l">
                        <a:buNone/>
                      </a:pPr>
                      <a:r>
                        <a:rPr sz="1950" b="0">
                          <a:solidFill>
                            <a:srgbClr val="F4F7F3"/>
                          </a:solidFill>
                          <a:latin typeface="Segoe UI"/>
                          <a:ea typeface="Segoe UI"/>
                          <a:cs typeface="Segoe UI"/>
                        </a:rPr>
                        <a:t>Kevin</a:t>
                      </a:r>
                    </a:p>
                  </a:txBody>
                  <a:tcPr anchor="ctr">
                    <a:solidFill>
                      <a:srgbClr val="1B2923"/>
                    </a:solidFill>
                  </a:tcPr>
                </a:tc>
                <a:tc>
                  <a:txBody>
                    <a:bodyPr/>
                    <a:lstStyle/>
                    <a:p>
                      <a:pPr algn="l">
                        <a:buNone/>
                      </a:pPr>
                      <a:r>
                        <a:rPr sz="1950" b="0">
                          <a:solidFill>
                            <a:srgbClr val="F4F7F3"/>
                          </a:solidFill>
                          <a:latin typeface="Segoe UI"/>
                          <a:ea typeface="Segoe UI"/>
                          <a:cs typeface="Segoe UI"/>
                        </a:rPr>
                        <a:t>Reprise documentée, vérification QA avant remise à disposition</a:t>
                      </a:r>
                    </a:p>
                  </a:txBody>
                  <a:tcPr anchor="ctr">
                    <a:solidFill>
                      <a:srgbClr val="1B2923"/>
                    </a:solidFill>
                  </a:tcPr>
                </a:tc>
                <a:extLst>
                  <a:ext uri="{0D108BD9-81ED-4DB2-BD59-A6C34878D82A}">
                    <a16:rowId xmlns:a16="http://schemas.microsoft.com/office/drawing/2014/main" val="10004"/>
                  </a:ext>
                </a:extLst>
              </a:tr>
            </a:tbl>
          </a:graphicData>
        </a:graphic>
      </p:graphicFrame>
      <p:sp>
        <p:nvSpPr>
          <p:cNvPr id="33" name="Rectangle 32">
            <a:extLst>
              <a:ext uri="{FF2B5EF4-FFF2-40B4-BE49-F238E27FC236}">
                <a16:creationId xmlns:a16="http://schemas.microsoft.com/office/drawing/2014/main" id="{94F15376-53EA-4E56-9B64-757DF37943A2}"/>
              </a:ext>
            </a:extLst>
          </p:cNvPr>
          <p:cNvSpPr>
            <a:spLocks noGrp="1"/>
          </p:cNvSpPr>
          <p:nvPr/>
        </p:nvSpPr>
        <p:spPr>
          <a:xfrm>
            <a:off x="11049000" y="6438900"/>
            <a:ext cx="533400" cy="228600"/>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15</a:t>
            </a:r>
          </a:p>
        </p:txBody>
      </p:sp>
    </p:spTree>
    <p:extLst>
      <p:ext uri="{BB962C8B-B14F-4D97-AF65-F5344CB8AC3E}">
        <p14:creationId xmlns:p14="http://schemas.microsoft.com/office/powerpoint/2010/main" val="530545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B2923"/>
        </a:solidFill>
        <a:effectLst/>
      </p:bgPr>
    </p:bg>
    <p:spTree>
      <p:nvGrpSpPr>
        <p:cNvPr id="1" name=""/>
        <p:cNvGrpSpPr/>
        <p:nvPr/>
      </p:nvGrpSpPr>
      <p:grpSpPr>
        <a:xfrm>
          <a:off x="0" y="0"/>
          <a:ext cx="0" cy="0"/>
          <a:chOff x="0" y="0"/>
          <a:chExt cx="0" cy="0"/>
        </a:xfrm>
      </p:grpSpPr>
      <p:pic>
        <p:nvPicPr>
          <p:cNvPr id="57" name="Image 56"/>
          <p:cNvPicPr>
            <a:picLocks noChangeAspect="1"/>
          </p:cNvPicPr>
          <p:nvPr/>
        </p:nvPicPr>
        <p:blipFill>
          <a:blip r:embed="rId3"/>
          <a:srcRect t="27" b="27"/>
          <a:stretch>
            <a:fillRect/>
          </a:stretch>
        </p:blipFill>
        <p:spPr>
          <a:xfrm>
            <a:off x="0" y="0"/>
            <a:ext cx="12192000" cy="6858000"/>
          </a:xfrm>
          <a:prstGeom prst="rect">
            <a:avLst/>
          </a:prstGeom>
        </p:spPr>
      </p:pic>
      <p:sp>
        <p:nvSpPr>
          <p:cNvPr id="32" name="Rectangle 31">
            <a:extLst>
              <a:ext uri="{FF2B5EF4-FFF2-40B4-BE49-F238E27FC236}">
                <a16:creationId xmlns:a16="http://schemas.microsoft.com/office/drawing/2014/main" id="{EAF95D67-60DB-4B69-8489-92084B704771}"/>
              </a:ext>
            </a:extLst>
          </p:cNvPr>
          <p:cNvSpPr>
            <a:spLocks noGrp="1"/>
          </p:cNvSpPr>
          <p:nvPr/>
        </p:nvSpPr>
        <p:spPr>
          <a:xfrm>
            <a:off x="609600" y="6457950"/>
            <a:ext cx="8382000" cy="219075"/>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Alcide / Pilotage du projet</a:t>
            </a:r>
          </a:p>
        </p:txBody>
      </p:sp>
      <p:sp>
        <p:nvSpPr>
          <p:cNvPr id="34" name="Rectangle 33">
            <a:extLst>
              <a:ext uri="{FF2B5EF4-FFF2-40B4-BE49-F238E27FC236}">
                <a16:creationId xmlns:a16="http://schemas.microsoft.com/office/drawing/2014/main" id="{8DF8E708-071E-45CF-B7D2-565965899EB9}"/>
              </a:ext>
            </a:extLst>
          </p:cNvPr>
          <p:cNvSpPr>
            <a:spLocks noGrp="1"/>
          </p:cNvSpPr>
          <p:nvPr/>
        </p:nvSpPr>
        <p:spPr>
          <a:xfrm>
            <a:off x="609600" y="609600"/>
            <a:ext cx="10972800" cy="704850"/>
          </a:xfrm>
          <a:prstGeom prst="rect">
            <a:avLst/>
          </a:prstGeom>
          <a:noFill/>
          <a:ln w="0">
            <a:noFill/>
          </a:ln>
        </p:spPr>
        <p:txBody>
          <a:bodyPr wrap="square" lIns="0" tIns="0" rIns="0" bIns="0" anchor="t">
            <a:noAutofit/>
          </a:bodyPr>
          <a:lstStyle/>
          <a:p>
            <a:pPr algn="l">
              <a:buNone/>
              <a:defRPr sz="3750" b="1">
                <a:solidFill>
                  <a:srgbClr val="F4F7F3"/>
                </a:solidFill>
                <a:latin typeface="Segoe UI"/>
                <a:ea typeface="Segoe UI"/>
                <a:cs typeface="Segoe UI"/>
              </a:defRPr>
            </a:pPr>
            <a:r>
              <a:rPr sz="3750" b="1">
                <a:solidFill>
                  <a:srgbClr val="F4F7F3"/>
                </a:solidFill>
                <a:latin typeface="Segoe UI"/>
                <a:ea typeface="Segoe UI"/>
                <a:cs typeface="Segoe UI"/>
              </a:rPr>
              <a:t>Les tests et leurs résultats</a:t>
            </a:r>
          </a:p>
        </p:txBody>
      </p:sp>
      <p:sp>
        <p:nvSpPr>
          <p:cNvPr id="35" name="Rectangle 34">
            <a:extLst>
              <a:ext uri="{FF2B5EF4-FFF2-40B4-BE49-F238E27FC236}">
                <a16:creationId xmlns:a16="http://schemas.microsoft.com/office/drawing/2014/main" id="{1D2EEF91-7696-417A-8F5E-6ACB5D9B11B5}"/>
              </a:ext>
            </a:extLst>
          </p:cNvPr>
          <p:cNvSpPr>
            <a:spLocks noGrp="1"/>
          </p:cNvSpPr>
          <p:nvPr/>
        </p:nvSpPr>
        <p:spPr>
          <a:xfrm>
            <a:off x="609600" y="1438275"/>
            <a:ext cx="10972800" cy="457200"/>
          </a:xfrm>
          <a:prstGeom prst="rect">
            <a:avLst/>
          </a:prstGeom>
          <a:noFill/>
          <a:ln w="0">
            <a:noFill/>
          </a:ln>
        </p:spPr>
        <p:txBody>
          <a:bodyPr wrap="square" lIns="0" tIns="0" rIns="0" bIns="0" anchor="t">
            <a:noAutofit/>
          </a:bodyPr>
          <a:lstStyle/>
          <a:p>
            <a:pPr algn="l">
              <a:buNone/>
              <a:defRPr sz="1875" b="0">
                <a:solidFill>
                  <a:srgbClr val="C1D0C1"/>
                </a:solidFill>
                <a:latin typeface="Segoe UI"/>
                <a:ea typeface="Segoe UI"/>
                <a:cs typeface="Segoe UI"/>
              </a:defRPr>
            </a:pPr>
            <a:r>
              <a:rPr sz="1875" b="0" dirty="0">
                <a:solidFill>
                  <a:srgbClr val="C1D0C1"/>
                </a:solidFill>
                <a:latin typeface="Segoe UI"/>
                <a:ea typeface="Segoe UI"/>
                <a:cs typeface="Segoe UI"/>
              </a:rPr>
              <a:t>Incident du 13 </a:t>
            </a:r>
            <a:r>
              <a:rPr sz="1875" b="0" dirty="0" err="1">
                <a:solidFill>
                  <a:srgbClr val="C1D0C1"/>
                </a:solidFill>
                <a:latin typeface="Segoe UI"/>
                <a:ea typeface="Segoe UI"/>
                <a:cs typeface="Segoe UI"/>
              </a:rPr>
              <a:t>avril</a:t>
            </a:r>
            <a:r>
              <a:rPr sz="1875" b="0" dirty="0">
                <a:solidFill>
                  <a:srgbClr val="C1D0C1"/>
                </a:solidFill>
                <a:latin typeface="Segoe UI"/>
                <a:ea typeface="Segoe UI"/>
                <a:cs typeface="Segoe UI"/>
              </a:rPr>
              <a:t>, </a:t>
            </a:r>
            <a:r>
              <a:rPr sz="1875" b="0" dirty="0" err="1">
                <a:solidFill>
                  <a:srgbClr val="C1D0C1"/>
                </a:solidFill>
                <a:latin typeface="Segoe UI"/>
                <a:ea typeface="Segoe UI"/>
                <a:cs typeface="Segoe UI"/>
              </a:rPr>
              <a:t>intégration</a:t>
            </a:r>
            <a:r>
              <a:rPr sz="1875" b="0" dirty="0">
                <a:solidFill>
                  <a:srgbClr val="C1D0C1"/>
                </a:solidFill>
                <a:latin typeface="Segoe UI"/>
                <a:ea typeface="Segoe UI"/>
                <a:cs typeface="Segoe UI"/>
              </a:rPr>
              <a:t> du 20 </a:t>
            </a:r>
            <a:r>
              <a:rPr sz="1875" b="0" dirty="0" err="1">
                <a:solidFill>
                  <a:srgbClr val="C1D0C1"/>
                </a:solidFill>
                <a:latin typeface="Segoe UI"/>
                <a:ea typeface="Segoe UI"/>
                <a:cs typeface="Segoe UI"/>
              </a:rPr>
              <a:t>juillet</a:t>
            </a:r>
            <a:r>
              <a:rPr sz="1875" b="0" dirty="0">
                <a:solidFill>
                  <a:srgbClr val="C1D0C1"/>
                </a:solidFill>
                <a:latin typeface="Segoe UI"/>
                <a:ea typeface="Segoe UI"/>
                <a:cs typeface="Segoe UI"/>
              </a:rPr>
              <a:t> et relevé du 7 </a:t>
            </a:r>
            <a:r>
              <a:rPr sz="1875" b="0" dirty="0" err="1">
                <a:solidFill>
                  <a:srgbClr val="C1D0C1"/>
                </a:solidFill>
                <a:latin typeface="Segoe UI"/>
                <a:ea typeface="Segoe UI"/>
                <a:cs typeface="Segoe UI"/>
              </a:rPr>
              <a:t>septembre</a:t>
            </a:r>
            <a:endParaRPr sz="1875" b="0" dirty="0">
              <a:solidFill>
                <a:srgbClr val="C1D0C1"/>
              </a:solidFill>
              <a:latin typeface="Segoe UI"/>
              <a:ea typeface="Segoe UI"/>
              <a:cs typeface="Segoe UI"/>
            </a:endParaRPr>
          </a:p>
        </p:txBody>
      </p:sp>
      <p:sp>
        <p:nvSpPr>
          <p:cNvPr id="36" name="Rectangle 35">
            <a:extLst>
              <a:ext uri="{FF2B5EF4-FFF2-40B4-BE49-F238E27FC236}">
                <a16:creationId xmlns:a16="http://schemas.microsoft.com/office/drawing/2014/main" id="{F7EDBE2C-C490-4864-A282-865537C681C1}"/>
              </a:ext>
            </a:extLst>
          </p:cNvPr>
          <p:cNvSpPr>
            <a:spLocks noGrp="1"/>
          </p:cNvSpPr>
          <p:nvPr/>
        </p:nvSpPr>
        <p:spPr>
          <a:xfrm>
            <a:off x="609600" y="2095500"/>
            <a:ext cx="3171825" cy="447675"/>
          </a:xfrm>
          <a:prstGeom prst="rect">
            <a:avLst/>
          </a:prstGeom>
          <a:noFill/>
          <a:ln w="0">
            <a:noFill/>
          </a:ln>
        </p:spPr>
        <p:txBody>
          <a:bodyPr wrap="square" lIns="0" tIns="0" rIns="0" bIns="0" anchor="t">
            <a:noAutofit/>
          </a:bodyPr>
          <a:lstStyle/>
          <a:p>
            <a:pPr algn="l">
              <a:buNone/>
              <a:defRPr sz="2400" b="1">
                <a:solidFill>
                  <a:srgbClr val="BACDB7"/>
                </a:solidFill>
                <a:latin typeface="Segoe UI"/>
                <a:ea typeface="Segoe UI"/>
                <a:cs typeface="Segoe UI"/>
              </a:defRPr>
            </a:pPr>
            <a:r>
              <a:rPr sz="2400" b="1">
                <a:solidFill>
                  <a:srgbClr val="BACDB7"/>
                </a:solidFill>
                <a:latin typeface="Segoe UI"/>
                <a:ea typeface="Segoe UI"/>
                <a:cs typeface="Segoe UI"/>
              </a:rPr>
              <a:t>Signal</a:t>
            </a:r>
          </a:p>
        </p:txBody>
      </p:sp>
      <p:sp>
        <p:nvSpPr>
          <p:cNvPr id="37" name="Rectangle 36">
            <a:extLst>
              <a:ext uri="{FF2B5EF4-FFF2-40B4-BE49-F238E27FC236}">
                <a16:creationId xmlns:a16="http://schemas.microsoft.com/office/drawing/2014/main" id="{F3CA2AE3-8EB9-4245-B27F-73C0C2D1F5C3}"/>
              </a:ext>
            </a:extLst>
          </p:cNvPr>
          <p:cNvSpPr>
            <a:spLocks noGrp="1"/>
          </p:cNvSpPr>
          <p:nvPr/>
        </p:nvSpPr>
        <p:spPr>
          <a:xfrm>
            <a:off x="609600" y="2647950"/>
            <a:ext cx="3171825" cy="9525"/>
          </a:xfrm>
          <a:prstGeom prst="rect">
            <a:avLst/>
          </a:prstGeom>
          <a:solidFill>
            <a:srgbClr val="5F7B69"/>
          </a:solidFill>
          <a:ln w="0">
            <a:noFill/>
          </a:ln>
        </p:spPr>
        <p:txBody>
          <a:bodyPr/>
          <a:lstStyle/>
          <a:p>
            <a:endParaRPr lang="fr-FR"/>
          </a:p>
        </p:txBody>
      </p:sp>
      <p:sp>
        <p:nvSpPr>
          <p:cNvPr id="38" name="Rectangle 37">
            <a:extLst>
              <a:ext uri="{FF2B5EF4-FFF2-40B4-BE49-F238E27FC236}">
                <a16:creationId xmlns:a16="http://schemas.microsoft.com/office/drawing/2014/main" id="{213F5C59-25D0-4080-A35A-F735958227BC}"/>
              </a:ext>
            </a:extLst>
          </p:cNvPr>
          <p:cNvSpPr>
            <a:spLocks noGrp="1"/>
          </p:cNvSpPr>
          <p:nvPr/>
        </p:nvSpPr>
        <p:spPr>
          <a:xfrm>
            <a:off x="609600" y="2914650"/>
            <a:ext cx="3171825" cy="942975"/>
          </a:xfrm>
          <a:prstGeom prst="rect">
            <a:avLst/>
          </a:prstGeom>
          <a:noFill/>
          <a:ln w="0">
            <a:noFill/>
          </a:ln>
        </p:spPr>
        <p:txBody>
          <a:bodyPr wrap="square" lIns="0" tIns="0" rIns="0" bIns="0" anchor="t">
            <a:noAutofit/>
          </a:bodyPr>
          <a:lstStyle/>
          <a:p>
            <a:pPr algn="l">
              <a:buNone/>
              <a:defRPr sz="2325" b="0">
                <a:solidFill>
                  <a:srgbClr val="F4F7F3"/>
                </a:solidFill>
                <a:latin typeface="Segoe UI"/>
                <a:ea typeface="Segoe UI"/>
                <a:cs typeface="Segoe UI"/>
              </a:defRPr>
            </a:pPr>
            <a:r>
              <a:rPr sz="2325" b="0">
                <a:solidFill>
                  <a:srgbClr val="F4F7F3"/>
                </a:solidFill>
                <a:latin typeface="Segoe UI"/>
                <a:ea typeface="Segoe UI"/>
                <a:cs typeface="Segoe UI"/>
              </a:rPr>
              <a:t>54,21 %</a:t>
            </a:r>
          </a:p>
          <a:p>
            <a:pPr algn="l">
              <a:buNone/>
              <a:defRPr sz="2325" b="0">
                <a:solidFill>
                  <a:srgbClr val="F4F7F3"/>
                </a:solidFill>
                <a:latin typeface="Segoe UI"/>
                <a:ea typeface="Segoe UI"/>
                <a:cs typeface="Segoe UI"/>
              </a:defRPr>
            </a:pPr>
            <a:r>
              <a:rPr sz="2325" b="0">
                <a:solidFill>
                  <a:srgbClr val="F4F7F3"/>
                </a:solidFill>
                <a:latin typeface="Segoe UI"/>
                <a:ea typeface="Segoe UI"/>
                <a:cs typeface="Segoe UI"/>
              </a:rPr>
              <a:t>Seuil à 70 %</a:t>
            </a:r>
          </a:p>
        </p:txBody>
      </p:sp>
      <p:sp>
        <p:nvSpPr>
          <p:cNvPr id="39" name="Rectangle 38">
            <a:extLst>
              <a:ext uri="{FF2B5EF4-FFF2-40B4-BE49-F238E27FC236}">
                <a16:creationId xmlns:a16="http://schemas.microsoft.com/office/drawing/2014/main" id="{F0E1383B-96D7-440B-B12B-1258FC021FAB}"/>
              </a:ext>
            </a:extLst>
          </p:cNvPr>
          <p:cNvSpPr>
            <a:spLocks noGrp="1"/>
          </p:cNvSpPr>
          <p:nvPr/>
        </p:nvSpPr>
        <p:spPr>
          <a:xfrm>
            <a:off x="4267200" y="2095500"/>
            <a:ext cx="3171825" cy="447675"/>
          </a:xfrm>
          <a:prstGeom prst="rect">
            <a:avLst/>
          </a:prstGeom>
          <a:noFill/>
          <a:ln w="0">
            <a:noFill/>
          </a:ln>
        </p:spPr>
        <p:txBody>
          <a:bodyPr wrap="square" lIns="0" tIns="0" rIns="0" bIns="0" anchor="t">
            <a:noAutofit/>
          </a:bodyPr>
          <a:lstStyle/>
          <a:p>
            <a:pPr algn="l">
              <a:buNone/>
              <a:defRPr sz="2400" b="1">
                <a:solidFill>
                  <a:srgbClr val="BACDB7"/>
                </a:solidFill>
                <a:latin typeface="Segoe UI"/>
                <a:ea typeface="Segoe UI"/>
                <a:cs typeface="Segoe UI"/>
              </a:defRPr>
            </a:pPr>
            <a:r>
              <a:rPr sz="2400" b="1">
                <a:solidFill>
                  <a:srgbClr val="BACDB7"/>
                </a:solidFill>
                <a:latin typeface="Segoe UI"/>
                <a:ea typeface="Segoe UI"/>
                <a:cs typeface="Segoe UI"/>
              </a:rPr>
              <a:t>Correction</a:t>
            </a:r>
          </a:p>
        </p:txBody>
      </p:sp>
      <p:sp>
        <p:nvSpPr>
          <p:cNvPr id="40" name="Rectangle 39">
            <a:extLst>
              <a:ext uri="{FF2B5EF4-FFF2-40B4-BE49-F238E27FC236}">
                <a16:creationId xmlns:a16="http://schemas.microsoft.com/office/drawing/2014/main" id="{C0D8B131-7F10-49CD-BF8D-B0B28A6B65EF}"/>
              </a:ext>
            </a:extLst>
          </p:cNvPr>
          <p:cNvSpPr>
            <a:spLocks noGrp="1"/>
          </p:cNvSpPr>
          <p:nvPr/>
        </p:nvSpPr>
        <p:spPr>
          <a:xfrm>
            <a:off x="4267200" y="2647950"/>
            <a:ext cx="3171825" cy="9525"/>
          </a:xfrm>
          <a:prstGeom prst="rect">
            <a:avLst/>
          </a:prstGeom>
          <a:solidFill>
            <a:srgbClr val="5F7B69"/>
          </a:solidFill>
          <a:ln w="0">
            <a:noFill/>
          </a:ln>
        </p:spPr>
        <p:txBody>
          <a:bodyPr/>
          <a:lstStyle/>
          <a:p>
            <a:endParaRPr lang="fr-FR"/>
          </a:p>
        </p:txBody>
      </p:sp>
      <p:sp>
        <p:nvSpPr>
          <p:cNvPr id="42" name="Rectangle 41">
            <a:extLst>
              <a:ext uri="{FF2B5EF4-FFF2-40B4-BE49-F238E27FC236}">
                <a16:creationId xmlns:a16="http://schemas.microsoft.com/office/drawing/2014/main" id="{F683068E-371F-48F6-A243-0AB498ED7C02}"/>
              </a:ext>
            </a:extLst>
          </p:cNvPr>
          <p:cNvSpPr>
            <a:spLocks noGrp="1"/>
          </p:cNvSpPr>
          <p:nvPr/>
        </p:nvSpPr>
        <p:spPr>
          <a:xfrm>
            <a:off x="7924800" y="2095500"/>
            <a:ext cx="3171825" cy="447675"/>
          </a:xfrm>
          <a:prstGeom prst="rect">
            <a:avLst/>
          </a:prstGeom>
          <a:noFill/>
          <a:ln w="0">
            <a:noFill/>
          </a:ln>
        </p:spPr>
        <p:txBody>
          <a:bodyPr wrap="square" lIns="0" tIns="0" rIns="0" bIns="0" anchor="t">
            <a:noAutofit/>
          </a:bodyPr>
          <a:lstStyle/>
          <a:p>
            <a:pPr algn="l">
              <a:buNone/>
              <a:defRPr sz="2400" b="1">
                <a:solidFill>
                  <a:srgbClr val="BACDB7"/>
                </a:solidFill>
                <a:latin typeface="Segoe UI"/>
                <a:ea typeface="Segoe UI"/>
                <a:cs typeface="Segoe UI"/>
              </a:defRPr>
            </a:pPr>
            <a:r>
              <a:rPr sz="2400" b="1">
                <a:solidFill>
                  <a:srgbClr val="BACDB7"/>
                </a:solidFill>
                <a:latin typeface="Segoe UI"/>
                <a:ea typeface="Segoe UI"/>
                <a:cs typeface="Segoe UI"/>
              </a:rPr>
              <a:t>Résultat</a:t>
            </a:r>
          </a:p>
        </p:txBody>
      </p:sp>
      <p:sp>
        <p:nvSpPr>
          <p:cNvPr id="43" name="Rectangle 42">
            <a:extLst>
              <a:ext uri="{FF2B5EF4-FFF2-40B4-BE49-F238E27FC236}">
                <a16:creationId xmlns:a16="http://schemas.microsoft.com/office/drawing/2014/main" id="{4275862E-CDA4-4A09-B4F4-F7EAB8764AD8}"/>
              </a:ext>
            </a:extLst>
          </p:cNvPr>
          <p:cNvSpPr>
            <a:spLocks noGrp="1"/>
          </p:cNvSpPr>
          <p:nvPr/>
        </p:nvSpPr>
        <p:spPr>
          <a:xfrm>
            <a:off x="7924800" y="2647950"/>
            <a:ext cx="3171825" cy="9525"/>
          </a:xfrm>
          <a:prstGeom prst="rect">
            <a:avLst/>
          </a:prstGeom>
          <a:solidFill>
            <a:srgbClr val="5F7B69"/>
          </a:solidFill>
          <a:ln w="0">
            <a:noFill/>
          </a:ln>
        </p:spPr>
        <p:txBody>
          <a:bodyPr/>
          <a:lstStyle/>
          <a:p>
            <a:endParaRPr lang="fr-FR"/>
          </a:p>
        </p:txBody>
      </p:sp>
      <p:sp>
        <p:nvSpPr>
          <p:cNvPr id="44" name="Rectangle 43">
            <a:extLst>
              <a:ext uri="{FF2B5EF4-FFF2-40B4-BE49-F238E27FC236}">
                <a16:creationId xmlns:a16="http://schemas.microsoft.com/office/drawing/2014/main" id="{C3D11779-FC33-44FB-B8F6-4A0C576A4E6D}"/>
              </a:ext>
            </a:extLst>
          </p:cNvPr>
          <p:cNvSpPr>
            <a:spLocks noGrp="1"/>
          </p:cNvSpPr>
          <p:nvPr/>
        </p:nvSpPr>
        <p:spPr>
          <a:xfrm>
            <a:off x="7924800" y="2914650"/>
            <a:ext cx="3171825" cy="942975"/>
          </a:xfrm>
          <a:prstGeom prst="rect">
            <a:avLst/>
          </a:prstGeom>
          <a:noFill/>
          <a:ln w="0">
            <a:noFill/>
          </a:ln>
        </p:spPr>
        <p:txBody>
          <a:bodyPr wrap="square" lIns="0" tIns="0" rIns="0" bIns="0" anchor="t">
            <a:noAutofit/>
          </a:bodyPr>
          <a:lstStyle/>
          <a:p>
            <a:pPr algn="l">
              <a:buNone/>
              <a:defRPr sz="2325" b="0">
                <a:solidFill>
                  <a:srgbClr val="F4F7F3"/>
                </a:solidFill>
                <a:latin typeface="Segoe UI"/>
                <a:ea typeface="Segoe UI"/>
                <a:cs typeface="Segoe UI"/>
              </a:defRPr>
            </a:pPr>
            <a:r>
              <a:rPr sz="2325" b="0">
                <a:solidFill>
                  <a:srgbClr val="F4F7F3"/>
                </a:solidFill>
                <a:latin typeface="Segoe UI"/>
                <a:ea typeface="Segoe UI"/>
                <a:cs typeface="Segoe UI"/>
              </a:rPr>
              <a:t>96,08 %</a:t>
            </a:r>
          </a:p>
          <a:p>
            <a:pPr algn="l">
              <a:buNone/>
              <a:defRPr sz="2325" b="0">
                <a:solidFill>
                  <a:srgbClr val="F4F7F3"/>
                </a:solidFill>
                <a:latin typeface="Segoe UI"/>
                <a:ea typeface="Segoe UI"/>
                <a:cs typeface="Segoe UI"/>
              </a:defRPr>
            </a:pPr>
            <a:r>
              <a:rPr sz="2325" b="0">
                <a:solidFill>
                  <a:srgbClr val="F4F7F3"/>
                </a:solidFill>
                <a:latin typeface="Segoe UI"/>
                <a:ea typeface="Segoe UI"/>
                <a:cs typeface="Segoe UI"/>
              </a:rPr>
              <a:t>Périmètre réduit</a:t>
            </a:r>
          </a:p>
        </p:txBody>
      </p:sp>
      <p:graphicFrame>
        <p:nvGraphicFramePr>
          <p:cNvPr id="69" name="Tableau 68"/>
          <p:cNvGraphicFramePr/>
          <p:nvPr/>
        </p:nvGraphicFramePr>
        <p:xfrm>
          <a:off x="609600" y="4191000"/>
          <a:ext cx="10972800" cy="1386840"/>
        </p:xfrm>
        <a:graphic>
          <a:graphicData uri="http://schemas.openxmlformats.org/drawingml/2006/table">
            <a:tbl>
              <a:tblPr/>
              <a:tblGrid>
                <a:gridCol w="22860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5715000">
                  <a:extLst>
                    <a:ext uri="{9D8B030D-6E8A-4147-A177-3AD203B41FA5}">
                      <a16:colId xmlns:a16="http://schemas.microsoft.com/office/drawing/2014/main" val="20002"/>
                    </a:ext>
                  </a:extLst>
                </a:gridCol>
              </a:tblGrid>
              <a:tr h="438150">
                <a:tc>
                  <a:txBody>
                    <a:bodyPr/>
                    <a:lstStyle/>
                    <a:p>
                      <a:pPr algn="l">
                        <a:buNone/>
                      </a:pPr>
                      <a:r>
                        <a:rPr sz="1875" b="1">
                          <a:solidFill>
                            <a:srgbClr val="BACDB7"/>
                          </a:solidFill>
                          <a:latin typeface="Segoe UI"/>
                          <a:ea typeface="Segoe UI"/>
                          <a:cs typeface="Segoe UI"/>
                        </a:rPr>
                        <a:t>QA</a:t>
                      </a:r>
                    </a:p>
                  </a:txBody>
                  <a:tcPr anchor="ctr">
                    <a:solidFill>
                      <a:srgbClr val="213B2E"/>
                    </a:solidFill>
                  </a:tcPr>
                </a:tc>
                <a:tc>
                  <a:txBody>
                    <a:bodyPr/>
                    <a:lstStyle/>
                    <a:p>
                      <a:pPr algn="l">
                        <a:buNone/>
                      </a:pPr>
                      <a:r>
                        <a:rPr sz="1875" b="1">
                          <a:solidFill>
                            <a:srgbClr val="BACDB7"/>
                          </a:solidFill>
                          <a:latin typeface="Segoe UI"/>
                          <a:ea typeface="Segoe UI"/>
                          <a:cs typeface="Segoe UI"/>
                        </a:rPr>
                        <a:t>Kevin</a:t>
                      </a:r>
                    </a:p>
                  </a:txBody>
                  <a:tcPr anchor="ctr">
                    <a:solidFill>
                      <a:srgbClr val="213B2E"/>
                    </a:solidFill>
                  </a:tcPr>
                </a:tc>
                <a:tc>
                  <a:txBody>
                    <a:bodyPr/>
                    <a:lstStyle/>
                    <a:p>
                      <a:pPr algn="l">
                        <a:buNone/>
                      </a:pPr>
                      <a:r>
                        <a:rPr sz="1875" b="1">
                          <a:solidFill>
                            <a:srgbClr val="BACDB7"/>
                          </a:solidFill>
                          <a:latin typeface="Segoe UI"/>
                          <a:ea typeface="Segoe UI"/>
                          <a:cs typeface="Segoe UI"/>
                        </a:rPr>
                        <a:t>PO / commanditaire</a:t>
                      </a:r>
                    </a:p>
                  </a:txBody>
                  <a:tcPr anchor="ctr">
                    <a:solidFill>
                      <a:srgbClr val="213B2E"/>
                    </a:solidFill>
                  </a:tcPr>
                </a:tc>
                <a:extLst>
                  <a:ext uri="{0D108BD9-81ED-4DB2-BD59-A6C34878D82A}">
                    <a16:rowId xmlns:a16="http://schemas.microsoft.com/office/drawing/2014/main" val="10000"/>
                  </a:ext>
                </a:extLst>
              </a:tr>
              <a:tr h="914400">
                <a:tc>
                  <a:txBody>
                    <a:bodyPr/>
                    <a:lstStyle/>
                    <a:p>
                      <a:pPr algn="l">
                        <a:buNone/>
                      </a:pPr>
                      <a:r>
                        <a:rPr sz="1875" b="0">
                          <a:solidFill>
                            <a:srgbClr val="F4F7F3"/>
                          </a:solidFill>
                          <a:latin typeface="Segoe UI"/>
                          <a:ea typeface="Segoe UI"/>
                          <a:cs typeface="Segoe UI"/>
                        </a:rPr>
                        <a:t>Signaler et retester</a:t>
                      </a:r>
                    </a:p>
                  </a:txBody>
                  <a:tcPr anchor="ctr">
                    <a:solidFill>
                      <a:srgbClr val="1B2923"/>
                    </a:solidFill>
                  </a:tcPr>
                </a:tc>
                <a:tc>
                  <a:txBody>
                    <a:bodyPr/>
                    <a:lstStyle/>
                    <a:p>
                      <a:pPr algn="l">
                        <a:buNone/>
                      </a:pPr>
                      <a:r>
                        <a:rPr sz="1875" b="0">
                          <a:solidFill>
                            <a:srgbClr val="F4F7F3"/>
                          </a:solidFill>
                          <a:latin typeface="Segoe UI"/>
                          <a:ea typeface="Segoe UI"/>
                          <a:cs typeface="Segoe UI"/>
                        </a:rPr>
                        <a:t>Corriger et documenter le périmètre</a:t>
                      </a:r>
                    </a:p>
                  </a:txBody>
                  <a:tcPr anchor="ctr">
                    <a:solidFill>
                      <a:srgbClr val="1B2923"/>
                    </a:solidFill>
                  </a:tcPr>
                </a:tc>
                <a:tc>
                  <a:txBody>
                    <a:bodyPr/>
                    <a:lstStyle/>
                    <a:p>
                      <a:pPr algn="l">
                        <a:buNone/>
                      </a:pPr>
                      <a:r>
                        <a:rPr sz="1875" b="0">
                          <a:solidFill>
                            <a:srgbClr val="F4F7F3"/>
                          </a:solidFill>
                          <a:latin typeface="Segoe UI"/>
                          <a:ea typeface="Segoe UI"/>
                          <a:cs typeface="Segoe UI"/>
                        </a:rPr>
                        <a:t>Le PO suit les tests restant à faire. Si leur réalisation change le délai ou le contenu de la livraison, le commanditaire décide.</a:t>
                      </a:r>
                    </a:p>
                  </a:txBody>
                  <a:tcPr anchor="ctr">
                    <a:solidFill>
                      <a:srgbClr val="1B2923"/>
                    </a:solidFill>
                  </a:tcPr>
                </a:tc>
                <a:extLst>
                  <a:ext uri="{0D108BD9-81ED-4DB2-BD59-A6C34878D82A}">
                    <a16:rowId xmlns:a16="http://schemas.microsoft.com/office/drawing/2014/main" val="10001"/>
                  </a:ext>
                </a:extLst>
              </a:tr>
            </a:tbl>
          </a:graphicData>
        </a:graphic>
      </p:graphicFrame>
      <p:sp>
        <p:nvSpPr>
          <p:cNvPr id="49" name="Rectangle 48">
            <a:extLst>
              <a:ext uri="{FF2B5EF4-FFF2-40B4-BE49-F238E27FC236}">
                <a16:creationId xmlns:a16="http://schemas.microsoft.com/office/drawing/2014/main" id="{9226B416-0687-4591-8BC6-BE56AC631090}"/>
              </a:ext>
            </a:extLst>
          </p:cNvPr>
          <p:cNvSpPr>
            <a:spLocks noGrp="1"/>
          </p:cNvSpPr>
          <p:nvPr/>
        </p:nvSpPr>
        <p:spPr>
          <a:xfrm>
            <a:off x="4267200" y="2914650"/>
            <a:ext cx="3171825" cy="1162050"/>
          </a:xfrm>
          <a:prstGeom prst="rect">
            <a:avLst/>
          </a:prstGeom>
          <a:noFill/>
          <a:ln w="0">
            <a:noFill/>
          </a:ln>
        </p:spPr>
        <p:txBody>
          <a:bodyPr wrap="square" lIns="0" tIns="0" rIns="0" bIns="0" anchor="t">
            <a:noAutofit/>
          </a:bodyPr>
          <a:lstStyle/>
          <a:p>
            <a:pPr algn="l">
              <a:buNone/>
              <a:defRPr sz="2250" b="0">
                <a:solidFill>
                  <a:srgbClr val="F4F7F3"/>
                </a:solidFill>
                <a:latin typeface="Segoe UI"/>
                <a:ea typeface="Segoe UI"/>
                <a:cs typeface="Segoe UI"/>
              </a:defRPr>
            </a:pPr>
            <a:r>
              <a:rPr sz="2250" b="0">
                <a:solidFill>
                  <a:srgbClr val="F4F7F3"/>
                </a:solidFill>
                <a:latin typeface="Segoe UI"/>
                <a:ea typeface="Segoe UI"/>
                <a:cs typeface="Segoe UI"/>
              </a:rPr>
              <a:t>Tests ajoutés</a:t>
            </a:r>
          </a:p>
          <a:p>
            <a:pPr algn="l">
              <a:buNone/>
              <a:defRPr sz="2250" b="0">
                <a:solidFill>
                  <a:srgbClr val="F4F7F3"/>
                </a:solidFill>
                <a:latin typeface="Segoe UI"/>
                <a:ea typeface="Segoe UI"/>
                <a:cs typeface="Segoe UI"/>
              </a:defRPr>
            </a:pPr>
            <a:r>
              <a:rPr sz="2250" b="0">
                <a:solidFill>
                  <a:srgbClr val="F4F7F3"/>
                </a:solidFill>
                <a:latin typeface="Segoe UI"/>
                <a:ea typeface="Segoe UI"/>
                <a:cs typeface="Segoe UI"/>
              </a:rPr>
              <a:t>Exclusions du calcul</a:t>
            </a:r>
          </a:p>
          <a:p>
            <a:pPr algn="l">
              <a:buNone/>
              <a:defRPr sz="2250" b="0">
                <a:solidFill>
                  <a:srgbClr val="F4F7F3"/>
                </a:solidFill>
                <a:latin typeface="Segoe UI"/>
                <a:ea typeface="Segoe UI"/>
                <a:cs typeface="Segoe UI"/>
              </a:defRPr>
            </a:pPr>
            <a:r>
              <a:rPr sz="2250" b="0">
                <a:solidFill>
                  <a:srgbClr val="F4F7F3"/>
                </a:solidFill>
                <a:latin typeface="Segoe UI"/>
                <a:ea typeface="Segoe UI"/>
                <a:cs typeface="Segoe UI"/>
              </a:rPr>
              <a:t>de couverture</a:t>
            </a:r>
          </a:p>
        </p:txBody>
      </p:sp>
      <p:sp>
        <p:nvSpPr>
          <p:cNvPr id="50" name="Rectangle 49">
            <a:extLst>
              <a:ext uri="{FF2B5EF4-FFF2-40B4-BE49-F238E27FC236}">
                <a16:creationId xmlns:a16="http://schemas.microsoft.com/office/drawing/2014/main" id="{2731C438-1DBC-48E6-865D-90B2BC95C40B}"/>
              </a:ext>
            </a:extLst>
          </p:cNvPr>
          <p:cNvSpPr>
            <a:spLocks noGrp="1"/>
          </p:cNvSpPr>
          <p:nvPr/>
        </p:nvSpPr>
        <p:spPr>
          <a:xfrm>
            <a:off x="609600" y="5657850"/>
            <a:ext cx="10972800" cy="333375"/>
          </a:xfrm>
          <a:prstGeom prst="rect">
            <a:avLst/>
          </a:prstGeom>
          <a:noFill/>
          <a:ln w="0">
            <a:noFill/>
          </a:ln>
        </p:spPr>
        <p:txBody>
          <a:bodyPr wrap="square" lIns="0" tIns="0" rIns="0" bIns="0" anchor="t">
            <a:noAutofit/>
          </a:bodyPr>
          <a:lstStyle/>
          <a:p>
            <a:pPr algn="l">
              <a:buNone/>
              <a:defRPr sz="2100" b="1">
                <a:solidFill>
                  <a:srgbClr val="BACDB7"/>
                </a:solidFill>
                <a:latin typeface="Segoe UI"/>
                <a:ea typeface="Segoe UI"/>
                <a:cs typeface="Segoe UI"/>
              </a:defRPr>
            </a:pPr>
            <a:r>
              <a:rPr sz="2100" b="1">
                <a:solidFill>
                  <a:srgbClr val="BACDB7"/>
                </a:solidFill>
                <a:latin typeface="Segoe UI"/>
                <a:ea typeface="Segoe UI"/>
                <a:cs typeface="Segoe UI"/>
              </a:rPr>
              <a:t>20 juillet : tests d’intégration PostgreSQL</a:t>
            </a:r>
          </a:p>
        </p:txBody>
      </p:sp>
      <p:sp>
        <p:nvSpPr>
          <p:cNvPr id="51" name="Rectangle 50">
            <a:extLst>
              <a:ext uri="{FF2B5EF4-FFF2-40B4-BE49-F238E27FC236}">
                <a16:creationId xmlns:a16="http://schemas.microsoft.com/office/drawing/2014/main" id="{3FA43C1C-2630-4358-84C7-9FB11B44D6A9}"/>
              </a:ext>
            </a:extLst>
          </p:cNvPr>
          <p:cNvSpPr>
            <a:spLocks noGrp="1"/>
          </p:cNvSpPr>
          <p:nvPr/>
        </p:nvSpPr>
        <p:spPr>
          <a:xfrm>
            <a:off x="609600" y="6057900"/>
            <a:ext cx="10972800" cy="333375"/>
          </a:xfrm>
          <a:prstGeom prst="rect">
            <a:avLst/>
          </a:prstGeom>
          <a:noFill/>
          <a:ln w="0">
            <a:noFill/>
          </a:ln>
        </p:spPr>
        <p:txBody>
          <a:bodyPr wrap="square" lIns="0" tIns="0" rIns="0" bIns="0" anchor="t">
            <a:noAutofit/>
          </a:bodyPr>
          <a:lstStyle/>
          <a:p>
            <a:pPr algn="l">
              <a:buNone/>
              <a:defRPr sz="2100" b="1">
                <a:solidFill>
                  <a:srgbClr val="BACDB7"/>
                </a:solidFill>
                <a:latin typeface="Segoe UI"/>
                <a:ea typeface="Segoe UI"/>
                <a:cs typeface="Segoe UI"/>
              </a:defRPr>
            </a:pPr>
            <a:r>
              <a:rPr sz="2100" b="1" dirty="0">
                <a:solidFill>
                  <a:srgbClr val="BACDB7"/>
                </a:solidFill>
                <a:latin typeface="Segoe UI"/>
                <a:ea typeface="Segoe UI"/>
                <a:cs typeface="Segoe UI"/>
              </a:rPr>
              <a:t>7 </a:t>
            </a:r>
            <a:r>
              <a:rPr sz="2100" b="1" dirty="0" err="1">
                <a:solidFill>
                  <a:srgbClr val="BACDB7"/>
                </a:solidFill>
                <a:latin typeface="Segoe UI"/>
                <a:ea typeface="Segoe UI"/>
                <a:cs typeface="Segoe UI"/>
              </a:rPr>
              <a:t>septembre</a:t>
            </a:r>
            <a:r>
              <a:rPr sz="2100" b="1" dirty="0">
                <a:solidFill>
                  <a:srgbClr val="BACDB7"/>
                </a:solidFill>
                <a:latin typeface="Segoe UI"/>
                <a:ea typeface="Segoe UI"/>
                <a:cs typeface="Segoe UI"/>
              </a:rPr>
              <a:t> : 261/261 tests </a:t>
            </a:r>
            <a:r>
              <a:rPr sz="2100" b="1" dirty="0" err="1">
                <a:solidFill>
                  <a:srgbClr val="BACDB7"/>
                </a:solidFill>
                <a:latin typeface="Segoe UI"/>
                <a:ea typeface="Segoe UI"/>
                <a:cs typeface="Segoe UI"/>
              </a:rPr>
              <a:t>unitaires</a:t>
            </a:r>
            <a:r>
              <a:rPr sz="2100" b="1" dirty="0">
                <a:solidFill>
                  <a:srgbClr val="BACDB7"/>
                </a:solidFill>
                <a:latin typeface="Segoe UI"/>
                <a:ea typeface="Segoe UI"/>
                <a:cs typeface="Segoe UI"/>
              </a:rPr>
              <a:t> </a:t>
            </a:r>
            <a:r>
              <a:rPr sz="2100" b="1" dirty="0" err="1">
                <a:solidFill>
                  <a:srgbClr val="BACDB7"/>
                </a:solidFill>
                <a:latin typeface="Segoe UI"/>
                <a:ea typeface="Segoe UI"/>
                <a:cs typeface="Segoe UI"/>
              </a:rPr>
              <a:t>réussis</a:t>
            </a:r>
            <a:endParaRPr sz="2100" b="1" dirty="0">
              <a:solidFill>
                <a:srgbClr val="BACDB7"/>
              </a:solidFill>
              <a:latin typeface="Segoe UI"/>
              <a:ea typeface="Segoe UI"/>
              <a:cs typeface="Segoe UI"/>
            </a:endParaRPr>
          </a:p>
        </p:txBody>
      </p:sp>
      <p:sp>
        <p:nvSpPr>
          <p:cNvPr id="54" name="Rectangle 53">
            <a:extLst>
              <a:ext uri="{FF2B5EF4-FFF2-40B4-BE49-F238E27FC236}">
                <a16:creationId xmlns:a16="http://schemas.microsoft.com/office/drawing/2014/main" id="{2E1C787E-111E-447D-A833-4070C6DCBC67}"/>
              </a:ext>
            </a:extLst>
          </p:cNvPr>
          <p:cNvSpPr>
            <a:spLocks noGrp="1"/>
          </p:cNvSpPr>
          <p:nvPr/>
        </p:nvSpPr>
        <p:spPr>
          <a:xfrm>
            <a:off x="11049000" y="6438900"/>
            <a:ext cx="533400" cy="228600"/>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16</a:t>
            </a:r>
          </a:p>
        </p:txBody>
      </p:sp>
    </p:spTree>
    <p:extLst>
      <p:ext uri="{BB962C8B-B14F-4D97-AF65-F5344CB8AC3E}">
        <p14:creationId xmlns:p14="http://schemas.microsoft.com/office/powerpoint/2010/main" val="1985698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B2923"/>
        </a:solidFill>
        <a:effectLst/>
      </p:bgPr>
    </p:bg>
    <p:spTree>
      <p:nvGrpSpPr>
        <p:cNvPr id="1" name=""/>
        <p:cNvGrpSpPr/>
        <p:nvPr/>
      </p:nvGrpSpPr>
      <p:grpSpPr>
        <a:xfrm>
          <a:off x="0" y="0"/>
          <a:ext cx="0" cy="0"/>
          <a:chOff x="0" y="0"/>
          <a:chExt cx="0" cy="0"/>
        </a:xfrm>
      </p:grpSpPr>
      <p:pic>
        <p:nvPicPr>
          <p:cNvPr id="64" name="Image 63"/>
          <p:cNvPicPr>
            <a:picLocks noChangeAspect="1"/>
          </p:cNvPicPr>
          <p:nvPr/>
        </p:nvPicPr>
        <p:blipFill>
          <a:blip r:embed="rId3"/>
          <a:srcRect t="27" b="27"/>
          <a:stretch>
            <a:fillRect/>
          </a:stretch>
        </p:blipFill>
        <p:spPr>
          <a:xfrm>
            <a:off x="0" y="0"/>
            <a:ext cx="12192000" cy="6858000"/>
          </a:xfrm>
          <a:prstGeom prst="rect">
            <a:avLst/>
          </a:prstGeom>
        </p:spPr>
      </p:pic>
      <p:sp>
        <p:nvSpPr>
          <p:cNvPr id="50" name="Rectangle 49">
            <a:extLst>
              <a:ext uri="{FF2B5EF4-FFF2-40B4-BE49-F238E27FC236}">
                <a16:creationId xmlns:a16="http://schemas.microsoft.com/office/drawing/2014/main" id="{A7D13983-646C-4EA3-8DDA-876C973EA0AB}"/>
              </a:ext>
            </a:extLst>
          </p:cNvPr>
          <p:cNvSpPr>
            <a:spLocks noGrp="1"/>
          </p:cNvSpPr>
          <p:nvPr/>
        </p:nvSpPr>
        <p:spPr>
          <a:xfrm>
            <a:off x="609600" y="609600"/>
            <a:ext cx="10972800" cy="704850"/>
          </a:xfrm>
          <a:prstGeom prst="rect">
            <a:avLst/>
          </a:prstGeom>
          <a:noFill/>
          <a:ln w="0">
            <a:noFill/>
          </a:ln>
        </p:spPr>
        <p:txBody>
          <a:bodyPr wrap="square" lIns="0" tIns="0" rIns="0" bIns="0" anchor="t">
            <a:noAutofit/>
          </a:bodyPr>
          <a:lstStyle/>
          <a:p>
            <a:pPr algn="l">
              <a:buNone/>
              <a:defRPr sz="3450" b="1">
                <a:solidFill>
                  <a:srgbClr val="F4F7F3"/>
                </a:solidFill>
                <a:latin typeface="Segoe UI"/>
                <a:ea typeface="Segoe UI"/>
                <a:cs typeface="Segoe UI"/>
              </a:defRPr>
            </a:pPr>
            <a:r>
              <a:rPr sz="3450" b="1">
                <a:solidFill>
                  <a:srgbClr val="F4F7F3"/>
                </a:solidFill>
                <a:latin typeface="Segoe UI"/>
                <a:ea typeface="Segoe UI"/>
                <a:cs typeface="Segoe UI"/>
              </a:rPr>
              <a:t>Moins de temps pour les tests</a:t>
            </a:r>
          </a:p>
        </p:txBody>
      </p:sp>
      <p:sp>
        <p:nvSpPr>
          <p:cNvPr id="51" name="Rectangle 50">
            <a:extLst>
              <a:ext uri="{FF2B5EF4-FFF2-40B4-BE49-F238E27FC236}">
                <a16:creationId xmlns:a16="http://schemas.microsoft.com/office/drawing/2014/main" id="{A28DF6AA-4F6F-44A2-A3DE-9CB11EDD9FBD}"/>
              </a:ext>
            </a:extLst>
          </p:cNvPr>
          <p:cNvSpPr>
            <a:spLocks noGrp="1"/>
          </p:cNvSpPr>
          <p:nvPr/>
        </p:nvSpPr>
        <p:spPr>
          <a:xfrm>
            <a:off x="609600" y="1438275"/>
            <a:ext cx="10972800" cy="457200"/>
          </a:xfrm>
          <a:prstGeom prst="rect">
            <a:avLst/>
          </a:prstGeom>
          <a:noFill/>
          <a:ln w="0">
            <a:noFill/>
          </a:ln>
        </p:spPr>
        <p:txBody>
          <a:bodyPr wrap="square" lIns="0" tIns="0" rIns="0" bIns="0" anchor="t">
            <a:noAutofit/>
          </a:bodyPr>
          <a:lstStyle/>
          <a:p>
            <a:pPr algn="l">
              <a:buNone/>
              <a:defRPr sz="1950" b="0">
                <a:solidFill>
                  <a:srgbClr val="C1D0C1"/>
                </a:solidFill>
                <a:latin typeface="Segoe UI"/>
                <a:ea typeface="Segoe UI"/>
                <a:cs typeface="Segoe UI"/>
              </a:defRPr>
            </a:pPr>
            <a:r>
              <a:rPr sz="1950" b="0">
                <a:solidFill>
                  <a:srgbClr val="C1D0C1"/>
                </a:solidFill>
                <a:latin typeface="Segoe UI"/>
                <a:ea typeface="Segoe UI"/>
                <a:cs typeface="Segoe UI"/>
              </a:rPr>
              <a:t>Cas de planification avant engagement du lot, disponibilité de 2 j puis 1 j</a:t>
            </a:r>
          </a:p>
        </p:txBody>
      </p:sp>
      <p:graphicFrame>
        <p:nvGraphicFramePr>
          <p:cNvPr id="67" name="Tableau 66"/>
          <p:cNvGraphicFramePr/>
          <p:nvPr>
            <p:extLst>
              <p:ext uri="{D42A27DB-BD31-4B8C-83A1-F6EECF244321}">
                <p14:modId xmlns:p14="http://schemas.microsoft.com/office/powerpoint/2010/main" val="1969967270"/>
              </p:ext>
            </p:extLst>
          </p:nvPr>
        </p:nvGraphicFramePr>
        <p:xfrm>
          <a:off x="609600" y="2000250"/>
          <a:ext cx="10972800" cy="2400300"/>
        </p:xfrm>
        <a:graphic>
          <a:graphicData uri="http://schemas.openxmlformats.org/drawingml/2006/table">
            <a:tbl>
              <a:tblPr/>
              <a:tblGrid>
                <a:gridCol w="5114925">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3762375">
                  <a:extLst>
                    <a:ext uri="{9D8B030D-6E8A-4147-A177-3AD203B41FA5}">
                      <a16:colId xmlns:a16="http://schemas.microsoft.com/office/drawing/2014/main" val="20002"/>
                    </a:ext>
                  </a:extLst>
                </a:gridCol>
              </a:tblGrid>
              <a:tr h="438150">
                <a:tc>
                  <a:txBody>
                    <a:bodyPr/>
                    <a:lstStyle/>
                    <a:p>
                      <a:pPr algn="l">
                        <a:buNone/>
                      </a:pPr>
                      <a:r>
                        <a:rPr sz="1800" b="1">
                          <a:solidFill>
                            <a:srgbClr val="BACDB7"/>
                          </a:solidFill>
                          <a:latin typeface="Segoe UI"/>
                          <a:ea typeface="Segoe UI"/>
                          <a:cs typeface="Segoe UI"/>
                        </a:rPr>
                        <a:t>Contrôles du lot</a:t>
                      </a:r>
                    </a:p>
                  </a:txBody>
                  <a:tcPr marL="95250" marR="76200" marT="0" marB="0" anchor="ctr">
                    <a:solidFill>
                      <a:srgbClr val="213B2E"/>
                    </a:solidFill>
                  </a:tcPr>
                </a:tc>
                <a:tc>
                  <a:txBody>
                    <a:bodyPr/>
                    <a:lstStyle/>
                    <a:p>
                      <a:pPr algn="l">
                        <a:buNone/>
                      </a:pPr>
                      <a:r>
                        <a:rPr sz="1800" b="1">
                          <a:solidFill>
                            <a:srgbClr val="BACDB7"/>
                          </a:solidFill>
                          <a:latin typeface="Segoe UI"/>
                          <a:ea typeface="Segoe UI"/>
                          <a:cs typeface="Segoe UI"/>
                        </a:rPr>
                        <a:t>Charge QA</a:t>
                      </a:r>
                    </a:p>
                  </a:txBody>
                  <a:tcPr marL="95250" marR="76200" marT="0" marB="0" anchor="ctr">
                    <a:solidFill>
                      <a:srgbClr val="213B2E"/>
                    </a:solidFill>
                  </a:tcPr>
                </a:tc>
                <a:tc>
                  <a:txBody>
                    <a:bodyPr/>
                    <a:lstStyle/>
                    <a:p>
                      <a:pPr algn="l">
                        <a:buNone/>
                      </a:pPr>
                      <a:r>
                        <a:rPr sz="1800" b="1">
                          <a:solidFill>
                            <a:srgbClr val="BACDB7"/>
                          </a:solidFill>
                          <a:latin typeface="Segoe UI"/>
                          <a:ea typeface="Segoe UI"/>
                          <a:cs typeface="Segoe UI"/>
                        </a:rPr>
                        <a:t>Décision</a:t>
                      </a:r>
                    </a:p>
                  </a:txBody>
                  <a:tcPr marL="95250" marR="76200" marT="0" marB="0" anchor="ctr">
                    <a:solidFill>
                      <a:srgbClr val="213B2E"/>
                    </a:solidFill>
                  </a:tcPr>
                </a:tc>
                <a:extLst>
                  <a:ext uri="{0D108BD9-81ED-4DB2-BD59-A6C34878D82A}">
                    <a16:rowId xmlns:a16="http://schemas.microsoft.com/office/drawing/2014/main" val="10000"/>
                  </a:ext>
                </a:extLst>
              </a:tr>
              <a:tr h="457200">
                <a:tc>
                  <a:txBody>
                    <a:bodyPr/>
                    <a:lstStyle/>
                    <a:p>
                      <a:pPr algn="l">
                        <a:buNone/>
                      </a:pPr>
                      <a:r>
                        <a:rPr sz="1800" b="0" dirty="0" err="1">
                          <a:solidFill>
                            <a:srgbClr val="F4F7F3"/>
                          </a:solidFill>
                          <a:latin typeface="Segoe UI"/>
                          <a:ea typeface="Segoe UI"/>
                          <a:cs typeface="Segoe UI"/>
                        </a:rPr>
                        <a:t>Connexion</a:t>
                      </a:r>
                      <a:r>
                        <a:rPr sz="1800" b="0" dirty="0">
                          <a:solidFill>
                            <a:srgbClr val="F4F7F3"/>
                          </a:solidFill>
                          <a:latin typeface="Segoe UI"/>
                          <a:ea typeface="Segoe UI"/>
                          <a:cs typeface="Segoe UI"/>
                        </a:rPr>
                        <a:t> et </a:t>
                      </a:r>
                      <a:r>
                        <a:rPr lang="fr-FR" sz="1800" b="0" dirty="0">
                          <a:solidFill>
                            <a:srgbClr val="F4F7F3"/>
                          </a:solidFill>
                          <a:latin typeface="Segoe UI"/>
                          <a:ea typeface="Segoe UI"/>
                          <a:cs typeface="Segoe UI"/>
                        </a:rPr>
                        <a:t>Déconnexion</a:t>
                      </a:r>
                      <a:endParaRPr sz="1800" b="0" dirty="0">
                        <a:solidFill>
                          <a:srgbClr val="F4F7F3"/>
                        </a:solidFill>
                        <a:latin typeface="Segoe UI"/>
                        <a:ea typeface="Segoe UI"/>
                        <a:cs typeface="Segoe UI"/>
                      </a:endParaRPr>
                    </a:p>
                  </a:txBody>
                  <a:tcPr marL="95250" marR="76200" marT="0" marB="0" anchor="ctr">
                    <a:solidFill>
                      <a:srgbClr val="1B2923"/>
                    </a:solidFill>
                  </a:tcPr>
                </a:tc>
                <a:tc>
                  <a:txBody>
                    <a:bodyPr/>
                    <a:lstStyle/>
                    <a:p>
                      <a:pPr algn="l">
                        <a:buNone/>
                      </a:pPr>
                      <a:r>
                        <a:rPr sz="1800" b="0">
                          <a:solidFill>
                            <a:srgbClr val="F4F7F3"/>
                          </a:solidFill>
                          <a:latin typeface="Segoe UI"/>
                          <a:ea typeface="Segoe UI"/>
                          <a:cs typeface="Segoe UI"/>
                        </a:rPr>
                        <a:t>0,35 JH</a:t>
                      </a:r>
                    </a:p>
                  </a:txBody>
                  <a:tcPr marL="95250" marR="76200" marT="0" marB="0" anchor="ctr">
                    <a:solidFill>
                      <a:srgbClr val="1B2923"/>
                    </a:solidFill>
                  </a:tcPr>
                </a:tc>
                <a:tc>
                  <a:txBody>
                    <a:bodyPr/>
                    <a:lstStyle/>
                    <a:p>
                      <a:pPr algn="l">
                        <a:buNone/>
                      </a:pPr>
                      <a:r>
                        <a:rPr sz="1800" b="0">
                          <a:solidFill>
                            <a:srgbClr val="F4F7F3"/>
                          </a:solidFill>
                          <a:latin typeface="Segoe UI"/>
                          <a:ea typeface="Segoe UI"/>
                          <a:cs typeface="Segoe UI"/>
                        </a:rPr>
                        <a:t>Conserver</a:t>
                      </a:r>
                    </a:p>
                  </a:txBody>
                  <a:tcPr marL="95250" marR="76200" marT="0" marB="0" anchor="ctr">
                    <a:solidFill>
                      <a:srgbClr val="1B2923"/>
                    </a:solidFill>
                  </a:tcPr>
                </a:tc>
                <a:extLst>
                  <a:ext uri="{0D108BD9-81ED-4DB2-BD59-A6C34878D82A}">
                    <a16:rowId xmlns:a16="http://schemas.microsoft.com/office/drawing/2014/main" val="10001"/>
                  </a:ext>
                </a:extLst>
              </a:tr>
              <a:tr h="457200">
                <a:tc>
                  <a:txBody>
                    <a:bodyPr/>
                    <a:lstStyle/>
                    <a:p>
                      <a:pPr algn="l">
                        <a:buNone/>
                      </a:pPr>
                      <a:r>
                        <a:rPr sz="1800" b="0">
                          <a:solidFill>
                            <a:srgbClr val="F4F7F3"/>
                          </a:solidFill>
                          <a:latin typeface="Segoe UI"/>
                          <a:ea typeface="Segoe UI"/>
                          <a:cs typeface="Segoe UI"/>
                        </a:rPr>
                        <a:t>Accès aux données</a:t>
                      </a:r>
                    </a:p>
                  </a:txBody>
                  <a:tcPr marL="95250" marR="76200" marT="0" marB="0" anchor="ctr">
                    <a:solidFill>
                      <a:srgbClr val="1B2923"/>
                    </a:solidFill>
                  </a:tcPr>
                </a:tc>
                <a:tc>
                  <a:txBody>
                    <a:bodyPr/>
                    <a:lstStyle/>
                    <a:p>
                      <a:pPr algn="l">
                        <a:buNone/>
                      </a:pPr>
                      <a:r>
                        <a:rPr sz="1800" b="0">
                          <a:solidFill>
                            <a:srgbClr val="F4F7F3"/>
                          </a:solidFill>
                          <a:latin typeface="Segoe UI"/>
                          <a:ea typeface="Segoe UI"/>
                          <a:cs typeface="Segoe UI"/>
                        </a:rPr>
                        <a:t>0,25 JH</a:t>
                      </a:r>
                    </a:p>
                  </a:txBody>
                  <a:tcPr marL="95250" marR="76200" marT="0" marB="0" anchor="ctr">
                    <a:solidFill>
                      <a:srgbClr val="1B2923"/>
                    </a:solidFill>
                  </a:tcPr>
                </a:tc>
                <a:tc>
                  <a:txBody>
                    <a:bodyPr/>
                    <a:lstStyle/>
                    <a:p>
                      <a:pPr algn="l">
                        <a:buNone/>
                      </a:pPr>
                      <a:r>
                        <a:rPr sz="1800" b="0">
                          <a:solidFill>
                            <a:srgbClr val="F4F7F3"/>
                          </a:solidFill>
                          <a:latin typeface="Segoe UI"/>
                          <a:ea typeface="Segoe UI"/>
                          <a:cs typeface="Segoe UI"/>
                        </a:rPr>
                        <a:t>Conserver</a:t>
                      </a:r>
                    </a:p>
                  </a:txBody>
                  <a:tcPr marL="95250" marR="76200" marT="0" marB="0" anchor="ctr">
                    <a:solidFill>
                      <a:srgbClr val="1B2923"/>
                    </a:solidFill>
                  </a:tcPr>
                </a:tc>
                <a:extLst>
                  <a:ext uri="{0D108BD9-81ED-4DB2-BD59-A6C34878D82A}">
                    <a16:rowId xmlns:a16="http://schemas.microsoft.com/office/drawing/2014/main" val="10002"/>
                  </a:ext>
                </a:extLst>
              </a:tr>
              <a:tr h="457200">
                <a:tc>
                  <a:txBody>
                    <a:bodyPr/>
                    <a:lstStyle/>
                    <a:p>
                      <a:pPr algn="l">
                        <a:buNone/>
                      </a:pPr>
                      <a:r>
                        <a:rPr lang="fr-FR" sz="1800" b="0" dirty="0">
                          <a:solidFill>
                            <a:srgbClr val="F4F7F3"/>
                          </a:solidFill>
                          <a:latin typeface="Segoe UI"/>
                          <a:ea typeface="Segoe UI"/>
                          <a:cs typeface="Segoe UI"/>
                        </a:rPr>
                        <a:t>Sauvegarde</a:t>
                      </a:r>
                      <a:endParaRPr sz="1800" b="0" dirty="0">
                        <a:solidFill>
                          <a:srgbClr val="F4F7F3"/>
                        </a:solidFill>
                        <a:latin typeface="Segoe UI"/>
                        <a:ea typeface="Segoe UI"/>
                        <a:cs typeface="Segoe UI"/>
                      </a:endParaRPr>
                    </a:p>
                  </a:txBody>
                  <a:tcPr marL="95250" marR="76200" marT="0" marB="0" anchor="ctr">
                    <a:solidFill>
                      <a:srgbClr val="1B2923"/>
                    </a:solidFill>
                  </a:tcPr>
                </a:tc>
                <a:tc>
                  <a:txBody>
                    <a:bodyPr/>
                    <a:lstStyle/>
                    <a:p>
                      <a:pPr algn="l">
                        <a:buNone/>
                      </a:pPr>
                      <a:r>
                        <a:rPr sz="1800" b="0">
                          <a:solidFill>
                            <a:srgbClr val="F4F7F3"/>
                          </a:solidFill>
                          <a:latin typeface="Segoe UI"/>
                          <a:ea typeface="Segoe UI"/>
                          <a:cs typeface="Segoe UI"/>
                        </a:rPr>
                        <a:t>0,20 JH</a:t>
                      </a:r>
                    </a:p>
                  </a:txBody>
                  <a:tcPr marL="95250" marR="76200" marT="0" marB="0" anchor="ctr">
                    <a:solidFill>
                      <a:srgbClr val="1B2923"/>
                    </a:solidFill>
                  </a:tcPr>
                </a:tc>
                <a:tc>
                  <a:txBody>
                    <a:bodyPr/>
                    <a:lstStyle/>
                    <a:p>
                      <a:pPr algn="l">
                        <a:buNone/>
                      </a:pPr>
                      <a:r>
                        <a:rPr sz="1800" b="0">
                          <a:solidFill>
                            <a:srgbClr val="F4F7F3"/>
                          </a:solidFill>
                          <a:latin typeface="Segoe UI"/>
                          <a:ea typeface="Segoe UI"/>
                          <a:cs typeface="Segoe UI"/>
                        </a:rPr>
                        <a:t>Conserver</a:t>
                      </a:r>
                    </a:p>
                  </a:txBody>
                  <a:tcPr marL="95250" marR="76200" marT="0" marB="0" anchor="ctr">
                    <a:solidFill>
                      <a:srgbClr val="1B2923"/>
                    </a:solidFill>
                  </a:tcPr>
                </a:tc>
                <a:extLst>
                  <a:ext uri="{0D108BD9-81ED-4DB2-BD59-A6C34878D82A}">
                    <a16:rowId xmlns:a16="http://schemas.microsoft.com/office/drawing/2014/main" val="10003"/>
                  </a:ext>
                </a:extLst>
              </a:tr>
              <a:tr h="590550">
                <a:tc>
                  <a:txBody>
                    <a:bodyPr/>
                    <a:lstStyle/>
                    <a:p>
                      <a:pPr algn="l">
                        <a:buNone/>
                      </a:pPr>
                      <a:r>
                        <a:rPr sz="1800" b="0">
                          <a:solidFill>
                            <a:srgbClr val="F4F7F3"/>
                          </a:solidFill>
                          <a:latin typeface="Segoe UI"/>
                          <a:ea typeface="Segoe UI"/>
                          <a:cs typeface="Segoe UI"/>
                        </a:rPr>
                        <a:t>Évolutions des filtres et du tableau de bord</a:t>
                      </a:r>
                    </a:p>
                  </a:txBody>
                  <a:tcPr marL="95250" marR="76200" marT="0" marB="0" anchor="ctr">
                    <a:solidFill>
                      <a:srgbClr val="1B2923"/>
                    </a:solidFill>
                  </a:tcPr>
                </a:tc>
                <a:tc>
                  <a:txBody>
                    <a:bodyPr/>
                    <a:lstStyle/>
                    <a:p>
                      <a:pPr algn="l">
                        <a:buNone/>
                      </a:pPr>
                      <a:r>
                        <a:rPr sz="1800" b="0">
                          <a:solidFill>
                            <a:srgbClr val="F4F7F3"/>
                          </a:solidFill>
                          <a:latin typeface="Segoe UI"/>
                          <a:ea typeface="Segoe UI"/>
                          <a:cs typeface="Segoe UI"/>
                        </a:rPr>
                        <a:t>À replanifier</a:t>
                      </a:r>
                    </a:p>
                  </a:txBody>
                  <a:tcPr marL="95250" marR="76200" marT="0" marB="0" anchor="ctr">
                    <a:solidFill>
                      <a:srgbClr val="1B2923"/>
                    </a:solidFill>
                  </a:tcPr>
                </a:tc>
                <a:tc>
                  <a:txBody>
                    <a:bodyPr/>
                    <a:lstStyle/>
                    <a:p>
                      <a:pPr algn="l">
                        <a:buNone/>
                      </a:pPr>
                      <a:r>
                        <a:rPr sz="1800" b="0" dirty="0">
                          <a:solidFill>
                            <a:srgbClr val="F4F7F3"/>
                          </a:solidFill>
                          <a:latin typeface="Segoe UI"/>
                          <a:ea typeface="Segoe UI"/>
                          <a:cs typeface="Segoe UI"/>
                        </a:rPr>
                        <a:t>Reporter les </a:t>
                      </a:r>
                      <a:r>
                        <a:rPr sz="1800" b="0" dirty="0" err="1">
                          <a:solidFill>
                            <a:srgbClr val="F4F7F3"/>
                          </a:solidFill>
                          <a:latin typeface="Segoe UI"/>
                          <a:ea typeface="Segoe UI"/>
                          <a:cs typeface="Segoe UI"/>
                        </a:rPr>
                        <a:t>évolutions</a:t>
                      </a:r>
                      <a:r>
                        <a:rPr sz="1800" b="0" dirty="0">
                          <a:solidFill>
                            <a:srgbClr val="F4F7F3"/>
                          </a:solidFill>
                          <a:latin typeface="Segoe UI"/>
                          <a:ea typeface="Segoe UI"/>
                          <a:cs typeface="Segoe UI"/>
                        </a:rPr>
                        <a:t> et </a:t>
                      </a:r>
                      <a:r>
                        <a:rPr sz="1800" b="0" dirty="0" err="1">
                          <a:solidFill>
                            <a:srgbClr val="F4F7F3"/>
                          </a:solidFill>
                          <a:latin typeface="Segoe UI"/>
                          <a:ea typeface="Segoe UI"/>
                          <a:cs typeface="Segoe UI"/>
                        </a:rPr>
                        <a:t>leurs</a:t>
                      </a:r>
                      <a:r>
                        <a:rPr sz="1800" b="0" dirty="0">
                          <a:solidFill>
                            <a:srgbClr val="F4F7F3"/>
                          </a:solidFill>
                          <a:latin typeface="Segoe UI"/>
                          <a:ea typeface="Segoe UI"/>
                          <a:cs typeface="Segoe UI"/>
                        </a:rPr>
                        <a:t> tests</a:t>
                      </a:r>
                    </a:p>
                  </a:txBody>
                  <a:tcPr marL="95250" marR="76200" marT="0" marB="0" anchor="ctr">
                    <a:solidFill>
                      <a:srgbClr val="1B2923"/>
                    </a:solidFill>
                  </a:tcPr>
                </a:tc>
                <a:extLst>
                  <a:ext uri="{0D108BD9-81ED-4DB2-BD59-A6C34878D82A}">
                    <a16:rowId xmlns:a16="http://schemas.microsoft.com/office/drawing/2014/main" val="10004"/>
                  </a:ext>
                </a:extLst>
              </a:tr>
            </a:tbl>
          </a:graphicData>
        </a:graphic>
      </p:graphicFrame>
      <p:sp>
        <p:nvSpPr>
          <p:cNvPr id="60" name="Rectangle 59">
            <a:extLst>
              <a:ext uri="{FF2B5EF4-FFF2-40B4-BE49-F238E27FC236}">
                <a16:creationId xmlns:a16="http://schemas.microsoft.com/office/drawing/2014/main" id="{27F77707-99DE-4A37-8685-07A4A8E9C854}"/>
              </a:ext>
            </a:extLst>
          </p:cNvPr>
          <p:cNvSpPr>
            <a:spLocks noGrp="1"/>
          </p:cNvSpPr>
          <p:nvPr/>
        </p:nvSpPr>
        <p:spPr>
          <a:xfrm>
            <a:off x="609600" y="6457950"/>
            <a:ext cx="8382000" cy="219075"/>
          </a:xfrm>
          <a:prstGeom prst="rect">
            <a:avLst/>
          </a:prstGeom>
          <a:noFill/>
          <a:ln w="0">
            <a:noFill/>
          </a:ln>
        </p:spPr>
        <p:txBody>
          <a:bodyPr wrap="square" lIns="0" tIns="0" rIns="0" bIns="0" anchor="t">
            <a:noAutofit/>
          </a:bodyPr>
          <a:lstStyle/>
          <a:p>
            <a:pPr algn="l">
              <a:buNone/>
              <a:defRPr sz="1125" b="0">
                <a:solidFill>
                  <a:srgbClr val="C1D0C1"/>
                </a:solidFill>
                <a:latin typeface="Segoe UI"/>
                <a:ea typeface="Segoe UI"/>
                <a:cs typeface="Segoe UI"/>
              </a:defRPr>
            </a:pPr>
            <a:r>
              <a:rPr sz="1125" b="0">
                <a:solidFill>
                  <a:srgbClr val="C1D0C1"/>
                </a:solidFill>
                <a:latin typeface="Segoe UI"/>
                <a:ea typeface="Segoe UI"/>
                <a:cs typeface="Segoe UI"/>
              </a:rPr>
              <a:t>Alcide / Pilotage du projet</a:t>
            </a:r>
          </a:p>
        </p:txBody>
      </p:sp>
      <p:sp>
        <p:nvSpPr>
          <p:cNvPr id="61" name="Rectangle 60">
            <a:extLst>
              <a:ext uri="{FF2B5EF4-FFF2-40B4-BE49-F238E27FC236}">
                <a16:creationId xmlns:a16="http://schemas.microsoft.com/office/drawing/2014/main" id="{365F836C-2CC0-45D8-A394-42A42DD8A1C6}"/>
              </a:ext>
            </a:extLst>
          </p:cNvPr>
          <p:cNvSpPr>
            <a:spLocks noGrp="1"/>
          </p:cNvSpPr>
          <p:nvPr/>
        </p:nvSpPr>
        <p:spPr>
          <a:xfrm>
            <a:off x="11049000" y="6438900"/>
            <a:ext cx="533400" cy="228600"/>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17</a:t>
            </a:r>
          </a:p>
        </p:txBody>
      </p:sp>
    </p:spTree>
    <p:extLst>
      <p:ext uri="{BB962C8B-B14F-4D97-AF65-F5344CB8AC3E}">
        <p14:creationId xmlns:p14="http://schemas.microsoft.com/office/powerpoint/2010/main" val="1230340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B2923"/>
        </a:solidFill>
        <a:effectLst/>
      </p:bgPr>
    </p:bg>
    <p:spTree>
      <p:nvGrpSpPr>
        <p:cNvPr id="1" name=""/>
        <p:cNvGrpSpPr/>
        <p:nvPr/>
      </p:nvGrpSpPr>
      <p:grpSpPr>
        <a:xfrm>
          <a:off x="0" y="0"/>
          <a:ext cx="0" cy="0"/>
          <a:chOff x="0" y="0"/>
          <a:chExt cx="0" cy="0"/>
        </a:xfrm>
      </p:grpSpPr>
      <p:pic>
        <p:nvPicPr>
          <p:cNvPr id="51" name="Image 50"/>
          <p:cNvPicPr>
            <a:picLocks noChangeAspect="1"/>
          </p:cNvPicPr>
          <p:nvPr/>
        </p:nvPicPr>
        <p:blipFill>
          <a:blip r:embed="rId3"/>
          <a:srcRect t="27" b="27"/>
          <a:stretch>
            <a:fillRect/>
          </a:stretch>
        </p:blipFill>
        <p:spPr>
          <a:xfrm>
            <a:off x="0" y="0"/>
            <a:ext cx="12192000" cy="6858000"/>
          </a:xfrm>
          <a:prstGeom prst="rect">
            <a:avLst/>
          </a:prstGeom>
        </p:spPr>
      </p:pic>
      <p:sp>
        <p:nvSpPr>
          <p:cNvPr id="42" name="Rectangle 41">
            <a:extLst>
              <a:ext uri="{FF2B5EF4-FFF2-40B4-BE49-F238E27FC236}">
                <a16:creationId xmlns:a16="http://schemas.microsoft.com/office/drawing/2014/main" id="{1652BBF3-2524-4944-8CDA-3FC54F3A9676}"/>
              </a:ext>
            </a:extLst>
          </p:cNvPr>
          <p:cNvSpPr>
            <a:spLocks noGrp="1"/>
          </p:cNvSpPr>
          <p:nvPr/>
        </p:nvSpPr>
        <p:spPr>
          <a:xfrm>
            <a:off x="609600" y="609600"/>
            <a:ext cx="10972800" cy="704850"/>
          </a:xfrm>
          <a:prstGeom prst="rect">
            <a:avLst/>
          </a:prstGeom>
          <a:noFill/>
          <a:ln w="0">
            <a:noFill/>
          </a:ln>
        </p:spPr>
        <p:txBody>
          <a:bodyPr wrap="square" lIns="0" tIns="0" rIns="0" bIns="0" anchor="t">
            <a:noAutofit/>
          </a:bodyPr>
          <a:lstStyle/>
          <a:p>
            <a:pPr algn="l">
              <a:buNone/>
              <a:defRPr sz="3450" b="1">
                <a:solidFill>
                  <a:srgbClr val="F4F7F3"/>
                </a:solidFill>
                <a:latin typeface="Segoe UI"/>
                <a:ea typeface="Segoe UI"/>
                <a:cs typeface="Segoe UI"/>
              </a:defRPr>
            </a:pPr>
            <a:r>
              <a:rPr sz="3450" b="1">
                <a:solidFill>
                  <a:srgbClr val="F4F7F3"/>
                </a:solidFill>
                <a:latin typeface="Segoe UI"/>
                <a:ea typeface="Segoe UI"/>
                <a:cs typeface="Segoe UI"/>
              </a:rPr>
              <a:t>La communication dans l’équipe</a:t>
            </a:r>
          </a:p>
        </p:txBody>
      </p:sp>
      <p:sp>
        <p:nvSpPr>
          <p:cNvPr id="43" name="Rectangle 42">
            <a:extLst>
              <a:ext uri="{FF2B5EF4-FFF2-40B4-BE49-F238E27FC236}">
                <a16:creationId xmlns:a16="http://schemas.microsoft.com/office/drawing/2014/main" id="{76C93518-E2E4-40CB-A557-0D00D2077BED}"/>
              </a:ext>
            </a:extLst>
          </p:cNvPr>
          <p:cNvSpPr>
            <a:spLocks noGrp="1"/>
          </p:cNvSpPr>
          <p:nvPr/>
        </p:nvSpPr>
        <p:spPr>
          <a:xfrm>
            <a:off x="609600" y="1438275"/>
            <a:ext cx="10972800" cy="457200"/>
          </a:xfrm>
          <a:prstGeom prst="rect">
            <a:avLst/>
          </a:prstGeom>
          <a:noFill/>
          <a:ln w="0">
            <a:noFill/>
          </a:ln>
        </p:spPr>
        <p:txBody>
          <a:bodyPr wrap="square" lIns="0" tIns="0" rIns="0" bIns="0" anchor="t">
            <a:noAutofit/>
          </a:bodyPr>
          <a:lstStyle/>
          <a:p>
            <a:pPr algn="l">
              <a:buNone/>
              <a:defRPr sz="1950" b="0">
                <a:solidFill>
                  <a:srgbClr val="C1D0C1"/>
                </a:solidFill>
                <a:latin typeface="Segoe UI"/>
                <a:ea typeface="Segoe UI"/>
                <a:cs typeface="Segoe UI"/>
              </a:defRPr>
            </a:pPr>
            <a:r>
              <a:rPr sz="1950" b="0" dirty="0">
                <a:solidFill>
                  <a:srgbClr val="C1D0C1"/>
                </a:solidFill>
                <a:latin typeface="Segoe UI"/>
                <a:ea typeface="Segoe UI"/>
                <a:cs typeface="Segoe UI"/>
              </a:rPr>
              <a:t>Adaptations </a:t>
            </a:r>
            <a:r>
              <a:rPr sz="1950" b="0" dirty="0" err="1">
                <a:solidFill>
                  <a:srgbClr val="C1D0C1"/>
                </a:solidFill>
                <a:latin typeface="Segoe UI"/>
                <a:ea typeface="Segoe UI"/>
                <a:cs typeface="Segoe UI"/>
              </a:rPr>
              <a:t>définies</a:t>
            </a:r>
            <a:r>
              <a:rPr sz="1950" b="0" dirty="0">
                <a:solidFill>
                  <a:srgbClr val="C1D0C1"/>
                </a:solidFill>
                <a:latin typeface="Segoe UI"/>
                <a:ea typeface="Segoe UI"/>
                <a:cs typeface="Segoe UI"/>
              </a:rPr>
              <a:t> avec QA et </a:t>
            </a:r>
            <a:r>
              <a:rPr sz="1950" b="0" dirty="0" err="1">
                <a:solidFill>
                  <a:srgbClr val="C1D0C1"/>
                </a:solidFill>
                <a:latin typeface="Segoe UI"/>
                <a:ea typeface="Segoe UI"/>
                <a:cs typeface="Segoe UI"/>
              </a:rPr>
              <a:t>vérifiées</a:t>
            </a:r>
            <a:r>
              <a:rPr sz="1950" b="0" dirty="0">
                <a:solidFill>
                  <a:srgbClr val="C1D0C1"/>
                </a:solidFill>
                <a:latin typeface="Segoe UI"/>
                <a:ea typeface="Segoe UI"/>
                <a:cs typeface="Segoe UI"/>
              </a:rPr>
              <a:t> avec </a:t>
            </a:r>
            <a:r>
              <a:rPr sz="1950" b="0" dirty="0" err="1">
                <a:solidFill>
                  <a:srgbClr val="C1D0C1"/>
                </a:solidFill>
                <a:latin typeface="Segoe UI"/>
                <a:ea typeface="Segoe UI"/>
                <a:cs typeface="Segoe UI"/>
              </a:rPr>
              <a:t>elle</a:t>
            </a:r>
            <a:endParaRPr sz="1950" b="0" dirty="0">
              <a:solidFill>
                <a:srgbClr val="C1D0C1"/>
              </a:solidFill>
              <a:latin typeface="Segoe UI"/>
              <a:ea typeface="Segoe UI"/>
              <a:cs typeface="Segoe UI"/>
            </a:endParaRPr>
          </a:p>
        </p:txBody>
      </p:sp>
      <p:graphicFrame>
        <p:nvGraphicFramePr>
          <p:cNvPr id="54" name="Tableau 53"/>
          <p:cNvGraphicFramePr/>
          <p:nvPr/>
        </p:nvGraphicFramePr>
        <p:xfrm>
          <a:off x="609600" y="2038350"/>
          <a:ext cx="10972800" cy="3362325"/>
        </p:xfrm>
        <a:graphic>
          <a:graphicData uri="http://schemas.openxmlformats.org/drawingml/2006/table">
            <a:tbl>
              <a:tblPr/>
              <a:tblGrid>
                <a:gridCol w="2867025">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3914775">
                  <a:extLst>
                    <a:ext uri="{9D8B030D-6E8A-4147-A177-3AD203B41FA5}">
                      <a16:colId xmlns:a16="http://schemas.microsoft.com/office/drawing/2014/main" val="20002"/>
                    </a:ext>
                  </a:extLst>
                </a:gridCol>
              </a:tblGrid>
              <a:tr h="466725">
                <a:tc>
                  <a:txBody>
                    <a:bodyPr/>
                    <a:lstStyle/>
                    <a:p>
                      <a:pPr algn="l">
                        <a:buNone/>
                      </a:pPr>
                      <a:r>
                        <a:rPr sz="1800" b="1">
                          <a:solidFill>
                            <a:srgbClr val="BACDB7"/>
                          </a:solidFill>
                          <a:latin typeface="Segoe UI"/>
                          <a:ea typeface="Segoe UI"/>
                          <a:cs typeface="Segoe UI"/>
                        </a:rPr>
                        <a:t>Besoin</a:t>
                      </a:r>
                    </a:p>
                  </a:txBody>
                  <a:tcPr marL="95250" marR="76200" marT="0" marB="0" anchor="ctr">
                    <a:solidFill>
                      <a:srgbClr val="213B2E"/>
                    </a:solidFill>
                  </a:tcPr>
                </a:tc>
                <a:tc>
                  <a:txBody>
                    <a:bodyPr/>
                    <a:lstStyle/>
                    <a:p>
                      <a:pPr algn="l">
                        <a:buNone/>
                      </a:pPr>
                      <a:r>
                        <a:rPr sz="1800" b="1">
                          <a:solidFill>
                            <a:srgbClr val="BACDB7"/>
                          </a:solidFill>
                          <a:latin typeface="Segoe UI"/>
                          <a:ea typeface="Segoe UI"/>
                          <a:cs typeface="Segoe UI"/>
                        </a:rPr>
                        <a:t>Adaptation prévue</a:t>
                      </a:r>
                    </a:p>
                  </a:txBody>
                  <a:tcPr marL="95250" marR="76200" marT="0" marB="0" anchor="ctr">
                    <a:solidFill>
                      <a:srgbClr val="213B2E"/>
                    </a:solidFill>
                  </a:tcPr>
                </a:tc>
                <a:tc>
                  <a:txBody>
                    <a:bodyPr/>
                    <a:lstStyle/>
                    <a:p>
                      <a:pPr algn="l">
                        <a:buNone/>
                      </a:pPr>
                      <a:r>
                        <a:rPr sz="1800" b="1">
                          <a:solidFill>
                            <a:srgbClr val="BACDB7"/>
                          </a:solidFill>
                          <a:latin typeface="Segoe UI"/>
                          <a:ea typeface="Segoe UI"/>
                          <a:cs typeface="Segoe UI"/>
                        </a:rPr>
                        <a:t>Vérification avec QA</a:t>
                      </a:r>
                    </a:p>
                  </a:txBody>
                  <a:tcPr marL="95250" marR="76200" marT="0" marB="0" anchor="ctr">
                    <a:solidFill>
                      <a:srgbClr val="213B2E"/>
                    </a:solidFill>
                  </a:tcPr>
                </a:tc>
                <a:extLst>
                  <a:ext uri="{0D108BD9-81ED-4DB2-BD59-A6C34878D82A}">
                    <a16:rowId xmlns:a16="http://schemas.microsoft.com/office/drawing/2014/main" val="10000"/>
                  </a:ext>
                </a:extLst>
              </a:tr>
              <a:tr h="657225">
                <a:tc>
                  <a:txBody>
                    <a:bodyPr/>
                    <a:lstStyle/>
                    <a:p>
                      <a:pPr algn="l">
                        <a:buNone/>
                      </a:pPr>
                      <a:r>
                        <a:rPr sz="1800" b="0">
                          <a:solidFill>
                            <a:srgbClr val="F4F7F3"/>
                          </a:solidFill>
                          <a:latin typeface="Segoe UI"/>
                          <a:ea typeface="Segoe UI"/>
                          <a:cs typeface="Segoe UI"/>
                        </a:rPr>
                        <a:t>Consignes compréhensibles</a:t>
                      </a:r>
                    </a:p>
                  </a:txBody>
                  <a:tcPr marL="95250" marR="76200" marT="0" marB="0" anchor="ctr">
                    <a:solidFill>
                      <a:srgbClr val="1B2923"/>
                    </a:solidFill>
                  </a:tcPr>
                </a:tc>
                <a:tc>
                  <a:txBody>
                    <a:bodyPr/>
                    <a:lstStyle/>
                    <a:p>
                      <a:pPr algn="l">
                        <a:buNone/>
                      </a:pPr>
                      <a:r>
                        <a:rPr sz="1800" b="0">
                          <a:solidFill>
                            <a:srgbClr val="F4F7F3"/>
                          </a:solidFill>
                          <a:latin typeface="Segoe UI"/>
                          <a:ea typeface="Segoe UI"/>
                          <a:cs typeface="Segoe UI"/>
                        </a:rPr>
                        <a:t>Objectif, étapes et critères écrits</a:t>
                      </a:r>
                    </a:p>
                  </a:txBody>
                  <a:tcPr marL="95250" marR="76200" marT="0" marB="0" anchor="ctr">
                    <a:solidFill>
                      <a:srgbClr val="1B2923"/>
                    </a:solidFill>
                  </a:tcPr>
                </a:tc>
                <a:tc>
                  <a:txBody>
                    <a:bodyPr/>
                    <a:lstStyle/>
                    <a:p>
                      <a:pPr algn="l">
                        <a:buNone/>
                      </a:pPr>
                      <a:r>
                        <a:rPr sz="1800" b="0">
                          <a:solidFill>
                            <a:srgbClr val="F4F7F3"/>
                          </a:solidFill>
                          <a:latin typeface="Segoe UI"/>
                          <a:ea typeface="Segoe UI"/>
                          <a:cs typeface="Segoe UI"/>
                        </a:rPr>
                        <a:t>QA reformule le résultat attendu</a:t>
                      </a:r>
                    </a:p>
                  </a:txBody>
                  <a:tcPr marL="95250" marR="76200" marT="0" marB="0" anchor="ctr">
                    <a:solidFill>
                      <a:srgbClr val="1B2923"/>
                    </a:solidFill>
                  </a:tcPr>
                </a:tc>
                <a:extLst>
                  <a:ext uri="{0D108BD9-81ED-4DB2-BD59-A6C34878D82A}">
                    <a16:rowId xmlns:a16="http://schemas.microsoft.com/office/drawing/2014/main" val="10001"/>
                  </a:ext>
                </a:extLst>
              </a:tr>
              <a:tr h="752475">
                <a:tc>
                  <a:txBody>
                    <a:bodyPr/>
                    <a:lstStyle/>
                    <a:p>
                      <a:pPr algn="l">
                        <a:buNone/>
                      </a:pPr>
                      <a:r>
                        <a:rPr sz="1800" b="0">
                          <a:solidFill>
                            <a:srgbClr val="F4F7F3"/>
                          </a:solidFill>
                          <a:latin typeface="Segoe UI"/>
                          <a:ea typeface="Segoe UI"/>
                          <a:cs typeface="Segoe UI"/>
                        </a:rPr>
                        <a:t>Réunions accessibles</a:t>
                      </a:r>
                    </a:p>
                  </a:txBody>
                  <a:tcPr marL="95250" marR="76200" marT="0" marB="0" anchor="ctr">
                    <a:solidFill>
                      <a:srgbClr val="1B2923"/>
                    </a:solidFill>
                  </a:tcPr>
                </a:tc>
                <a:tc>
                  <a:txBody>
                    <a:bodyPr/>
                    <a:lstStyle/>
                    <a:p>
                      <a:pPr algn="l">
                        <a:buNone/>
                      </a:pPr>
                      <a:r>
                        <a:rPr sz="1800" b="0">
                          <a:solidFill>
                            <a:srgbClr val="F4F7F3"/>
                          </a:solidFill>
                          <a:latin typeface="Segoe UI"/>
                          <a:ea typeface="Segoe UI"/>
                          <a:cs typeface="Segoe UI"/>
                        </a:rPr>
                        <a:t>Agenda, sous-titres, chat</a:t>
                      </a:r>
                    </a:p>
                    <a:p>
                      <a:pPr algn="l">
                        <a:buNone/>
                      </a:pPr>
                      <a:r>
                        <a:rPr sz="1800" b="0">
                          <a:solidFill>
                            <a:srgbClr val="F4F7F3"/>
                          </a:solidFill>
                          <a:latin typeface="Segoe UI"/>
                          <a:ea typeface="Segoe UI"/>
                          <a:cs typeface="Segoe UI"/>
                        </a:rPr>
                        <a:t>1 personne parle à la fois</a:t>
                      </a:r>
                    </a:p>
                  </a:txBody>
                  <a:tcPr marL="95250" marR="76200" marT="0" marB="0" anchor="ctr">
                    <a:solidFill>
                      <a:srgbClr val="1B2923"/>
                    </a:solidFill>
                  </a:tcPr>
                </a:tc>
                <a:tc>
                  <a:txBody>
                    <a:bodyPr/>
                    <a:lstStyle/>
                    <a:p>
                      <a:pPr algn="l">
                        <a:buNone/>
                      </a:pPr>
                      <a:r>
                        <a:rPr sz="1800" b="0">
                          <a:solidFill>
                            <a:srgbClr val="F4F7F3"/>
                          </a:solidFill>
                          <a:latin typeface="Segoe UI"/>
                          <a:ea typeface="Segoe UI"/>
                          <a:cs typeface="Segoe UI"/>
                        </a:rPr>
                        <a:t>Sous-titres vérifiés et compte rendu relu</a:t>
                      </a:r>
                    </a:p>
                  </a:txBody>
                  <a:tcPr marL="95250" marR="76200" marT="0" marB="0" anchor="ctr">
                    <a:solidFill>
                      <a:srgbClr val="1B2923"/>
                    </a:solidFill>
                  </a:tcPr>
                </a:tc>
                <a:extLst>
                  <a:ext uri="{0D108BD9-81ED-4DB2-BD59-A6C34878D82A}">
                    <a16:rowId xmlns:a16="http://schemas.microsoft.com/office/drawing/2014/main" val="10002"/>
                  </a:ext>
                </a:extLst>
              </a:tr>
              <a:tr h="657225">
                <a:tc>
                  <a:txBody>
                    <a:bodyPr/>
                    <a:lstStyle/>
                    <a:p>
                      <a:pPr algn="l">
                        <a:buNone/>
                      </a:pPr>
                      <a:r>
                        <a:rPr sz="1800" b="0">
                          <a:solidFill>
                            <a:srgbClr val="F4F7F3"/>
                          </a:solidFill>
                          <a:latin typeface="Segoe UI"/>
                          <a:ea typeface="Segoe UI"/>
                          <a:cs typeface="Segoe UI"/>
                        </a:rPr>
                        <a:t>Décisions retrouvables</a:t>
                      </a:r>
                    </a:p>
                  </a:txBody>
                  <a:tcPr marL="95250" marR="76200" marT="0" marB="0" anchor="ctr">
                    <a:solidFill>
                      <a:srgbClr val="1B2923"/>
                    </a:solidFill>
                  </a:tcPr>
                </a:tc>
                <a:tc>
                  <a:txBody>
                    <a:bodyPr/>
                    <a:lstStyle/>
                    <a:p>
                      <a:pPr algn="l">
                        <a:buNone/>
                      </a:pPr>
                      <a:r>
                        <a:rPr sz="1800" b="0">
                          <a:solidFill>
                            <a:srgbClr val="F4F7F3"/>
                          </a:solidFill>
                          <a:latin typeface="Segoe UI"/>
                          <a:ea typeface="Segoe UI"/>
                          <a:cs typeface="Segoe UI"/>
                        </a:rPr>
                        <a:t>Décision et responsable dans la carte</a:t>
                      </a:r>
                    </a:p>
                  </a:txBody>
                  <a:tcPr marL="95250" marR="76200" marT="0" marB="0" anchor="ctr">
                    <a:solidFill>
                      <a:srgbClr val="1B2923"/>
                    </a:solidFill>
                  </a:tcPr>
                </a:tc>
                <a:tc>
                  <a:txBody>
                    <a:bodyPr/>
                    <a:lstStyle/>
                    <a:p>
                      <a:pPr algn="l">
                        <a:buNone/>
                      </a:pPr>
                      <a:r>
                        <a:rPr sz="1800" b="0">
                          <a:solidFill>
                            <a:srgbClr val="F4F7F3"/>
                          </a:solidFill>
                          <a:latin typeface="Segoe UI"/>
                          <a:ea typeface="Segoe UI"/>
                          <a:cs typeface="Segoe UI"/>
                        </a:rPr>
                        <a:t>QA retrouve la décision et l’échéance</a:t>
                      </a:r>
                    </a:p>
                  </a:txBody>
                  <a:tcPr marL="95250" marR="76200" marT="0" marB="0" anchor="ctr">
                    <a:solidFill>
                      <a:srgbClr val="1B2923"/>
                    </a:solidFill>
                  </a:tcPr>
                </a:tc>
                <a:extLst>
                  <a:ext uri="{0D108BD9-81ED-4DB2-BD59-A6C34878D82A}">
                    <a16:rowId xmlns:a16="http://schemas.microsoft.com/office/drawing/2014/main" val="10003"/>
                  </a:ext>
                </a:extLst>
              </a:tr>
              <a:tr h="828675">
                <a:tc>
                  <a:txBody>
                    <a:bodyPr/>
                    <a:lstStyle/>
                    <a:p>
                      <a:pPr algn="l">
                        <a:buNone/>
                      </a:pPr>
                      <a:r>
                        <a:rPr sz="1800" b="0">
                          <a:solidFill>
                            <a:srgbClr val="F4F7F3"/>
                          </a:solidFill>
                          <a:latin typeface="Segoe UI"/>
                          <a:ea typeface="Segoe UI"/>
                          <a:cs typeface="Segoe UI"/>
                        </a:rPr>
                        <a:t>Formation accessible</a:t>
                      </a:r>
                    </a:p>
                  </a:txBody>
                  <a:tcPr marL="95250" marR="76200" marT="0" marB="0" anchor="ctr">
                    <a:solidFill>
                      <a:srgbClr val="1B2923"/>
                    </a:solidFill>
                  </a:tcPr>
                </a:tc>
                <a:tc>
                  <a:txBody>
                    <a:bodyPr/>
                    <a:lstStyle/>
                    <a:p>
                      <a:pPr algn="l">
                        <a:buNone/>
                      </a:pPr>
                      <a:r>
                        <a:rPr sz="1800" b="0">
                          <a:solidFill>
                            <a:srgbClr val="F4F7F3"/>
                          </a:solidFill>
                          <a:latin typeface="Segoe UI"/>
                          <a:ea typeface="Segoe UI"/>
                          <a:cs typeface="Segoe UI"/>
                        </a:rPr>
                        <a:t>Supports transmis, transcription</a:t>
                      </a:r>
                    </a:p>
                    <a:p>
                      <a:pPr algn="l">
                        <a:buNone/>
                      </a:pPr>
                      <a:r>
                        <a:rPr sz="1800" b="0">
                          <a:solidFill>
                            <a:srgbClr val="F4F7F3"/>
                          </a:solidFill>
                          <a:latin typeface="Segoe UI"/>
                          <a:ea typeface="Segoe UI"/>
                          <a:cs typeface="Segoe UI"/>
                        </a:rPr>
                        <a:t>Exercice à son rythme</a:t>
                      </a:r>
                    </a:p>
                  </a:txBody>
                  <a:tcPr marL="95250" marR="76200" marT="0" marB="0" anchor="ctr">
                    <a:solidFill>
                      <a:srgbClr val="1B2923"/>
                    </a:solidFill>
                  </a:tcPr>
                </a:tc>
                <a:tc>
                  <a:txBody>
                    <a:bodyPr/>
                    <a:lstStyle/>
                    <a:p>
                      <a:pPr algn="l">
                        <a:buNone/>
                      </a:pPr>
                      <a:r>
                        <a:rPr sz="1800" b="0">
                          <a:solidFill>
                            <a:srgbClr val="F4F7F3"/>
                          </a:solidFill>
                          <a:latin typeface="Segoe UI"/>
                          <a:ea typeface="Segoe UI"/>
                          <a:cs typeface="Segoe UI"/>
                        </a:rPr>
                        <a:t>Rapport autonome et retour de QA sur les adaptations</a:t>
                      </a:r>
                    </a:p>
                  </a:txBody>
                  <a:tcPr marL="95250" marR="76200" marT="0" marB="0" anchor="ctr">
                    <a:solidFill>
                      <a:srgbClr val="1B2923"/>
                    </a:solidFill>
                  </a:tcPr>
                </a:tc>
                <a:extLst>
                  <a:ext uri="{0D108BD9-81ED-4DB2-BD59-A6C34878D82A}">
                    <a16:rowId xmlns:a16="http://schemas.microsoft.com/office/drawing/2014/main" val="10004"/>
                  </a:ext>
                </a:extLst>
              </a:tr>
            </a:tbl>
          </a:graphicData>
        </a:graphic>
      </p:graphicFrame>
      <p:sp>
        <p:nvSpPr>
          <p:cNvPr id="45" name="Rectangle 44">
            <a:extLst>
              <a:ext uri="{FF2B5EF4-FFF2-40B4-BE49-F238E27FC236}">
                <a16:creationId xmlns:a16="http://schemas.microsoft.com/office/drawing/2014/main" id="{9C9F8E4E-1A05-470C-8FDA-BA45C38E40B6}"/>
              </a:ext>
            </a:extLst>
          </p:cNvPr>
          <p:cNvSpPr>
            <a:spLocks noGrp="1"/>
          </p:cNvSpPr>
          <p:nvPr/>
        </p:nvSpPr>
        <p:spPr>
          <a:xfrm>
            <a:off x="609600" y="5724525"/>
            <a:ext cx="10972800" cy="323850"/>
          </a:xfrm>
          <a:prstGeom prst="rect">
            <a:avLst/>
          </a:prstGeom>
          <a:noFill/>
          <a:ln w="0">
            <a:noFill/>
          </a:ln>
        </p:spPr>
        <p:txBody>
          <a:bodyPr wrap="square" lIns="0" tIns="0" rIns="0" bIns="0" anchor="t">
            <a:noAutofit/>
          </a:bodyPr>
          <a:lstStyle/>
          <a:p>
            <a:pPr algn="l">
              <a:buNone/>
              <a:defRPr sz="1875" b="1">
                <a:solidFill>
                  <a:srgbClr val="BACDB7"/>
                </a:solidFill>
                <a:latin typeface="Segoe UI"/>
                <a:ea typeface="Segoe UI"/>
                <a:cs typeface="Segoe UI"/>
              </a:defRPr>
            </a:pPr>
            <a:r>
              <a:rPr sz="1875" b="1">
                <a:solidFill>
                  <a:srgbClr val="BACDB7"/>
                </a:solidFill>
                <a:latin typeface="Segoe UI"/>
                <a:ea typeface="Segoe UI"/>
                <a:cs typeface="Segoe UI"/>
              </a:rPr>
              <a:t>15–17 septembre proposés : S05 représente 2 JH collectifs, inclus dans les 81 JH.</a:t>
            </a:r>
          </a:p>
        </p:txBody>
      </p:sp>
      <p:sp>
        <p:nvSpPr>
          <p:cNvPr id="47" name="Rectangle 46">
            <a:extLst>
              <a:ext uri="{FF2B5EF4-FFF2-40B4-BE49-F238E27FC236}">
                <a16:creationId xmlns:a16="http://schemas.microsoft.com/office/drawing/2014/main" id="{86BCED09-63C9-4F76-B9F6-6ACFA824AC6F}"/>
              </a:ext>
            </a:extLst>
          </p:cNvPr>
          <p:cNvSpPr>
            <a:spLocks noGrp="1"/>
          </p:cNvSpPr>
          <p:nvPr/>
        </p:nvSpPr>
        <p:spPr>
          <a:xfrm>
            <a:off x="609600" y="6457950"/>
            <a:ext cx="8382000" cy="219075"/>
          </a:xfrm>
          <a:prstGeom prst="rect">
            <a:avLst/>
          </a:prstGeom>
          <a:noFill/>
          <a:ln w="0">
            <a:noFill/>
          </a:ln>
        </p:spPr>
        <p:txBody>
          <a:bodyPr wrap="square" lIns="0" tIns="0" rIns="0" bIns="0" anchor="t">
            <a:noAutofit/>
          </a:bodyPr>
          <a:lstStyle/>
          <a:p>
            <a:pPr algn="l">
              <a:buNone/>
              <a:defRPr sz="1125" b="0">
                <a:solidFill>
                  <a:srgbClr val="C1D0C1"/>
                </a:solidFill>
                <a:latin typeface="Segoe UI"/>
                <a:ea typeface="Segoe UI"/>
                <a:cs typeface="Segoe UI"/>
              </a:defRPr>
            </a:pPr>
            <a:r>
              <a:rPr sz="1125" b="0">
                <a:solidFill>
                  <a:srgbClr val="C1D0C1"/>
                </a:solidFill>
                <a:latin typeface="Segoe UI"/>
                <a:ea typeface="Segoe UI"/>
                <a:cs typeface="Segoe UI"/>
              </a:rPr>
              <a:t>Alcide / Pilotage du projet</a:t>
            </a:r>
          </a:p>
        </p:txBody>
      </p:sp>
      <p:sp>
        <p:nvSpPr>
          <p:cNvPr id="48" name="Rectangle 47">
            <a:extLst>
              <a:ext uri="{FF2B5EF4-FFF2-40B4-BE49-F238E27FC236}">
                <a16:creationId xmlns:a16="http://schemas.microsoft.com/office/drawing/2014/main" id="{8661927D-5508-469B-9116-49D08A9250A7}"/>
              </a:ext>
            </a:extLst>
          </p:cNvPr>
          <p:cNvSpPr>
            <a:spLocks noGrp="1"/>
          </p:cNvSpPr>
          <p:nvPr/>
        </p:nvSpPr>
        <p:spPr>
          <a:xfrm>
            <a:off x="11049000" y="6438900"/>
            <a:ext cx="533400" cy="228600"/>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18</a:t>
            </a:r>
          </a:p>
        </p:txBody>
      </p:sp>
    </p:spTree>
    <p:extLst>
      <p:ext uri="{BB962C8B-B14F-4D97-AF65-F5344CB8AC3E}">
        <p14:creationId xmlns:p14="http://schemas.microsoft.com/office/powerpoint/2010/main" val="17046656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B2923"/>
        </a:solidFill>
        <a:effectLst/>
      </p:bgPr>
    </p:bg>
    <p:spTree>
      <p:nvGrpSpPr>
        <p:cNvPr id="1" name=""/>
        <p:cNvGrpSpPr/>
        <p:nvPr/>
      </p:nvGrpSpPr>
      <p:grpSpPr>
        <a:xfrm>
          <a:off x="0" y="0"/>
          <a:ext cx="0" cy="0"/>
          <a:chOff x="0" y="0"/>
          <a:chExt cx="0" cy="0"/>
        </a:xfrm>
      </p:grpSpPr>
      <p:pic>
        <p:nvPicPr>
          <p:cNvPr id="41" name="Image 40"/>
          <p:cNvPicPr>
            <a:picLocks noChangeAspect="1"/>
          </p:cNvPicPr>
          <p:nvPr/>
        </p:nvPicPr>
        <p:blipFill>
          <a:blip r:embed="rId3"/>
          <a:srcRect t="27" b="27"/>
          <a:stretch>
            <a:fillRect/>
          </a:stretch>
        </p:blipFill>
        <p:spPr>
          <a:xfrm>
            <a:off x="0" y="0"/>
            <a:ext cx="12192000" cy="6858000"/>
          </a:xfrm>
          <a:prstGeom prst="rect">
            <a:avLst/>
          </a:prstGeom>
        </p:spPr>
      </p:pic>
      <p:sp>
        <p:nvSpPr>
          <p:cNvPr id="31" name="Rectangle 30">
            <a:extLst>
              <a:ext uri="{FF2B5EF4-FFF2-40B4-BE49-F238E27FC236}">
                <a16:creationId xmlns:a16="http://schemas.microsoft.com/office/drawing/2014/main" id="{E65ED7C7-70EE-4006-A6CC-34DFC6BF4A37}"/>
              </a:ext>
            </a:extLst>
          </p:cNvPr>
          <p:cNvSpPr>
            <a:spLocks noGrp="1"/>
          </p:cNvSpPr>
          <p:nvPr/>
        </p:nvSpPr>
        <p:spPr>
          <a:xfrm>
            <a:off x="609600" y="609600"/>
            <a:ext cx="10972800" cy="704850"/>
          </a:xfrm>
          <a:prstGeom prst="rect">
            <a:avLst/>
          </a:prstGeom>
          <a:noFill/>
          <a:ln w="0">
            <a:noFill/>
          </a:ln>
        </p:spPr>
        <p:txBody>
          <a:bodyPr wrap="square" lIns="0" tIns="0" rIns="0" bIns="0" anchor="t">
            <a:noAutofit/>
          </a:bodyPr>
          <a:lstStyle/>
          <a:p>
            <a:pPr algn="l">
              <a:buNone/>
              <a:defRPr sz="3450" b="1">
                <a:solidFill>
                  <a:srgbClr val="F4F7F3"/>
                </a:solidFill>
                <a:latin typeface="Segoe UI"/>
                <a:ea typeface="Segoe UI"/>
                <a:cs typeface="Segoe UI"/>
              </a:defRPr>
            </a:pPr>
            <a:r>
              <a:rPr sz="3450" b="1">
                <a:solidFill>
                  <a:srgbClr val="F4F7F3"/>
                </a:solidFill>
                <a:latin typeface="Segoe UI"/>
                <a:ea typeface="Segoe UI"/>
                <a:cs typeface="Segoe UI"/>
              </a:rPr>
              <a:t>Les compétences à développer</a:t>
            </a:r>
          </a:p>
        </p:txBody>
      </p:sp>
      <p:sp>
        <p:nvSpPr>
          <p:cNvPr id="32" name="Rectangle 31">
            <a:extLst>
              <a:ext uri="{FF2B5EF4-FFF2-40B4-BE49-F238E27FC236}">
                <a16:creationId xmlns:a16="http://schemas.microsoft.com/office/drawing/2014/main" id="{47C3BD4B-F3A0-4676-B583-2A88FF5E512E}"/>
              </a:ext>
            </a:extLst>
          </p:cNvPr>
          <p:cNvSpPr>
            <a:spLocks noGrp="1"/>
          </p:cNvSpPr>
          <p:nvPr/>
        </p:nvSpPr>
        <p:spPr>
          <a:xfrm>
            <a:off x="609600" y="1438275"/>
            <a:ext cx="10972800" cy="685800"/>
          </a:xfrm>
          <a:prstGeom prst="rect">
            <a:avLst/>
          </a:prstGeom>
          <a:noFill/>
          <a:ln w="0">
            <a:noFill/>
          </a:ln>
        </p:spPr>
        <p:txBody>
          <a:bodyPr wrap="square" lIns="0" tIns="0" rIns="0" bIns="0" anchor="t">
            <a:noAutofit/>
          </a:bodyPr>
          <a:lstStyle/>
          <a:p>
            <a:pPr algn="l">
              <a:buNone/>
              <a:defRPr sz="1950" b="0">
                <a:solidFill>
                  <a:srgbClr val="C1D0C1"/>
                </a:solidFill>
                <a:latin typeface="Segoe UI"/>
                <a:ea typeface="Segoe UI"/>
                <a:cs typeface="Segoe UI"/>
              </a:defRPr>
            </a:pPr>
            <a:r>
              <a:rPr sz="1950" b="0">
                <a:solidFill>
                  <a:srgbClr val="C1D0C1"/>
                </a:solidFill>
                <a:latin typeface="Segoe UI"/>
                <a:ea typeface="Segoe UI"/>
                <a:cs typeface="Segoe UI"/>
              </a:rPr>
              <a:t>Compétences ciblées : niveau initial 2, niveau visé 3.</a:t>
            </a:r>
          </a:p>
          <a:p>
            <a:pPr algn="l">
              <a:buNone/>
              <a:defRPr sz="1950" b="0">
                <a:solidFill>
                  <a:srgbClr val="C1D0C1"/>
                </a:solidFill>
                <a:latin typeface="Segoe UI"/>
                <a:ea typeface="Segoe UI"/>
                <a:cs typeface="Segoe UI"/>
              </a:defRPr>
            </a:pPr>
            <a:r>
              <a:rPr sz="1950" b="0">
                <a:solidFill>
                  <a:srgbClr val="C1D0C1"/>
                </a:solidFill>
                <a:latin typeface="Segoe UI"/>
                <a:ea typeface="Segoe UI"/>
                <a:cs typeface="Segoe UI"/>
              </a:rPr>
              <a:t>Positionnement du scénario à confirmer par un exercice.</a:t>
            </a:r>
          </a:p>
        </p:txBody>
      </p:sp>
      <p:sp>
        <p:nvSpPr>
          <p:cNvPr id="34" name="Rectangle 33">
            <a:extLst>
              <a:ext uri="{FF2B5EF4-FFF2-40B4-BE49-F238E27FC236}">
                <a16:creationId xmlns:a16="http://schemas.microsoft.com/office/drawing/2014/main" id="{F48E3BA4-98E5-4D8E-B967-948340B4DC03}"/>
              </a:ext>
            </a:extLst>
          </p:cNvPr>
          <p:cNvSpPr>
            <a:spLocks noGrp="1"/>
          </p:cNvSpPr>
          <p:nvPr/>
        </p:nvSpPr>
        <p:spPr>
          <a:xfrm>
            <a:off x="609600" y="5695950"/>
            <a:ext cx="10972800" cy="609600"/>
          </a:xfrm>
          <a:prstGeom prst="rect">
            <a:avLst/>
          </a:prstGeom>
          <a:noFill/>
          <a:ln w="0">
            <a:noFill/>
          </a:ln>
        </p:spPr>
        <p:txBody>
          <a:bodyPr wrap="square" lIns="0" tIns="0" rIns="0" bIns="0" anchor="t">
            <a:noAutofit/>
          </a:bodyPr>
          <a:lstStyle/>
          <a:p>
            <a:pPr algn="l">
              <a:buNone/>
              <a:defRPr sz="1725" b="1">
                <a:solidFill>
                  <a:srgbClr val="BACDB7"/>
                </a:solidFill>
                <a:latin typeface="Segoe UI"/>
                <a:ea typeface="Segoe UI"/>
                <a:cs typeface="Segoe UI"/>
              </a:defRPr>
            </a:pPr>
            <a:r>
              <a:rPr sz="1725" b="1">
                <a:solidFill>
                  <a:srgbClr val="BACDB7"/>
                </a:solidFill>
                <a:latin typeface="Segoe UI"/>
                <a:ea typeface="Segoe UI"/>
                <a:cs typeface="Segoe UI"/>
              </a:rPr>
              <a:t>Validation par un exercice concret.</a:t>
            </a:r>
          </a:p>
          <a:p>
            <a:pPr algn="l">
              <a:buNone/>
              <a:defRPr sz="1725" b="1">
                <a:solidFill>
                  <a:srgbClr val="BACDB7"/>
                </a:solidFill>
                <a:latin typeface="Segoe UI"/>
                <a:ea typeface="Segoe UI"/>
                <a:cs typeface="Segoe UI"/>
              </a:defRPr>
            </a:pPr>
            <a:r>
              <a:rPr sz="1725" b="1">
                <a:solidFill>
                  <a:srgbClr val="BACDB7"/>
                </a:solidFill>
                <a:latin typeface="Segoe UI"/>
                <a:ea typeface="Segoe UI"/>
                <a:cs typeface="Segoe UI"/>
              </a:rPr>
              <a:t>Pour QA : consignes écrites et démonstration sous-titrée.</a:t>
            </a:r>
          </a:p>
        </p:txBody>
      </p:sp>
      <p:sp>
        <p:nvSpPr>
          <p:cNvPr id="37" name="Rectangle 36">
            <a:extLst>
              <a:ext uri="{FF2B5EF4-FFF2-40B4-BE49-F238E27FC236}">
                <a16:creationId xmlns:a16="http://schemas.microsoft.com/office/drawing/2014/main" id="{A1A10A4B-F430-49D9-BAC1-0D03CBA74A98}"/>
              </a:ext>
            </a:extLst>
          </p:cNvPr>
          <p:cNvSpPr>
            <a:spLocks noGrp="1"/>
          </p:cNvSpPr>
          <p:nvPr/>
        </p:nvSpPr>
        <p:spPr>
          <a:xfrm>
            <a:off x="609600" y="6457950"/>
            <a:ext cx="8382000" cy="219075"/>
          </a:xfrm>
          <a:prstGeom prst="rect">
            <a:avLst/>
          </a:prstGeom>
          <a:noFill/>
          <a:ln w="0">
            <a:noFill/>
          </a:ln>
        </p:spPr>
        <p:txBody>
          <a:bodyPr wrap="square" lIns="0" tIns="0" rIns="0" bIns="0" anchor="t">
            <a:noAutofit/>
          </a:bodyPr>
          <a:lstStyle/>
          <a:p>
            <a:pPr algn="l">
              <a:buNone/>
              <a:defRPr sz="1125" b="0">
                <a:solidFill>
                  <a:srgbClr val="C1D0C1"/>
                </a:solidFill>
                <a:latin typeface="Segoe UI"/>
                <a:ea typeface="Segoe UI"/>
                <a:cs typeface="Segoe UI"/>
              </a:defRPr>
            </a:pPr>
            <a:r>
              <a:rPr sz="1125" b="0">
                <a:solidFill>
                  <a:srgbClr val="C1D0C1"/>
                </a:solidFill>
                <a:latin typeface="Segoe UI"/>
                <a:ea typeface="Segoe UI"/>
                <a:cs typeface="Segoe UI"/>
              </a:rPr>
              <a:t>Alcide / Pilotage du projet</a:t>
            </a:r>
          </a:p>
        </p:txBody>
      </p:sp>
      <p:sp>
        <p:nvSpPr>
          <p:cNvPr id="38" name="Rectangle 37">
            <a:extLst>
              <a:ext uri="{FF2B5EF4-FFF2-40B4-BE49-F238E27FC236}">
                <a16:creationId xmlns:a16="http://schemas.microsoft.com/office/drawing/2014/main" id="{5444C158-1320-4DB3-8D20-48A75F826223}"/>
              </a:ext>
            </a:extLst>
          </p:cNvPr>
          <p:cNvSpPr>
            <a:spLocks noGrp="1"/>
          </p:cNvSpPr>
          <p:nvPr/>
        </p:nvSpPr>
        <p:spPr>
          <a:xfrm>
            <a:off x="11049000" y="6438900"/>
            <a:ext cx="533400" cy="228600"/>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19</a:t>
            </a:r>
          </a:p>
        </p:txBody>
      </p:sp>
      <p:graphicFrame>
        <p:nvGraphicFramePr>
          <p:cNvPr id="48" name="Tableau 47"/>
          <p:cNvGraphicFramePr/>
          <p:nvPr/>
        </p:nvGraphicFramePr>
        <p:xfrm>
          <a:off x="609600" y="2238375"/>
          <a:ext cx="10972800" cy="3295650"/>
        </p:xfrm>
        <a:graphic>
          <a:graphicData uri="http://schemas.openxmlformats.org/drawingml/2006/table">
            <a:tbl>
              <a:tblPr/>
              <a:tblGrid>
                <a:gridCol w="1333500">
                  <a:extLst>
                    <a:ext uri="{9D8B030D-6E8A-4147-A177-3AD203B41FA5}">
                      <a16:colId xmlns:a16="http://schemas.microsoft.com/office/drawing/2014/main" val="20000"/>
                    </a:ext>
                  </a:extLst>
                </a:gridCol>
                <a:gridCol w="55245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438150">
                <a:tc>
                  <a:txBody>
                    <a:bodyPr/>
                    <a:lstStyle/>
                    <a:p>
                      <a:pPr algn="l">
                        <a:buNone/>
                      </a:pPr>
                      <a:r>
                        <a:rPr sz="1875" b="1">
                          <a:solidFill>
                            <a:srgbClr val="BACDB7"/>
                          </a:solidFill>
                          <a:latin typeface="Segoe UI"/>
                          <a:ea typeface="Segoe UI"/>
                          <a:cs typeface="Segoe UI"/>
                        </a:rPr>
                        <a:t>Profil</a:t>
                      </a:r>
                    </a:p>
                  </a:txBody>
                  <a:tcPr marL="114300" marR="95250" marT="0" marB="0" anchor="ctr">
                    <a:solidFill>
                      <a:srgbClr val="213B2E"/>
                    </a:solidFill>
                  </a:tcPr>
                </a:tc>
                <a:tc>
                  <a:txBody>
                    <a:bodyPr/>
                    <a:lstStyle/>
                    <a:p>
                      <a:pPr algn="l">
                        <a:buNone/>
                      </a:pPr>
                      <a:r>
                        <a:rPr sz="1875" b="1">
                          <a:solidFill>
                            <a:srgbClr val="BACDB7"/>
                          </a:solidFill>
                          <a:latin typeface="Segoe UI"/>
                          <a:ea typeface="Segoe UI"/>
                          <a:cs typeface="Segoe UI"/>
                        </a:rPr>
                        <a:t>Compétence à développer</a:t>
                      </a:r>
                    </a:p>
                  </a:txBody>
                  <a:tcPr marL="114300" marR="95250" marT="0" marB="0" anchor="ctr">
                    <a:solidFill>
                      <a:srgbClr val="213B2E"/>
                    </a:solidFill>
                  </a:tcPr>
                </a:tc>
                <a:tc>
                  <a:txBody>
                    <a:bodyPr/>
                    <a:lstStyle/>
                    <a:p>
                      <a:pPr algn="l">
                        <a:buNone/>
                      </a:pPr>
                      <a:r>
                        <a:rPr sz="1875" b="1">
                          <a:solidFill>
                            <a:srgbClr val="BACDB7"/>
                          </a:solidFill>
                          <a:latin typeface="Segoe UI"/>
                          <a:ea typeface="Segoe UI"/>
                          <a:cs typeface="Segoe UI"/>
                        </a:rPr>
                        <a:t>Accompagnement prévu</a:t>
                      </a:r>
                    </a:p>
                  </a:txBody>
                  <a:tcPr marL="114300" marR="95250" marT="0" marB="0" anchor="ctr">
                    <a:solidFill>
                      <a:srgbClr val="213B2E"/>
                    </a:solidFill>
                  </a:tcPr>
                </a:tc>
                <a:extLst>
                  <a:ext uri="{0D108BD9-81ED-4DB2-BD59-A6C34878D82A}">
                    <a16:rowId xmlns:a16="http://schemas.microsoft.com/office/drawing/2014/main" val="10000"/>
                  </a:ext>
                </a:extLst>
              </a:tr>
              <a:tr h="571500">
                <a:tc>
                  <a:txBody>
                    <a:bodyPr/>
                    <a:lstStyle/>
                    <a:p>
                      <a:pPr algn="l">
                        <a:buNone/>
                      </a:pPr>
                      <a:r>
                        <a:rPr sz="1875" b="0">
                          <a:solidFill>
                            <a:srgbClr val="F4F7F3"/>
                          </a:solidFill>
                          <a:latin typeface="Segoe UI"/>
                          <a:ea typeface="Segoe UI"/>
                          <a:cs typeface="Segoe UI"/>
                        </a:rPr>
                        <a:t>PO</a:t>
                      </a:r>
                    </a:p>
                  </a:txBody>
                  <a:tcPr marL="114300" marR="95250" marT="0" marB="0" anchor="ctr">
                    <a:solidFill>
                      <a:srgbClr val="1B2923"/>
                    </a:solidFill>
                  </a:tcPr>
                </a:tc>
                <a:tc>
                  <a:txBody>
                    <a:bodyPr/>
                    <a:lstStyle/>
                    <a:p>
                      <a:pPr algn="l">
                        <a:buNone/>
                      </a:pPr>
                      <a:r>
                        <a:rPr sz="1875" b="0">
                          <a:solidFill>
                            <a:srgbClr val="F4F7F3"/>
                          </a:solidFill>
                          <a:latin typeface="Segoe UI"/>
                          <a:ea typeface="Segoe UI"/>
                          <a:cs typeface="Segoe UI"/>
                        </a:rPr>
                        <a:t>Calculer le budget et expliquer les priorités</a:t>
                      </a:r>
                    </a:p>
                  </a:txBody>
                  <a:tcPr marL="114300" marR="95250" marT="0" marB="0" anchor="ctr">
                    <a:solidFill>
                      <a:srgbClr val="1B2923"/>
                    </a:solidFill>
                  </a:tcPr>
                </a:tc>
                <a:tc>
                  <a:txBody>
                    <a:bodyPr/>
                    <a:lstStyle/>
                    <a:p>
                      <a:pPr algn="l">
                        <a:buNone/>
                      </a:pPr>
                      <a:r>
                        <a:rPr sz="1875" b="0">
                          <a:solidFill>
                            <a:srgbClr val="F4F7F3"/>
                          </a:solidFill>
                          <a:latin typeface="Segoe UI"/>
                          <a:ea typeface="Segoe UI"/>
                          <a:cs typeface="Segoe UI"/>
                        </a:rPr>
                        <a:t>Atelier de 9 h</a:t>
                      </a:r>
                    </a:p>
                  </a:txBody>
                  <a:tcPr marL="114300" marR="95250" marT="0" marB="0" anchor="ctr">
                    <a:solidFill>
                      <a:srgbClr val="1B2923"/>
                    </a:solidFill>
                  </a:tcPr>
                </a:tc>
                <a:extLst>
                  <a:ext uri="{0D108BD9-81ED-4DB2-BD59-A6C34878D82A}">
                    <a16:rowId xmlns:a16="http://schemas.microsoft.com/office/drawing/2014/main" val="10001"/>
                  </a:ext>
                </a:extLst>
              </a:tr>
              <a:tr h="571500">
                <a:tc>
                  <a:txBody>
                    <a:bodyPr/>
                    <a:lstStyle/>
                    <a:p>
                      <a:pPr algn="l">
                        <a:buNone/>
                      </a:pPr>
                      <a:r>
                        <a:rPr sz="1875" b="0">
                          <a:solidFill>
                            <a:srgbClr val="F4F7F3"/>
                          </a:solidFill>
                          <a:latin typeface="Segoe UI"/>
                          <a:ea typeface="Segoe UI"/>
                          <a:cs typeface="Segoe UI"/>
                        </a:rPr>
                        <a:t>Kevin</a:t>
                      </a:r>
                    </a:p>
                  </a:txBody>
                  <a:tcPr marL="114300" marR="95250" marT="0" marB="0" anchor="ctr">
                    <a:solidFill>
                      <a:srgbClr val="1B2923"/>
                    </a:solidFill>
                  </a:tcPr>
                </a:tc>
                <a:tc>
                  <a:txBody>
                    <a:bodyPr/>
                    <a:lstStyle/>
                    <a:p>
                      <a:pPr algn="l">
                        <a:buNone/>
                      </a:pPr>
                      <a:r>
                        <a:rPr sz="1875" b="0">
                          <a:solidFill>
                            <a:srgbClr val="F4F7F3"/>
                          </a:solidFill>
                          <a:latin typeface="Segoe UI"/>
                          <a:ea typeface="Segoe UI"/>
                          <a:cs typeface="Segoe UI"/>
                        </a:rPr>
                        <a:t>Transmettre le projet à QA</a:t>
                      </a:r>
                    </a:p>
                  </a:txBody>
                  <a:tcPr marL="114300" marR="95250" marT="0" marB="0" anchor="ctr">
                    <a:solidFill>
                      <a:srgbClr val="1B2923"/>
                    </a:solidFill>
                  </a:tcPr>
                </a:tc>
                <a:tc>
                  <a:txBody>
                    <a:bodyPr/>
                    <a:lstStyle/>
                    <a:p>
                      <a:pPr algn="l">
                        <a:buNone/>
                      </a:pPr>
                      <a:r>
                        <a:rPr sz="1875" b="0">
                          <a:solidFill>
                            <a:srgbClr val="F4F7F3"/>
                          </a:solidFill>
                          <a:latin typeface="Segoe UI"/>
                          <a:ea typeface="Segoe UI"/>
                          <a:cs typeface="Segoe UI"/>
                        </a:rPr>
                        <a:t>Guide et exercice,</a:t>
                      </a:r>
                    </a:p>
                    <a:p>
                      <a:pPr algn="l">
                        <a:buNone/>
                      </a:pPr>
                      <a:r>
                        <a:rPr sz="1875" b="0">
                          <a:solidFill>
                            <a:srgbClr val="F4F7F3"/>
                          </a:solidFill>
                          <a:latin typeface="Segoe UI"/>
                          <a:ea typeface="Segoe UI"/>
                          <a:cs typeface="Segoe UI"/>
                        </a:rPr>
                        <a:t>1 jour chacun</a:t>
                      </a:r>
                    </a:p>
                  </a:txBody>
                  <a:tcPr marL="114300" marR="95250" marT="0" marB="0" anchor="ctr">
                    <a:solidFill>
                      <a:srgbClr val="1B2923"/>
                    </a:solidFill>
                  </a:tcPr>
                </a:tc>
                <a:extLst>
                  <a:ext uri="{0D108BD9-81ED-4DB2-BD59-A6C34878D82A}">
                    <a16:rowId xmlns:a16="http://schemas.microsoft.com/office/drawing/2014/main" val="10002"/>
                  </a:ext>
                </a:extLst>
              </a:tr>
              <a:tr h="571500">
                <a:tc>
                  <a:txBody>
                    <a:bodyPr/>
                    <a:lstStyle/>
                    <a:p>
                      <a:pPr algn="l">
                        <a:buNone/>
                      </a:pPr>
                      <a:r>
                        <a:rPr sz="1875" b="0">
                          <a:solidFill>
                            <a:srgbClr val="F4F7F3"/>
                          </a:solidFill>
                          <a:latin typeface="Segoe UI"/>
                          <a:ea typeface="Segoe UI"/>
                          <a:cs typeface="Segoe UI"/>
                        </a:rPr>
                        <a:t>QA</a:t>
                      </a:r>
                    </a:p>
                  </a:txBody>
                  <a:tcPr marL="114300" marR="95250" marT="0" marB="0" anchor="ctr">
                    <a:solidFill>
                      <a:srgbClr val="1B2923"/>
                    </a:solidFill>
                  </a:tcPr>
                </a:tc>
                <a:tc>
                  <a:txBody>
                    <a:bodyPr/>
                    <a:lstStyle/>
                    <a:p>
                      <a:pPr algn="l">
                        <a:buNone/>
                      </a:pPr>
                      <a:r>
                        <a:rPr sz="1875" b="0">
                          <a:solidFill>
                            <a:srgbClr val="F4F7F3"/>
                          </a:solidFill>
                          <a:latin typeface="Segoe UI"/>
                          <a:ea typeface="Segoe UI"/>
                          <a:cs typeface="Segoe UI"/>
                        </a:rPr>
                        <a:t>Préparer les tests et vérifier une correction</a:t>
                      </a:r>
                    </a:p>
                  </a:txBody>
                  <a:tcPr marL="114300" marR="95250" marT="0" marB="0" anchor="ctr">
                    <a:solidFill>
                      <a:srgbClr val="1B2923"/>
                    </a:solidFill>
                  </a:tcPr>
                </a:tc>
                <a:tc>
                  <a:txBody>
                    <a:bodyPr/>
                    <a:lstStyle/>
                    <a:p>
                      <a:pPr algn="l">
                        <a:buNone/>
                      </a:pPr>
                      <a:r>
                        <a:rPr sz="1875" b="0">
                          <a:solidFill>
                            <a:srgbClr val="F4F7F3"/>
                          </a:solidFill>
                          <a:latin typeface="Segoe UI"/>
                          <a:ea typeface="Segoe UI"/>
                          <a:cs typeface="Segoe UI"/>
                        </a:rPr>
                        <a:t>Atelier de 7 h</a:t>
                      </a:r>
                    </a:p>
                  </a:txBody>
                  <a:tcPr marL="114300" marR="95250" marT="0" marB="0" anchor="ctr">
                    <a:solidFill>
                      <a:srgbClr val="1B2923"/>
                    </a:solidFill>
                  </a:tcPr>
                </a:tc>
                <a:extLst>
                  <a:ext uri="{0D108BD9-81ED-4DB2-BD59-A6C34878D82A}">
                    <a16:rowId xmlns:a16="http://schemas.microsoft.com/office/drawing/2014/main" val="10003"/>
                  </a:ext>
                </a:extLst>
              </a:tr>
              <a:tr h="571500">
                <a:tc>
                  <a:txBody>
                    <a:bodyPr/>
                    <a:lstStyle/>
                    <a:p>
                      <a:pPr algn="l">
                        <a:buNone/>
                      </a:pPr>
                      <a:r>
                        <a:rPr sz="1875" b="0">
                          <a:solidFill>
                            <a:srgbClr val="F4F7F3"/>
                          </a:solidFill>
                          <a:latin typeface="Segoe UI"/>
                          <a:ea typeface="Segoe UI"/>
                          <a:cs typeface="Segoe UI"/>
                        </a:rPr>
                        <a:t>Sécurité</a:t>
                      </a:r>
                    </a:p>
                  </a:txBody>
                  <a:tcPr marL="114300" marR="95250" marT="0" marB="0" anchor="ctr">
                    <a:solidFill>
                      <a:srgbClr val="1B2923"/>
                    </a:solidFill>
                  </a:tcPr>
                </a:tc>
                <a:tc>
                  <a:txBody>
                    <a:bodyPr/>
                    <a:lstStyle/>
                    <a:p>
                      <a:pPr algn="l">
                        <a:buNone/>
                      </a:pPr>
                      <a:r>
                        <a:rPr sz="1875" b="0">
                          <a:solidFill>
                            <a:srgbClr val="F4F7F3"/>
                          </a:solidFill>
                          <a:latin typeface="Segoe UI"/>
                          <a:ea typeface="Segoe UI"/>
                          <a:cs typeface="Segoe UI"/>
                        </a:rPr>
                        <a:t>Contrôler les accès et justifier son avis</a:t>
                      </a:r>
                    </a:p>
                  </a:txBody>
                  <a:tcPr marL="114300" marR="95250" marT="0" marB="0" anchor="ctr">
                    <a:solidFill>
                      <a:srgbClr val="1B2923"/>
                    </a:solidFill>
                  </a:tcPr>
                </a:tc>
                <a:tc>
                  <a:txBody>
                    <a:bodyPr/>
                    <a:lstStyle/>
                    <a:p>
                      <a:pPr algn="l">
                        <a:buNone/>
                      </a:pPr>
                      <a:r>
                        <a:rPr sz="1875" b="0">
                          <a:solidFill>
                            <a:srgbClr val="F4F7F3"/>
                          </a:solidFill>
                          <a:latin typeface="Segoe UI"/>
                          <a:ea typeface="Segoe UI"/>
                          <a:cs typeface="Segoe UI"/>
                        </a:rPr>
                        <a:t>Revue accompagnée</a:t>
                      </a:r>
                    </a:p>
                    <a:p>
                      <a:pPr algn="l">
                        <a:buNone/>
                      </a:pPr>
                      <a:r>
                        <a:rPr sz="1875" b="0">
                          <a:solidFill>
                            <a:srgbClr val="F4F7F3"/>
                          </a:solidFill>
                          <a:latin typeface="Segoe UI"/>
                          <a:ea typeface="Segoe UI"/>
                          <a:cs typeface="Segoe UI"/>
                        </a:rPr>
                        <a:t>de 3 h 30</a:t>
                      </a:r>
                    </a:p>
                  </a:txBody>
                  <a:tcPr marL="114300" marR="95250" marT="0" marB="0" anchor="ctr">
                    <a:solidFill>
                      <a:srgbClr val="1B2923"/>
                    </a:solidFill>
                  </a:tcPr>
                </a:tc>
                <a:extLst>
                  <a:ext uri="{0D108BD9-81ED-4DB2-BD59-A6C34878D82A}">
                    <a16:rowId xmlns:a16="http://schemas.microsoft.com/office/drawing/2014/main" val="10004"/>
                  </a:ext>
                </a:extLst>
              </a:tr>
              <a:tr h="571500">
                <a:tc>
                  <a:txBody>
                    <a:bodyPr/>
                    <a:lstStyle/>
                    <a:p>
                      <a:pPr algn="l">
                        <a:buNone/>
                      </a:pPr>
                      <a:r>
                        <a:rPr sz="1875" b="0">
                          <a:solidFill>
                            <a:srgbClr val="F4F7F3"/>
                          </a:solidFill>
                          <a:latin typeface="Segoe UI"/>
                          <a:ea typeface="Segoe UI"/>
                          <a:cs typeface="Segoe UI"/>
                        </a:rPr>
                        <a:t>Sport</a:t>
                      </a:r>
                    </a:p>
                  </a:txBody>
                  <a:tcPr marL="114300" marR="95250" marT="0" marB="0" anchor="ctr">
                    <a:solidFill>
                      <a:srgbClr val="1B2923"/>
                    </a:solidFill>
                  </a:tcPr>
                </a:tc>
                <a:tc>
                  <a:txBody>
                    <a:bodyPr/>
                    <a:lstStyle/>
                    <a:p>
                      <a:pPr algn="l">
                        <a:buNone/>
                      </a:pPr>
                      <a:r>
                        <a:rPr sz="1875" b="0">
                          <a:solidFill>
                            <a:srgbClr val="F4F7F3"/>
                          </a:solidFill>
                          <a:latin typeface="Segoe UI"/>
                          <a:ea typeface="Segoe UI"/>
                          <a:cs typeface="Segoe UI"/>
                        </a:rPr>
                        <a:t>Évaluer les séances générées</a:t>
                      </a:r>
                    </a:p>
                  </a:txBody>
                  <a:tcPr marL="114300" marR="95250" marT="0" marB="0" anchor="ctr">
                    <a:solidFill>
                      <a:srgbClr val="1B2923"/>
                    </a:solidFill>
                  </a:tcPr>
                </a:tc>
                <a:tc>
                  <a:txBody>
                    <a:bodyPr/>
                    <a:lstStyle/>
                    <a:p>
                      <a:pPr algn="l">
                        <a:buNone/>
                      </a:pPr>
                      <a:r>
                        <a:rPr sz="1875" b="0">
                          <a:solidFill>
                            <a:srgbClr val="F4F7F3"/>
                          </a:solidFill>
                          <a:latin typeface="Segoe UI"/>
                          <a:ea typeface="Segoe UI"/>
                          <a:cs typeface="Segoe UI"/>
                        </a:rPr>
                        <a:t>Grille commune,</a:t>
                      </a:r>
                    </a:p>
                    <a:p>
                      <a:pPr algn="l">
                        <a:buNone/>
                      </a:pPr>
                      <a:r>
                        <a:rPr sz="1875" b="0">
                          <a:solidFill>
                            <a:srgbClr val="F4F7F3"/>
                          </a:solidFill>
                          <a:latin typeface="Segoe UI"/>
                          <a:ea typeface="Segoe UI"/>
                          <a:cs typeface="Segoe UI"/>
                        </a:rPr>
                        <a:t>3 h 30</a:t>
                      </a:r>
                    </a:p>
                  </a:txBody>
                  <a:tcPr marL="114300" marR="95250" marT="0" marB="0" anchor="ctr">
                    <a:solidFill>
                      <a:srgbClr val="1B2923"/>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049267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B2923"/>
        </a:solidFill>
        <a:effectLst/>
      </p:bgPr>
    </p:bg>
    <p:spTree>
      <p:nvGrpSpPr>
        <p:cNvPr id="1" name=""/>
        <p:cNvGrpSpPr/>
        <p:nvPr/>
      </p:nvGrpSpPr>
      <p:grpSpPr>
        <a:xfrm>
          <a:off x="0" y="0"/>
          <a:ext cx="0" cy="0"/>
          <a:chOff x="0" y="0"/>
          <a:chExt cx="0" cy="0"/>
        </a:xfrm>
      </p:grpSpPr>
      <p:pic>
        <p:nvPicPr>
          <p:cNvPr id="41" name="Image 40"/>
          <p:cNvPicPr>
            <a:picLocks noChangeAspect="1"/>
          </p:cNvPicPr>
          <p:nvPr/>
        </p:nvPicPr>
        <p:blipFill>
          <a:blip r:embed="rId3"/>
          <a:srcRect t="27" b="27"/>
          <a:stretch>
            <a:fillRect/>
          </a:stretch>
        </p:blipFill>
        <p:spPr>
          <a:xfrm>
            <a:off x="0" y="0"/>
            <a:ext cx="12192000" cy="6858000"/>
          </a:xfrm>
          <a:prstGeom prst="rect">
            <a:avLst/>
          </a:prstGeom>
        </p:spPr>
      </p:pic>
      <p:sp>
        <p:nvSpPr>
          <p:cNvPr id="20" name="Rectangle 19">
            <a:extLst>
              <a:ext uri="{FF2B5EF4-FFF2-40B4-BE49-F238E27FC236}">
                <a16:creationId xmlns:a16="http://schemas.microsoft.com/office/drawing/2014/main" id="{B8645C7E-790D-449B-B65B-71C09CB0071A}"/>
              </a:ext>
            </a:extLst>
          </p:cNvPr>
          <p:cNvSpPr>
            <a:spLocks noGrp="1"/>
          </p:cNvSpPr>
          <p:nvPr/>
        </p:nvSpPr>
        <p:spPr>
          <a:xfrm>
            <a:off x="609600" y="6457950"/>
            <a:ext cx="8382000" cy="219075"/>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Alcide / Pilotage du projet</a:t>
            </a:r>
          </a:p>
        </p:txBody>
      </p:sp>
      <p:sp>
        <p:nvSpPr>
          <p:cNvPr id="29" name="Rectangle 28">
            <a:extLst>
              <a:ext uri="{FF2B5EF4-FFF2-40B4-BE49-F238E27FC236}">
                <a16:creationId xmlns:a16="http://schemas.microsoft.com/office/drawing/2014/main" id="{37204793-5B1E-437F-88AA-EB29B813456E}"/>
              </a:ext>
            </a:extLst>
          </p:cNvPr>
          <p:cNvSpPr>
            <a:spLocks noGrp="1"/>
          </p:cNvSpPr>
          <p:nvPr/>
        </p:nvSpPr>
        <p:spPr>
          <a:xfrm>
            <a:off x="609600" y="609600"/>
            <a:ext cx="10972800" cy="704850"/>
          </a:xfrm>
          <a:prstGeom prst="rect">
            <a:avLst/>
          </a:prstGeom>
          <a:noFill/>
          <a:ln w="0">
            <a:noFill/>
          </a:ln>
        </p:spPr>
        <p:txBody>
          <a:bodyPr wrap="square" lIns="0" tIns="0" rIns="0" bIns="0" anchor="t">
            <a:noAutofit/>
          </a:bodyPr>
          <a:lstStyle/>
          <a:p>
            <a:pPr algn="l">
              <a:buNone/>
              <a:defRPr sz="3450" b="1">
                <a:solidFill>
                  <a:srgbClr val="F4F7F3"/>
                </a:solidFill>
                <a:latin typeface="Segoe UI"/>
                <a:ea typeface="Segoe UI"/>
                <a:cs typeface="Segoe UI"/>
              </a:defRPr>
            </a:pPr>
            <a:r>
              <a:rPr sz="3450" b="1">
                <a:solidFill>
                  <a:srgbClr val="F4F7F3"/>
                </a:solidFill>
                <a:latin typeface="Segoe UI"/>
                <a:ea typeface="Segoe UI"/>
                <a:cs typeface="Segoe UI"/>
              </a:rPr>
              <a:t>Démonstration de l’application</a:t>
            </a:r>
          </a:p>
        </p:txBody>
      </p:sp>
      <p:sp>
        <p:nvSpPr>
          <p:cNvPr id="30" name="Rectangle 29">
            <a:extLst>
              <a:ext uri="{FF2B5EF4-FFF2-40B4-BE49-F238E27FC236}">
                <a16:creationId xmlns:a16="http://schemas.microsoft.com/office/drawing/2014/main" id="{A784E7F7-CCCD-4E78-AB43-E89A64CB2FB5}"/>
              </a:ext>
            </a:extLst>
          </p:cNvPr>
          <p:cNvSpPr>
            <a:spLocks noGrp="1"/>
          </p:cNvSpPr>
          <p:nvPr/>
        </p:nvSpPr>
        <p:spPr>
          <a:xfrm>
            <a:off x="609600" y="1438275"/>
            <a:ext cx="10972800" cy="457200"/>
          </a:xfrm>
          <a:prstGeom prst="rect">
            <a:avLst/>
          </a:prstGeom>
          <a:noFill/>
          <a:ln w="0">
            <a:noFill/>
          </a:ln>
        </p:spPr>
        <p:txBody>
          <a:bodyPr wrap="square" lIns="0" tIns="0" rIns="0" bIns="0" anchor="t">
            <a:noAutofit/>
          </a:bodyPr>
          <a:lstStyle/>
          <a:p>
            <a:pPr algn="l">
              <a:buNone/>
              <a:defRPr sz="1950" b="0">
                <a:solidFill>
                  <a:srgbClr val="C1D0C1"/>
                </a:solidFill>
                <a:latin typeface="Segoe UI"/>
                <a:ea typeface="Segoe UI"/>
                <a:cs typeface="Segoe UI"/>
              </a:defRPr>
            </a:pPr>
            <a:r>
              <a:rPr sz="1950" b="0">
                <a:solidFill>
                  <a:srgbClr val="C1D0C1"/>
                </a:solidFill>
                <a:latin typeface="Segoe UI"/>
                <a:ea typeface="Segoe UI"/>
                <a:cs typeface="Segoe UI"/>
              </a:rPr>
              <a:t>Préparer, retrouver et suivre la séance annoncée au départ</a:t>
            </a:r>
          </a:p>
        </p:txBody>
      </p:sp>
      <p:pic>
        <p:nvPicPr>
          <p:cNvPr id="45" name="Image 44"/>
          <p:cNvPicPr>
            <a:picLocks noChangeAspect="1"/>
          </p:cNvPicPr>
          <p:nvPr/>
        </p:nvPicPr>
        <p:blipFill>
          <a:blip r:embed="rId4"/>
          <a:srcRect l="16589" t="9470" r="21735" b="10985"/>
          <a:stretch/>
        </p:blipFill>
        <p:spPr>
          <a:xfrm>
            <a:off x="609600" y="2009775"/>
            <a:ext cx="6715125" cy="3886200"/>
          </a:xfrm>
          <a:prstGeom prst="rect">
            <a:avLst/>
          </a:prstGeom>
        </p:spPr>
      </p:pic>
      <p:sp>
        <p:nvSpPr>
          <p:cNvPr id="32" name="Rectangle 31">
            <a:extLst>
              <a:ext uri="{FF2B5EF4-FFF2-40B4-BE49-F238E27FC236}">
                <a16:creationId xmlns:a16="http://schemas.microsoft.com/office/drawing/2014/main" id="{A647E77C-7351-4C92-93BE-22E900F7721F}"/>
              </a:ext>
            </a:extLst>
          </p:cNvPr>
          <p:cNvSpPr>
            <a:spLocks noGrp="1"/>
          </p:cNvSpPr>
          <p:nvPr/>
        </p:nvSpPr>
        <p:spPr>
          <a:xfrm>
            <a:off x="7800975" y="2038350"/>
            <a:ext cx="3781425" cy="352425"/>
          </a:xfrm>
          <a:prstGeom prst="rect">
            <a:avLst/>
          </a:prstGeom>
          <a:noFill/>
          <a:ln w="0">
            <a:noFill/>
          </a:ln>
        </p:spPr>
        <p:txBody>
          <a:bodyPr wrap="square" lIns="0" tIns="0" rIns="0" bIns="0" anchor="t">
            <a:noAutofit/>
          </a:bodyPr>
          <a:lstStyle/>
          <a:p>
            <a:pPr algn="l">
              <a:buNone/>
              <a:defRPr sz="2025" b="1">
                <a:solidFill>
                  <a:srgbClr val="BACDB7"/>
                </a:solidFill>
                <a:latin typeface="Segoe UI"/>
                <a:ea typeface="Segoe UI"/>
                <a:cs typeface="Segoe UI"/>
              </a:defRPr>
            </a:pPr>
            <a:r>
              <a:rPr sz="2025" b="1">
                <a:solidFill>
                  <a:srgbClr val="BACDB7"/>
                </a:solidFill>
                <a:latin typeface="Segoe UI"/>
                <a:ea typeface="Segoe UI"/>
                <a:cs typeface="Segoe UI"/>
              </a:rPr>
              <a:t>Déroulé prévu</a:t>
            </a:r>
          </a:p>
        </p:txBody>
      </p:sp>
      <p:sp>
        <p:nvSpPr>
          <p:cNvPr id="33" name="Rectangle 32">
            <a:extLst>
              <a:ext uri="{FF2B5EF4-FFF2-40B4-BE49-F238E27FC236}">
                <a16:creationId xmlns:a16="http://schemas.microsoft.com/office/drawing/2014/main" id="{440681F0-F1F6-40D5-B74F-1183F3AA626B}"/>
              </a:ext>
            </a:extLst>
          </p:cNvPr>
          <p:cNvSpPr>
            <a:spLocks noGrp="1"/>
          </p:cNvSpPr>
          <p:nvPr/>
        </p:nvSpPr>
        <p:spPr>
          <a:xfrm>
            <a:off x="7800975" y="2543175"/>
            <a:ext cx="3781425" cy="2667000"/>
          </a:xfrm>
          <a:prstGeom prst="rect">
            <a:avLst/>
          </a:prstGeom>
          <a:noFill/>
          <a:ln w="0">
            <a:noFill/>
          </a:ln>
        </p:spPr>
        <p:txBody>
          <a:bodyPr wrap="square" lIns="0" tIns="0" rIns="0" bIns="0" anchor="t">
            <a:noAutofit/>
          </a:bodyPr>
          <a:lstStyle/>
          <a:p>
            <a:pPr algn="l">
              <a:buNone/>
              <a:defRPr sz="1950" b="0">
                <a:solidFill>
                  <a:srgbClr val="F4F7F3"/>
                </a:solidFill>
                <a:latin typeface="Segoe UI"/>
                <a:ea typeface="Segoe UI"/>
                <a:cs typeface="Segoe UI"/>
              </a:defRPr>
            </a:pPr>
            <a:r>
              <a:rPr sz="1950" b="0">
                <a:solidFill>
                  <a:srgbClr val="F4F7F3"/>
                </a:solidFill>
                <a:latin typeface="Segoe UI"/>
                <a:ea typeface="Segoe UI"/>
                <a:cs typeface="Segoe UI"/>
              </a:rPr>
              <a:t>Connexion et critères</a:t>
            </a:r>
          </a:p>
          <a:p>
            <a:endParaRPr sz="1950" b="0">
              <a:solidFill>
                <a:srgbClr val="F4F7F3"/>
              </a:solidFill>
              <a:latin typeface="Segoe UI"/>
              <a:ea typeface="Segoe UI"/>
              <a:cs typeface="Segoe UI"/>
            </a:endParaRPr>
          </a:p>
          <a:p>
            <a:pPr algn="l">
              <a:buNone/>
              <a:defRPr sz="1950" b="0">
                <a:solidFill>
                  <a:srgbClr val="F4F7F3"/>
                </a:solidFill>
                <a:latin typeface="Segoe UI"/>
                <a:ea typeface="Segoe UI"/>
                <a:cs typeface="Segoe UI"/>
              </a:defRPr>
            </a:pPr>
            <a:r>
              <a:rPr sz="1950" b="0">
                <a:solidFill>
                  <a:srgbClr val="F4F7F3"/>
                </a:solidFill>
                <a:latin typeface="Segoe UI"/>
                <a:ea typeface="Segoe UI"/>
                <a:cs typeface="Segoe UI"/>
              </a:rPr>
              <a:t>Génération IA</a:t>
            </a:r>
          </a:p>
          <a:p>
            <a:endParaRPr sz="1950" b="0">
              <a:solidFill>
                <a:srgbClr val="F4F7F3"/>
              </a:solidFill>
              <a:latin typeface="Segoe UI"/>
              <a:ea typeface="Segoe UI"/>
              <a:cs typeface="Segoe UI"/>
            </a:endParaRPr>
          </a:p>
          <a:p>
            <a:pPr algn="l">
              <a:buNone/>
              <a:defRPr sz="1950" b="0">
                <a:solidFill>
                  <a:srgbClr val="F4F7F3"/>
                </a:solidFill>
                <a:latin typeface="Segoe UI"/>
                <a:ea typeface="Segoe UI"/>
                <a:cs typeface="Segoe UI"/>
              </a:defRPr>
            </a:pPr>
            <a:r>
              <a:rPr sz="1950" b="0">
                <a:solidFill>
                  <a:srgbClr val="F4F7F3"/>
                </a:solidFill>
                <a:latin typeface="Segoe UI"/>
                <a:ea typeface="Segoe UI"/>
                <a:cs typeface="Segoe UI"/>
              </a:rPr>
              <a:t>Enregistrement automatique</a:t>
            </a:r>
          </a:p>
          <a:p>
            <a:endParaRPr sz="1950" b="0">
              <a:solidFill>
                <a:srgbClr val="F4F7F3"/>
              </a:solidFill>
              <a:latin typeface="Segoe UI"/>
              <a:ea typeface="Segoe UI"/>
              <a:cs typeface="Segoe UI"/>
            </a:endParaRPr>
          </a:p>
          <a:p>
            <a:pPr algn="l">
              <a:buNone/>
              <a:defRPr sz="1950" b="0">
                <a:solidFill>
                  <a:srgbClr val="F4F7F3"/>
                </a:solidFill>
                <a:latin typeface="Segoe UI"/>
                <a:ea typeface="Segoe UI"/>
                <a:cs typeface="Segoe UI"/>
              </a:defRPr>
            </a:pPr>
            <a:r>
              <a:rPr sz="1950" b="0">
                <a:solidFill>
                  <a:srgbClr val="F4F7F3"/>
                </a:solidFill>
                <a:latin typeface="Segoe UI"/>
                <a:ea typeface="Segoe UI"/>
                <a:cs typeface="Segoe UI"/>
              </a:rPr>
              <a:t>Liste et réouverture</a:t>
            </a:r>
          </a:p>
        </p:txBody>
      </p:sp>
      <p:sp>
        <p:nvSpPr>
          <p:cNvPr id="34" name="Rectangle 33">
            <a:extLst>
              <a:ext uri="{FF2B5EF4-FFF2-40B4-BE49-F238E27FC236}">
                <a16:creationId xmlns:a16="http://schemas.microsoft.com/office/drawing/2014/main" id="{E82F3D94-AD90-43D1-BCD5-6EAEE8B96E9A}"/>
              </a:ext>
            </a:extLst>
          </p:cNvPr>
          <p:cNvSpPr>
            <a:spLocks noGrp="1"/>
          </p:cNvSpPr>
          <p:nvPr/>
        </p:nvSpPr>
        <p:spPr>
          <a:xfrm>
            <a:off x="7800975" y="5295900"/>
            <a:ext cx="3781425" cy="742950"/>
          </a:xfrm>
          <a:prstGeom prst="rect">
            <a:avLst/>
          </a:prstGeom>
          <a:noFill/>
          <a:ln w="0">
            <a:noFill/>
          </a:ln>
        </p:spPr>
        <p:txBody>
          <a:bodyPr wrap="square" lIns="0" tIns="0" rIns="0" bIns="0" anchor="t">
            <a:noAutofit/>
          </a:bodyPr>
          <a:lstStyle/>
          <a:p>
            <a:pPr algn="l">
              <a:buNone/>
              <a:defRPr sz="1950" b="1">
                <a:solidFill>
                  <a:srgbClr val="BACDB7"/>
                </a:solidFill>
                <a:latin typeface="Segoe UI"/>
                <a:ea typeface="Segoe UI"/>
                <a:cs typeface="Segoe UI"/>
              </a:defRPr>
            </a:pPr>
            <a:r>
              <a:rPr sz="1950" b="1">
                <a:solidFill>
                  <a:srgbClr val="BACDB7"/>
                </a:solidFill>
                <a:latin typeface="Segoe UI"/>
                <a:ea typeface="Segoe UI"/>
                <a:cs typeface="Segoe UI"/>
              </a:rPr>
              <a:t>Timer, retour et dashboard</a:t>
            </a:r>
          </a:p>
        </p:txBody>
      </p:sp>
      <p:sp>
        <p:nvSpPr>
          <p:cNvPr id="35" name="Rectangle 34">
            <a:extLst>
              <a:ext uri="{FF2B5EF4-FFF2-40B4-BE49-F238E27FC236}">
                <a16:creationId xmlns:a16="http://schemas.microsoft.com/office/drawing/2014/main" id="{88F26390-483B-477F-BEE0-4BE0602AFB3C}"/>
              </a:ext>
            </a:extLst>
          </p:cNvPr>
          <p:cNvSpPr>
            <a:spLocks noGrp="1"/>
          </p:cNvSpPr>
          <p:nvPr/>
        </p:nvSpPr>
        <p:spPr>
          <a:xfrm>
            <a:off x="609600" y="6010275"/>
            <a:ext cx="10972800" cy="295275"/>
          </a:xfrm>
          <a:prstGeom prst="rect">
            <a:avLst/>
          </a:prstGeom>
          <a:noFill/>
          <a:ln w="0">
            <a:noFill/>
          </a:ln>
        </p:spPr>
        <p:txBody>
          <a:bodyPr wrap="square" lIns="0" tIns="0" rIns="0" bIns="0" anchor="t">
            <a:noAutofit/>
          </a:bodyPr>
          <a:lstStyle/>
          <a:p>
            <a:pPr algn="l">
              <a:buNone/>
              <a:defRPr sz="1725" b="0">
                <a:solidFill>
                  <a:srgbClr val="C1D0C1"/>
                </a:solidFill>
                <a:latin typeface="Segoe UI"/>
                <a:ea typeface="Segoe UI"/>
                <a:cs typeface="Segoe UI"/>
              </a:defRPr>
            </a:pPr>
            <a:r>
              <a:rPr sz="1725" b="0">
                <a:solidFill>
                  <a:srgbClr val="C1D0C1"/>
                </a:solidFill>
                <a:latin typeface="Segoe UI"/>
                <a:ea typeface="Segoe UI"/>
                <a:cs typeface="Segoe UI"/>
              </a:rPr>
              <a:t>Formulaire en production, 13 septembre 2026</a:t>
            </a:r>
          </a:p>
        </p:txBody>
      </p:sp>
      <p:sp>
        <p:nvSpPr>
          <p:cNvPr id="38" name="Rectangle 37">
            <a:extLst>
              <a:ext uri="{FF2B5EF4-FFF2-40B4-BE49-F238E27FC236}">
                <a16:creationId xmlns:a16="http://schemas.microsoft.com/office/drawing/2014/main" id="{467960D1-15B4-438D-BFE4-526CA16BE822}"/>
              </a:ext>
            </a:extLst>
          </p:cNvPr>
          <p:cNvSpPr>
            <a:spLocks noGrp="1"/>
          </p:cNvSpPr>
          <p:nvPr/>
        </p:nvSpPr>
        <p:spPr>
          <a:xfrm>
            <a:off x="11049000" y="6438900"/>
            <a:ext cx="533400" cy="228600"/>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20</a:t>
            </a:r>
          </a:p>
        </p:txBody>
      </p:sp>
    </p:spTree>
    <p:extLst>
      <p:ext uri="{BB962C8B-B14F-4D97-AF65-F5344CB8AC3E}">
        <p14:creationId xmlns:p14="http://schemas.microsoft.com/office/powerpoint/2010/main" val="13839734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B2923"/>
        </a:solidFill>
        <a:effectLst/>
      </p:bgPr>
    </p:bg>
    <p:spTree>
      <p:nvGrpSpPr>
        <p:cNvPr id="1" name=""/>
        <p:cNvGrpSpPr/>
        <p:nvPr/>
      </p:nvGrpSpPr>
      <p:grpSpPr>
        <a:xfrm>
          <a:off x="0" y="0"/>
          <a:ext cx="0" cy="0"/>
          <a:chOff x="0" y="0"/>
          <a:chExt cx="0" cy="0"/>
        </a:xfrm>
      </p:grpSpPr>
      <p:pic>
        <p:nvPicPr>
          <p:cNvPr id="58" name="Image 57"/>
          <p:cNvPicPr>
            <a:picLocks noChangeAspect="1"/>
          </p:cNvPicPr>
          <p:nvPr/>
        </p:nvPicPr>
        <p:blipFill>
          <a:blip r:embed="rId3"/>
          <a:srcRect t="27" b="27"/>
          <a:stretch>
            <a:fillRect/>
          </a:stretch>
        </p:blipFill>
        <p:spPr>
          <a:xfrm>
            <a:off x="0" y="0"/>
            <a:ext cx="12192000" cy="6858000"/>
          </a:xfrm>
          <a:prstGeom prst="rect">
            <a:avLst/>
          </a:prstGeom>
        </p:spPr>
      </p:pic>
      <p:sp>
        <p:nvSpPr>
          <p:cNvPr id="50" name="Rectangle 49">
            <a:extLst>
              <a:ext uri="{FF2B5EF4-FFF2-40B4-BE49-F238E27FC236}">
                <a16:creationId xmlns:a16="http://schemas.microsoft.com/office/drawing/2014/main" id="{16738E91-C73D-4EE2-A3B5-F9485D09FCA3}"/>
              </a:ext>
            </a:extLst>
          </p:cNvPr>
          <p:cNvSpPr>
            <a:spLocks noGrp="1"/>
          </p:cNvSpPr>
          <p:nvPr/>
        </p:nvSpPr>
        <p:spPr>
          <a:xfrm>
            <a:off x="609600" y="609600"/>
            <a:ext cx="10972800" cy="704850"/>
          </a:xfrm>
          <a:prstGeom prst="rect">
            <a:avLst/>
          </a:prstGeom>
          <a:noFill/>
          <a:ln w="0">
            <a:noFill/>
          </a:ln>
        </p:spPr>
        <p:txBody>
          <a:bodyPr wrap="square" lIns="0" tIns="0" rIns="0" bIns="0" anchor="t">
            <a:noAutofit/>
          </a:bodyPr>
          <a:lstStyle/>
          <a:p>
            <a:pPr algn="l">
              <a:buNone/>
              <a:defRPr sz="3450" b="1">
                <a:solidFill>
                  <a:srgbClr val="F4F7F3"/>
                </a:solidFill>
                <a:latin typeface="Segoe UI"/>
                <a:ea typeface="Segoe UI"/>
                <a:cs typeface="Segoe UI"/>
              </a:defRPr>
            </a:pPr>
            <a:r>
              <a:rPr sz="3450" b="1">
                <a:solidFill>
                  <a:srgbClr val="F4F7F3"/>
                </a:solidFill>
                <a:latin typeface="Segoe UI"/>
                <a:ea typeface="Segoe UI"/>
                <a:cs typeface="Segoe UI"/>
              </a:rPr>
              <a:t>L’état du projet au 14 septembre</a:t>
            </a:r>
          </a:p>
        </p:txBody>
      </p:sp>
      <p:graphicFrame>
        <p:nvGraphicFramePr>
          <p:cNvPr id="61" name="Tableau 60"/>
          <p:cNvGraphicFramePr/>
          <p:nvPr/>
        </p:nvGraphicFramePr>
        <p:xfrm>
          <a:off x="609600" y="1676400"/>
          <a:ext cx="10972800" cy="4114800"/>
        </p:xfrm>
        <a:graphic>
          <a:graphicData uri="http://schemas.openxmlformats.org/drawingml/2006/table">
            <a:tbl>
              <a:tblPr/>
              <a:tblGrid>
                <a:gridCol w="2286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495300">
                <a:tc>
                  <a:txBody>
                    <a:bodyPr/>
                    <a:lstStyle/>
                    <a:p>
                      <a:pPr algn="l"/>
                      <a:r>
                        <a:rPr sz="1875" b="1">
                          <a:solidFill>
                            <a:srgbClr val="BACDB7"/>
                          </a:solidFill>
                          <a:latin typeface="Segoe UI"/>
                          <a:ea typeface="Segoe UI"/>
                          <a:cs typeface="Segoe UI"/>
                        </a:rPr>
                        <a:t>Suivi</a:t>
                      </a:r>
                    </a:p>
                  </a:txBody>
                  <a:tcPr marL="114300" marR="95250" marT="0" marB="0" anchor="ctr">
                    <a:solidFill>
                      <a:srgbClr val="213B2E"/>
                    </a:solidFill>
                  </a:tcPr>
                </a:tc>
                <a:tc>
                  <a:txBody>
                    <a:bodyPr/>
                    <a:lstStyle/>
                    <a:p>
                      <a:pPr algn="l"/>
                      <a:r>
                        <a:rPr sz="1875" b="1">
                          <a:solidFill>
                            <a:srgbClr val="BACDB7"/>
                          </a:solidFill>
                          <a:latin typeface="Segoe UI"/>
                          <a:ea typeface="Segoe UI"/>
                          <a:cs typeface="Segoe UI"/>
                        </a:rPr>
                        <a:t>Situation au 14 septembre</a:t>
                      </a:r>
                    </a:p>
                  </a:txBody>
                  <a:tcPr marL="114300" marR="95250" marT="0" marB="0" anchor="ctr">
                    <a:solidFill>
                      <a:srgbClr val="213B2E"/>
                    </a:solidFill>
                  </a:tcPr>
                </a:tc>
                <a:tc>
                  <a:txBody>
                    <a:bodyPr/>
                    <a:lstStyle/>
                    <a:p>
                      <a:pPr algn="l"/>
                      <a:r>
                        <a:rPr sz="1875" b="1">
                          <a:solidFill>
                            <a:srgbClr val="BACDB7"/>
                          </a:solidFill>
                          <a:latin typeface="Segoe UI"/>
                          <a:ea typeface="Segoe UI"/>
                          <a:cs typeface="Segoe UI"/>
                        </a:rPr>
                        <a:t>Suite proposée</a:t>
                      </a:r>
                    </a:p>
                  </a:txBody>
                  <a:tcPr marL="114300" marR="95250" marT="0" marB="0" anchor="ctr">
                    <a:solidFill>
                      <a:srgbClr val="213B2E"/>
                    </a:solidFill>
                  </a:tcPr>
                </a:tc>
                <a:extLst>
                  <a:ext uri="{0D108BD9-81ED-4DB2-BD59-A6C34878D82A}">
                    <a16:rowId xmlns:a16="http://schemas.microsoft.com/office/drawing/2014/main" val="10000"/>
                  </a:ext>
                </a:extLst>
              </a:tr>
              <a:tr h="723900">
                <a:tc>
                  <a:txBody>
                    <a:bodyPr/>
                    <a:lstStyle/>
                    <a:p>
                      <a:pPr algn="l"/>
                      <a:r>
                        <a:rPr sz="1875" b="0">
                          <a:solidFill>
                            <a:srgbClr val="F4F7F3"/>
                          </a:solidFill>
                          <a:latin typeface="Segoe UI"/>
                          <a:ea typeface="Segoe UI"/>
                          <a:cs typeface="Segoe UI"/>
                        </a:rPr>
                        <a:t>Avancement et qualité</a:t>
                      </a:r>
                    </a:p>
                  </a:txBody>
                  <a:tcPr marL="114300" marR="95250" marT="0" marB="0" anchor="ctr">
                    <a:solidFill>
                      <a:srgbClr val="1B2923"/>
                    </a:solidFill>
                  </a:tcPr>
                </a:tc>
                <a:tc>
                  <a:txBody>
                    <a:bodyPr/>
                    <a:lstStyle/>
                    <a:p>
                      <a:pPr algn="l"/>
                      <a:r>
                        <a:rPr sz="1875" b="0">
                          <a:solidFill>
                            <a:srgbClr val="F4F7F3"/>
                          </a:solidFill>
                          <a:latin typeface="Segoe UI"/>
                          <a:ea typeface="Segoe UI"/>
                          <a:cs typeface="Segoe UI"/>
                        </a:rPr>
                        <a:t>16 cartes terminées ; parcours testé le 14/09</a:t>
                      </a:r>
                    </a:p>
                  </a:txBody>
                  <a:tcPr marL="114300" marR="95250" marT="0" marB="0" anchor="ctr">
                    <a:solidFill>
                      <a:srgbClr val="1B2923"/>
                    </a:solidFill>
                  </a:tcPr>
                </a:tc>
                <a:tc>
                  <a:txBody>
                    <a:bodyPr/>
                    <a:lstStyle/>
                    <a:p>
                      <a:pPr algn="l"/>
                      <a:r>
                        <a:rPr sz="1875" b="0">
                          <a:solidFill>
                            <a:srgbClr val="F4F7F3"/>
                          </a:solidFill>
                          <a:latin typeface="Segoe UI"/>
                          <a:ea typeface="Segoe UI"/>
                          <a:cs typeface="Segoe UI"/>
                        </a:rPr>
                        <a:t>Obtenir les avis QA, sécurité et sport</a:t>
                      </a:r>
                    </a:p>
                  </a:txBody>
                  <a:tcPr marL="114300" marR="95250" marT="0" marB="0" anchor="ctr">
                    <a:solidFill>
                      <a:srgbClr val="1B2923"/>
                    </a:solidFill>
                  </a:tcPr>
                </a:tc>
                <a:extLst>
                  <a:ext uri="{0D108BD9-81ED-4DB2-BD59-A6C34878D82A}">
                    <a16:rowId xmlns:a16="http://schemas.microsoft.com/office/drawing/2014/main" val="10001"/>
                  </a:ext>
                </a:extLst>
              </a:tr>
              <a:tr h="723900">
                <a:tc>
                  <a:txBody>
                    <a:bodyPr/>
                    <a:lstStyle/>
                    <a:p>
                      <a:pPr algn="l"/>
                      <a:r>
                        <a:rPr sz="1875" b="0">
                          <a:solidFill>
                            <a:srgbClr val="F4F7F3"/>
                          </a:solidFill>
                          <a:latin typeface="Segoe UI"/>
                          <a:ea typeface="Segoe UI"/>
                          <a:cs typeface="Segoe UI"/>
                        </a:rPr>
                        <a:t>Délais</a:t>
                      </a:r>
                    </a:p>
                  </a:txBody>
                  <a:tcPr marL="114300" marR="95250" marT="0" marB="0" anchor="ctr">
                    <a:solidFill>
                      <a:srgbClr val="1B2923"/>
                    </a:solidFill>
                  </a:tcPr>
                </a:tc>
                <a:tc>
                  <a:txBody>
                    <a:bodyPr/>
                    <a:lstStyle/>
                    <a:p>
                      <a:pPr algn="l"/>
                      <a:r>
                        <a:rPr sz="1875" b="0">
                          <a:solidFill>
                            <a:srgbClr val="F4F7F3"/>
                          </a:solidFill>
                          <a:latin typeface="Segoe UI"/>
                          <a:ea typeface="Segoe UI"/>
                          <a:cs typeface="Segoe UI"/>
                        </a:rPr>
                        <a:t>Jalon initial : 10/08 ; acceptation non confirmée, écart à établir</a:t>
                      </a:r>
                    </a:p>
                  </a:txBody>
                  <a:tcPr marL="114300" marR="95250" marT="0" marB="0" anchor="ctr">
                    <a:solidFill>
                      <a:srgbClr val="1B2923"/>
                    </a:solidFill>
                  </a:tcPr>
                </a:tc>
                <a:tc>
                  <a:txBody>
                    <a:bodyPr/>
                    <a:lstStyle/>
                    <a:p>
                      <a:pPr algn="l"/>
                      <a:r>
                        <a:rPr sz="1875" b="0">
                          <a:solidFill>
                            <a:srgbClr val="F4F7F3"/>
                          </a:solidFill>
                          <a:latin typeface="Segoe UI"/>
                          <a:ea typeface="Segoe UI"/>
                          <a:cs typeface="Segoe UI"/>
                        </a:rPr>
                        <a:t>Décision du commanditaire proposée le 18/09</a:t>
                      </a:r>
                    </a:p>
                  </a:txBody>
                  <a:tcPr marL="114300" marR="95250" marT="0" marB="0" anchor="ctr">
                    <a:solidFill>
                      <a:srgbClr val="1B2923"/>
                    </a:solidFill>
                  </a:tcPr>
                </a:tc>
                <a:extLst>
                  <a:ext uri="{0D108BD9-81ED-4DB2-BD59-A6C34878D82A}">
                    <a16:rowId xmlns:a16="http://schemas.microsoft.com/office/drawing/2014/main" val="10002"/>
                  </a:ext>
                </a:extLst>
              </a:tr>
              <a:tr h="723900">
                <a:tc>
                  <a:txBody>
                    <a:bodyPr/>
                    <a:lstStyle/>
                    <a:p>
                      <a:pPr algn="l"/>
                      <a:r>
                        <a:rPr sz="1875" b="0">
                          <a:solidFill>
                            <a:srgbClr val="F4F7F3"/>
                          </a:solidFill>
                          <a:latin typeface="Segoe UI"/>
                          <a:ea typeface="Segoe UI"/>
                          <a:cs typeface="Segoe UI"/>
                        </a:rPr>
                        <a:t>Budget</a:t>
                      </a:r>
                    </a:p>
                  </a:txBody>
                  <a:tcPr marL="114300" marR="95250" marT="0" marB="0" anchor="ctr">
                    <a:solidFill>
                      <a:srgbClr val="1B2923"/>
                    </a:solidFill>
                  </a:tcPr>
                </a:tc>
                <a:tc>
                  <a:txBody>
                    <a:bodyPr/>
                    <a:lstStyle/>
                    <a:p>
                      <a:pPr algn="l"/>
                      <a:r>
                        <a:rPr sz="1875" b="0">
                          <a:solidFill>
                            <a:srgbClr val="F4F7F3"/>
                          </a:solidFill>
                          <a:latin typeface="Segoe UI"/>
                          <a:ea typeface="Segoe UI"/>
                          <a:cs typeface="Segoe UI"/>
                        </a:rPr>
                        <a:t>42 818 € HT prévus ; consommé réel à établir</a:t>
                      </a:r>
                    </a:p>
                  </a:txBody>
                  <a:tcPr marL="114300" marR="95250" marT="0" marB="0" anchor="ctr">
                    <a:solidFill>
                      <a:srgbClr val="1B2923"/>
                    </a:solidFill>
                  </a:tcPr>
                </a:tc>
                <a:tc>
                  <a:txBody>
                    <a:bodyPr/>
                    <a:lstStyle/>
                    <a:p>
                      <a:pPr algn="l"/>
                      <a:r>
                        <a:rPr sz="1875" b="0">
                          <a:solidFill>
                            <a:srgbClr val="F4F7F3"/>
                          </a:solidFill>
                          <a:latin typeface="Segoe UI"/>
                          <a:ea typeface="Segoe UI"/>
                          <a:cs typeface="Segoe UI"/>
                        </a:rPr>
                        <a:t>PO : rapprocher les temps et justificatifs</a:t>
                      </a:r>
                    </a:p>
                  </a:txBody>
                  <a:tcPr marL="114300" marR="95250" marT="0" marB="0" anchor="ctr">
                    <a:solidFill>
                      <a:srgbClr val="1B2923"/>
                    </a:solidFill>
                  </a:tcPr>
                </a:tc>
                <a:extLst>
                  <a:ext uri="{0D108BD9-81ED-4DB2-BD59-A6C34878D82A}">
                    <a16:rowId xmlns:a16="http://schemas.microsoft.com/office/drawing/2014/main" val="10003"/>
                  </a:ext>
                </a:extLst>
              </a:tr>
              <a:tr h="723900">
                <a:tc>
                  <a:txBody>
                    <a:bodyPr/>
                    <a:lstStyle/>
                    <a:p>
                      <a:pPr algn="l"/>
                      <a:r>
                        <a:rPr sz="1875" b="0">
                          <a:solidFill>
                            <a:srgbClr val="F4F7F3"/>
                          </a:solidFill>
                          <a:latin typeface="Segoe UI"/>
                          <a:ea typeface="Segoe UI"/>
                          <a:cs typeface="Segoe UI"/>
                        </a:rPr>
                        <a:t>Risques</a:t>
                      </a:r>
                    </a:p>
                  </a:txBody>
                  <a:tcPr marL="114300" marR="95250" marT="0" marB="0" anchor="ctr">
                    <a:solidFill>
                      <a:srgbClr val="1B2923"/>
                    </a:solidFill>
                  </a:tcPr>
                </a:tc>
                <a:tc>
                  <a:txBody>
                    <a:bodyPr/>
                    <a:lstStyle/>
                    <a:p>
                      <a:pPr algn="l"/>
                      <a:r>
                        <a:rPr sz="1875" b="0">
                          <a:solidFill>
                            <a:srgbClr val="F4F7F3"/>
                          </a:solidFill>
                          <a:latin typeface="Segoe UI"/>
                          <a:ea typeface="Segoe UI"/>
                          <a:cs typeface="Segoe UI"/>
                        </a:rPr>
                        <a:t>Accès et coût fournisseur IA à confirmer</a:t>
                      </a:r>
                    </a:p>
                  </a:txBody>
                  <a:tcPr marL="114300" marR="95250" marT="0" marB="0" anchor="ctr">
                    <a:solidFill>
                      <a:srgbClr val="1B2923"/>
                    </a:solidFill>
                  </a:tcPr>
                </a:tc>
                <a:tc>
                  <a:txBody>
                    <a:bodyPr/>
                    <a:lstStyle/>
                    <a:p>
                      <a:pPr algn="l"/>
                      <a:r>
                        <a:rPr sz="1875" b="0">
                          <a:solidFill>
                            <a:srgbClr val="F4F7F3"/>
                          </a:solidFill>
                          <a:latin typeface="Segoe UI"/>
                          <a:ea typeface="Segoe UI"/>
                          <a:cs typeface="Segoe UI"/>
                        </a:rPr>
                        <a:t>Sécurité et PO : compléter les contrôles</a:t>
                      </a:r>
                    </a:p>
                  </a:txBody>
                  <a:tcPr marL="114300" marR="95250" marT="0" marB="0" anchor="ctr">
                    <a:solidFill>
                      <a:srgbClr val="1B2923"/>
                    </a:solidFill>
                  </a:tcPr>
                </a:tc>
                <a:extLst>
                  <a:ext uri="{0D108BD9-81ED-4DB2-BD59-A6C34878D82A}">
                    <a16:rowId xmlns:a16="http://schemas.microsoft.com/office/drawing/2014/main" val="10004"/>
                  </a:ext>
                </a:extLst>
              </a:tr>
              <a:tr h="723900">
                <a:tc>
                  <a:txBody>
                    <a:bodyPr/>
                    <a:lstStyle/>
                    <a:p>
                      <a:pPr algn="l"/>
                      <a:r>
                        <a:rPr sz="1875" b="0">
                          <a:solidFill>
                            <a:srgbClr val="F4F7F3"/>
                          </a:solidFill>
                          <a:latin typeface="Segoe UI"/>
                          <a:ea typeface="Segoe UI"/>
                          <a:cs typeface="Segoe UI"/>
                        </a:rPr>
                        <a:t>Équipe</a:t>
                      </a:r>
                    </a:p>
                  </a:txBody>
                  <a:tcPr marL="114300" marR="95250" marT="0" marB="0" anchor="ctr">
                    <a:solidFill>
                      <a:srgbClr val="1B2923"/>
                    </a:solidFill>
                  </a:tcPr>
                </a:tc>
                <a:tc>
                  <a:txBody>
                    <a:bodyPr/>
                    <a:lstStyle/>
                    <a:p>
                      <a:pPr algn="l"/>
                      <a:r>
                        <a:rPr sz="1875" b="0">
                          <a:solidFill>
                            <a:srgbClr val="F4F7F3"/>
                          </a:solidFill>
                          <a:latin typeface="Segoe UI"/>
                          <a:ea typeface="Segoe UI"/>
                          <a:cs typeface="Segoe UI"/>
                        </a:rPr>
                        <a:t>5,25 jours-homme restants estimés, inclus dans les 81</a:t>
                      </a:r>
                    </a:p>
                  </a:txBody>
                  <a:tcPr marL="114300" marR="95250" marT="0" marB="0" anchor="ctr">
                    <a:solidFill>
                      <a:srgbClr val="1B2923"/>
                    </a:solidFill>
                  </a:tcPr>
                </a:tc>
                <a:tc>
                  <a:txBody>
                    <a:bodyPr/>
                    <a:lstStyle/>
                    <a:p>
                      <a:pPr algn="l"/>
                      <a:r>
                        <a:rPr sz="1875" b="0">
                          <a:solidFill>
                            <a:srgbClr val="F4F7F3"/>
                          </a:solidFill>
                          <a:latin typeface="Segoe UI"/>
                          <a:ea typeface="Segoe UI"/>
                          <a:cs typeface="Segoe UI"/>
                        </a:rPr>
                        <a:t>PO : réserver les créneaux du suivi</a:t>
                      </a:r>
                    </a:p>
                  </a:txBody>
                  <a:tcPr marL="114300" marR="95250" marT="0" marB="0" anchor="ctr">
                    <a:solidFill>
                      <a:srgbClr val="1B2923"/>
                    </a:solidFill>
                  </a:tcPr>
                </a:tc>
                <a:extLst>
                  <a:ext uri="{0D108BD9-81ED-4DB2-BD59-A6C34878D82A}">
                    <a16:rowId xmlns:a16="http://schemas.microsoft.com/office/drawing/2014/main" val="10005"/>
                  </a:ext>
                </a:extLst>
              </a:tr>
            </a:tbl>
          </a:graphicData>
        </a:graphic>
      </p:graphicFrame>
      <p:sp>
        <p:nvSpPr>
          <p:cNvPr id="53" name="Rectangle 52">
            <a:extLst>
              <a:ext uri="{FF2B5EF4-FFF2-40B4-BE49-F238E27FC236}">
                <a16:creationId xmlns:a16="http://schemas.microsoft.com/office/drawing/2014/main" id="{07B8495E-164D-4AEB-AC69-D2960B754A04}"/>
              </a:ext>
            </a:extLst>
          </p:cNvPr>
          <p:cNvSpPr>
            <a:spLocks noGrp="1"/>
          </p:cNvSpPr>
          <p:nvPr/>
        </p:nvSpPr>
        <p:spPr>
          <a:xfrm>
            <a:off x="609600" y="5953125"/>
            <a:ext cx="10972800" cy="361950"/>
          </a:xfrm>
          <a:prstGeom prst="rect">
            <a:avLst/>
          </a:prstGeom>
          <a:noFill/>
          <a:ln w="0">
            <a:noFill/>
          </a:ln>
        </p:spPr>
        <p:txBody>
          <a:bodyPr wrap="square" lIns="0" tIns="0" rIns="0" bIns="0" anchor="t">
            <a:noAutofit/>
          </a:bodyPr>
          <a:lstStyle/>
          <a:p>
            <a:pPr algn="l">
              <a:buNone/>
              <a:defRPr sz="1725" b="0">
                <a:solidFill>
                  <a:srgbClr val="BACDB7"/>
                </a:solidFill>
                <a:latin typeface="Segoe UI"/>
                <a:ea typeface="Segoe UI"/>
                <a:cs typeface="Segoe UI"/>
              </a:defRPr>
            </a:pPr>
            <a:r>
              <a:rPr sz="1725" b="0">
                <a:solidFill>
                  <a:srgbClr val="BACDB7"/>
                </a:solidFill>
                <a:latin typeface="Segoe UI"/>
                <a:ea typeface="Segoe UI"/>
                <a:cs typeface="Segoe UI"/>
              </a:rPr>
              <a:t>Décision sur le pilote proposée le 18/09, après les vérifications restantes.</a:t>
            </a:r>
          </a:p>
        </p:txBody>
      </p:sp>
      <p:sp>
        <p:nvSpPr>
          <p:cNvPr id="54" name="Rectangle 53">
            <a:extLst>
              <a:ext uri="{FF2B5EF4-FFF2-40B4-BE49-F238E27FC236}">
                <a16:creationId xmlns:a16="http://schemas.microsoft.com/office/drawing/2014/main" id="{E1752447-91F3-494A-A005-995CE395FAC5}"/>
              </a:ext>
            </a:extLst>
          </p:cNvPr>
          <p:cNvSpPr>
            <a:spLocks noGrp="1"/>
          </p:cNvSpPr>
          <p:nvPr/>
        </p:nvSpPr>
        <p:spPr>
          <a:xfrm>
            <a:off x="609600" y="6457950"/>
            <a:ext cx="8382000" cy="219075"/>
          </a:xfrm>
          <a:prstGeom prst="rect">
            <a:avLst/>
          </a:prstGeom>
          <a:noFill/>
          <a:ln w="0">
            <a:noFill/>
          </a:ln>
        </p:spPr>
        <p:txBody>
          <a:bodyPr wrap="square" lIns="0" tIns="0" rIns="0" bIns="0" anchor="t">
            <a:noAutofit/>
          </a:bodyPr>
          <a:lstStyle/>
          <a:p>
            <a:pPr algn="l">
              <a:buNone/>
              <a:defRPr sz="1125" b="0">
                <a:solidFill>
                  <a:srgbClr val="C1D0C1"/>
                </a:solidFill>
                <a:latin typeface="Segoe UI"/>
                <a:ea typeface="Segoe UI"/>
                <a:cs typeface="Segoe UI"/>
              </a:defRPr>
            </a:pPr>
            <a:r>
              <a:rPr sz="1125" b="0">
                <a:solidFill>
                  <a:srgbClr val="C1D0C1"/>
                </a:solidFill>
                <a:latin typeface="Segoe UI"/>
                <a:ea typeface="Segoe UI"/>
                <a:cs typeface="Segoe UI"/>
              </a:rPr>
              <a:t>Alcide / Pilotage du projet</a:t>
            </a:r>
          </a:p>
        </p:txBody>
      </p:sp>
      <p:sp>
        <p:nvSpPr>
          <p:cNvPr id="55" name="Rectangle 54">
            <a:extLst>
              <a:ext uri="{FF2B5EF4-FFF2-40B4-BE49-F238E27FC236}">
                <a16:creationId xmlns:a16="http://schemas.microsoft.com/office/drawing/2014/main" id="{C874546B-2BF2-4DB5-8308-D97A696F59DE}"/>
              </a:ext>
            </a:extLst>
          </p:cNvPr>
          <p:cNvSpPr>
            <a:spLocks noGrp="1"/>
          </p:cNvSpPr>
          <p:nvPr/>
        </p:nvSpPr>
        <p:spPr>
          <a:xfrm>
            <a:off x="11049000" y="6438900"/>
            <a:ext cx="533400" cy="228600"/>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21</a:t>
            </a:r>
          </a:p>
        </p:txBody>
      </p:sp>
    </p:spTree>
    <p:extLst>
      <p:ext uri="{BB962C8B-B14F-4D97-AF65-F5344CB8AC3E}">
        <p14:creationId xmlns:p14="http://schemas.microsoft.com/office/powerpoint/2010/main" val="19467356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B2923"/>
        </a:solidFill>
        <a:effectLst/>
      </p:bgPr>
    </p:bg>
    <p:spTree>
      <p:nvGrpSpPr>
        <p:cNvPr id="1" name=""/>
        <p:cNvGrpSpPr/>
        <p:nvPr/>
      </p:nvGrpSpPr>
      <p:grpSpPr>
        <a:xfrm>
          <a:off x="0" y="0"/>
          <a:ext cx="0" cy="0"/>
          <a:chOff x="0" y="0"/>
          <a:chExt cx="0" cy="0"/>
        </a:xfrm>
      </p:grpSpPr>
      <p:pic>
        <p:nvPicPr>
          <p:cNvPr id="48" name="Image 47"/>
          <p:cNvPicPr>
            <a:picLocks noChangeAspect="1"/>
          </p:cNvPicPr>
          <p:nvPr/>
        </p:nvPicPr>
        <p:blipFill>
          <a:blip r:embed="rId3"/>
          <a:srcRect t="27" b="27"/>
          <a:stretch>
            <a:fillRect/>
          </a:stretch>
        </p:blipFill>
        <p:spPr>
          <a:xfrm>
            <a:off x="0" y="0"/>
            <a:ext cx="12192000" cy="6858000"/>
          </a:xfrm>
          <a:prstGeom prst="rect">
            <a:avLst/>
          </a:prstGeom>
        </p:spPr>
      </p:pic>
      <p:sp>
        <p:nvSpPr>
          <p:cNvPr id="39" name="Rectangle 38">
            <a:extLst>
              <a:ext uri="{FF2B5EF4-FFF2-40B4-BE49-F238E27FC236}">
                <a16:creationId xmlns:a16="http://schemas.microsoft.com/office/drawing/2014/main" id="{35D3ED3E-7257-4BC0-9CF1-BE7DBCB218FF}"/>
              </a:ext>
            </a:extLst>
          </p:cNvPr>
          <p:cNvSpPr>
            <a:spLocks noGrp="1"/>
          </p:cNvSpPr>
          <p:nvPr/>
        </p:nvSpPr>
        <p:spPr>
          <a:xfrm>
            <a:off x="609600" y="609600"/>
            <a:ext cx="10972800" cy="704850"/>
          </a:xfrm>
          <a:prstGeom prst="rect">
            <a:avLst/>
          </a:prstGeom>
          <a:noFill/>
          <a:ln w="0">
            <a:noFill/>
          </a:ln>
        </p:spPr>
        <p:txBody>
          <a:bodyPr wrap="square" lIns="0" tIns="0" rIns="0" bIns="0" anchor="t">
            <a:noAutofit/>
          </a:bodyPr>
          <a:lstStyle/>
          <a:p>
            <a:pPr algn="l">
              <a:buNone/>
              <a:defRPr sz="3450" b="1">
                <a:solidFill>
                  <a:srgbClr val="F4F7F3"/>
                </a:solidFill>
                <a:latin typeface="Segoe UI"/>
                <a:ea typeface="Segoe UI"/>
                <a:cs typeface="Segoe UI"/>
              </a:defRPr>
            </a:pPr>
            <a:r>
              <a:rPr sz="3450" b="1">
                <a:solidFill>
                  <a:srgbClr val="F4F7F3"/>
                </a:solidFill>
                <a:latin typeface="Segoe UI"/>
                <a:ea typeface="Segoe UI"/>
                <a:cs typeface="Segoe UI"/>
              </a:rPr>
              <a:t>La validation par le commanditaire</a:t>
            </a:r>
          </a:p>
        </p:txBody>
      </p:sp>
      <p:sp>
        <p:nvSpPr>
          <p:cNvPr id="40" name="Rectangle 39">
            <a:extLst>
              <a:ext uri="{FF2B5EF4-FFF2-40B4-BE49-F238E27FC236}">
                <a16:creationId xmlns:a16="http://schemas.microsoft.com/office/drawing/2014/main" id="{41974B0A-84E0-4FFC-A24E-292594BC42C6}"/>
              </a:ext>
            </a:extLst>
          </p:cNvPr>
          <p:cNvSpPr>
            <a:spLocks noGrp="1"/>
          </p:cNvSpPr>
          <p:nvPr/>
        </p:nvSpPr>
        <p:spPr>
          <a:xfrm>
            <a:off x="609600" y="1438275"/>
            <a:ext cx="10972800" cy="457200"/>
          </a:xfrm>
          <a:prstGeom prst="rect">
            <a:avLst/>
          </a:prstGeom>
          <a:noFill/>
          <a:ln w="0">
            <a:noFill/>
          </a:ln>
        </p:spPr>
        <p:txBody>
          <a:bodyPr wrap="square" lIns="0" tIns="0" rIns="0" bIns="0" anchor="t">
            <a:noAutofit/>
          </a:bodyPr>
          <a:lstStyle/>
          <a:p>
            <a:pPr algn="l">
              <a:buNone/>
              <a:defRPr sz="1950" b="0">
                <a:solidFill>
                  <a:srgbClr val="C1D0C1"/>
                </a:solidFill>
                <a:latin typeface="Segoe UI"/>
                <a:ea typeface="Segoe UI"/>
                <a:cs typeface="Segoe UI"/>
              </a:defRPr>
            </a:pPr>
            <a:r>
              <a:rPr sz="1950" b="0">
                <a:solidFill>
                  <a:srgbClr val="C1D0C1"/>
                </a:solidFill>
                <a:latin typeface="Segoe UI"/>
                <a:ea typeface="Segoe UI"/>
                <a:cs typeface="Segoe UI"/>
              </a:rPr>
              <a:t>Validation à obtenir dans le scénario</a:t>
            </a:r>
          </a:p>
        </p:txBody>
      </p:sp>
      <p:sp>
        <p:nvSpPr>
          <p:cNvPr id="44" name="Rectangle 43">
            <a:extLst>
              <a:ext uri="{FF2B5EF4-FFF2-40B4-BE49-F238E27FC236}">
                <a16:creationId xmlns:a16="http://schemas.microsoft.com/office/drawing/2014/main" id="{6DA96197-BC2A-4156-8462-0DCA1C4AE539}"/>
              </a:ext>
            </a:extLst>
          </p:cNvPr>
          <p:cNvSpPr>
            <a:spLocks noGrp="1"/>
          </p:cNvSpPr>
          <p:nvPr/>
        </p:nvSpPr>
        <p:spPr>
          <a:xfrm>
            <a:off x="609600" y="6457950"/>
            <a:ext cx="8382000" cy="219075"/>
          </a:xfrm>
          <a:prstGeom prst="rect">
            <a:avLst/>
          </a:prstGeom>
          <a:noFill/>
          <a:ln w="0">
            <a:noFill/>
          </a:ln>
        </p:spPr>
        <p:txBody>
          <a:bodyPr wrap="square" lIns="0" tIns="0" rIns="0" bIns="0" anchor="t">
            <a:noAutofit/>
          </a:bodyPr>
          <a:lstStyle/>
          <a:p>
            <a:pPr algn="l">
              <a:buNone/>
              <a:defRPr sz="1125" b="0">
                <a:solidFill>
                  <a:srgbClr val="C1D0C1"/>
                </a:solidFill>
                <a:latin typeface="Segoe UI"/>
                <a:ea typeface="Segoe UI"/>
                <a:cs typeface="Segoe UI"/>
              </a:defRPr>
            </a:pPr>
            <a:r>
              <a:rPr sz="1125" b="0">
                <a:solidFill>
                  <a:srgbClr val="C1D0C1"/>
                </a:solidFill>
                <a:latin typeface="Segoe UI"/>
                <a:ea typeface="Segoe UI"/>
                <a:cs typeface="Segoe UI"/>
              </a:rPr>
              <a:t>Alcide / Pilotage du projet</a:t>
            </a:r>
          </a:p>
        </p:txBody>
      </p:sp>
      <p:sp>
        <p:nvSpPr>
          <p:cNvPr id="45" name="Rectangle 44">
            <a:extLst>
              <a:ext uri="{FF2B5EF4-FFF2-40B4-BE49-F238E27FC236}">
                <a16:creationId xmlns:a16="http://schemas.microsoft.com/office/drawing/2014/main" id="{8A9FE1EE-BFEC-4B35-AE5C-03948B33BBF6}"/>
              </a:ext>
            </a:extLst>
          </p:cNvPr>
          <p:cNvSpPr>
            <a:spLocks noGrp="1"/>
          </p:cNvSpPr>
          <p:nvPr/>
        </p:nvSpPr>
        <p:spPr>
          <a:xfrm>
            <a:off x="11049000" y="6438900"/>
            <a:ext cx="533400" cy="228600"/>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22</a:t>
            </a:r>
          </a:p>
        </p:txBody>
      </p:sp>
      <p:sp>
        <p:nvSpPr>
          <p:cNvPr id="52" name="Rectangle 51">
            <a:extLst>
              <a:ext uri="{FF2B5EF4-FFF2-40B4-BE49-F238E27FC236}">
                <a16:creationId xmlns:a16="http://schemas.microsoft.com/office/drawing/2014/main" id="{A1DFA575-4917-44F9-8CDB-1499AE6B676B}"/>
              </a:ext>
            </a:extLst>
          </p:cNvPr>
          <p:cNvSpPr>
            <a:spLocks noGrp="1"/>
          </p:cNvSpPr>
          <p:nvPr/>
        </p:nvSpPr>
        <p:spPr>
          <a:xfrm>
            <a:off x="609600" y="2286000"/>
            <a:ext cx="3571875" cy="419100"/>
          </a:xfrm>
          <a:prstGeom prst="rect">
            <a:avLst/>
          </a:prstGeom>
          <a:noFill/>
          <a:ln w="0">
            <a:noFill/>
          </a:ln>
        </p:spPr>
        <p:txBody>
          <a:bodyPr wrap="square" lIns="0" tIns="0" rIns="0" bIns="0" anchor="t">
            <a:noAutofit/>
          </a:bodyPr>
          <a:lstStyle/>
          <a:p>
            <a:pPr algn="l">
              <a:defRPr sz="2250" b="1">
                <a:solidFill>
                  <a:srgbClr val="BACDB7"/>
                </a:solidFill>
                <a:latin typeface="Segoe UI"/>
                <a:ea typeface="Segoe UI"/>
                <a:cs typeface="Segoe UI"/>
              </a:defRPr>
            </a:pPr>
            <a:r>
              <a:rPr sz="2250" b="1">
                <a:solidFill>
                  <a:srgbClr val="BACDB7"/>
                </a:solidFill>
                <a:latin typeface="Segoe UI"/>
                <a:ea typeface="Segoe UI"/>
                <a:cs typeface="Segoe UI"/>
              </a:rPr>
              <a:t>Le parcours présenté</a:t>
            </a:r>
          </a:p>
        </p:txBody>
      </p:sp>
      <p:sp>
        <p:nvSpPr>
          <p:cNvPr id="53" name="Rectangle 52">
            <a:extLst>
              <a:ext uri="{FF2B5EF4-FFF2-40B4-BE49-F238E27FC236}">
                <a16:creationId xmlns:a16="http://schemas.microsoft.com/office/drawing/2014/main" id="{DFF83A50-3BE9-4E35-AEA8-B4C456111B78}"/>
              </a:ext>
            </a:extLst>
          </p:cNvPr>
          <p:cNvSpPr>
            <a:spLocks noGrp="1"/>
          </p:cNvSpPr>
          <p:nvPr/>
        </p:nvSpPr>
        <p:spPr>
          <a:xfrm>
            <a:off x="4572000" y="2257425"/>
            <a:ext cx="7010400" cy="809625"/>
          </a:xfrm>
          <a:prstGeom prst="rect">
            <a:avLst/>
          </a:prstGeom>
          <a:noFill/>
          <a:ln w="0">
            <a:noFill/>
          </a:ln>
        </p:spPr>
        <p:txBody>
          <a:bodyPr wrap="square" lIns="0" tIns="0" rIns="0" bIns="0" anchor="t">
            <a:noAutofit/>
          </a:bodyPr>
          <a:lstStyle/>
          <a:p>
            <a:pPr algn="l">
              <a:defRPr sz="2250" b="0">
                <a:solidFill>
                  <a:srgbClr val="F4F7F3"/>
                </a:solidFill>
                <a:latin typeface="Segoe UI"/>
                <a:ea typeface="Segoe UI"/>
                <a:cs typeface="Segoe UI"/>
              </a:defRPr>
            </a:pPr>
            <a:r>
              <a:rPr sz="2250" b="0">
                <a:solidFill>
                  <a:srgbClr val="F4F7F3"/>
                </a:solidFill>
                <a:latin typeface="Segoe UI"/>
                <a:ea typeface="Segoe UI"/>
                <a:cs typeface="Segoe UI"/>
              </a:rPr>
              <a:t>Préparer une séance, la retrouver</a:t>
            </a:r>
          </a:p>
          <a:p>
            <a:pPr algn="l">
              <a:defRPr sz="2250" b="0">
                <a:solidFill>
                  <a:srgbClr val="F4F7F3"/>
                </a:solidFill>
                <a:latin typeface="Segoe UI"/>
                <a:ea typeface="Segoe UI"/>
                <a:cs typeface="Segoe UI"/>
              </a:defRPr>
            </a:pPr>
            <a:r>
              <a:rPr sz="2250" b="0">
                <a:solidFill>
                  <a:srgbClr val="F4F7F3"/>
                </a:solidFill>
                <a:latin typeface="Segoe UI"/>
                <a:ea typeface="Segoe UI"/>
                <a:cs typeface="Segoe UI"/>
              </a:rPr>
              <a:t>et suivre son entraînement.</a:t>
            </a:r>
          </a:p>
        </p:txBody>
      </p:sp>
      <p:sp>
        <p:nvSpPr>
          <p:cNvPr id="54" name="Rectangle 53">
            <a:extLst>
              <a:ext uri="{FF2B5EF4-FFF2-40B4-BE49-F238E27FC236}">
                <a16:creationId xmlns:a16="http://schemas.microsoft.com/office/drawing/2014/main" id="{FD84A533-7B9C-45B6-9785-88AEE0FEB10F}"/>
              </a:ext>
            </a:extLst>
          </p:cNvPr>
          <p:cNvSpPr>
            <a:spLocks noGrp="1"/>
          </p:cNvSpPr>
          <p:nvPr/>
        </p:nvSpPr>
        <p:spPr>
          <a:xfrm>
            <a:off x="609600" y="3476625"/>
            <a:ext cx="3571875" cy="419100"/>
          </a:xfrm>
          <a:prstGeom prst="rect">
            <a:avLst/>
          </a:prstGeom>
          <a:noFill/>
          <a:ln w="0">
            <a:noFill/>
          </a:ln>
        </p:spPr>
        <p:txBody>
          <a:bodyPr wrap="square" lIns="0" tIns="0" rIns="0" bIns="0" anchor="t">
            <a:noAutofit/>
          </a:bodyPr>
          <a:lstStyle/>
          <a:p>
            <a:pPr algn="l">
              <a:defRPr sz="2250" b="1">
                <a:solidFill>
                  <a:srgbClr val="BACDB7"/>
                </a:solidFill>
                <a:latin typeface="Segoe UI"/>
                <a:ea typeface="Segoe UI"/>
                <a:cs typeface="Segoe UI"/>
              </a:defRPr>
            </a:pPr>
            <a:r>
              <a:rPr sz="2250" b="1">
                <a:solidFill>
                  <a:srgbClr val="BACDB7"/>
                </a:solidFill>
                <a:latin typeface="Segoe UI"/>
                <a:ea typeface="Segoe UI"/>
                <a:cs typeface="Segoe UI"/>
              </a:rPr>
              <a:t>La réponse attendue</a:t>
            </a:r>
          </a:p>
        </p:txBody>
      </p:sp>
      <p:sp>
        <p:nvSpPr>
          <p:cNvPr id="55" name="Rectangle 54">
            <a:extLst>
              <a:ext uri="{FF2B5EF4-FFF2-40B4-BE49-F238E27FC236}">
                <a16:creationId xmlns:a16="http://schemas.microsoft.com/office/drawing/2014/main" id="{9D5A7FCC-23B1-495D-A7E6-54BAF753FCA2}"/>
              </a:ext>
            </a:extLst>
          </p:cNvPr>
          <p:cNvSpPr>
            <a:spLocks noGrp="1"/>
          </p:cNvSpPr>
          <p:nvPr/>
        </p:nvSpPr>
        <p:spPr>
          <a:xfrm>
            <a:off x="4572000" y="3448050"/>
            <a:ext cx="7010400" cy="809625"/>
          </a:xfrm>
          <a:prstGeom prst="rect">
            <a:avLst/>
          </a:prstGeom>
          <a:noFill/>
          <a:ln w="0">
            <a:noFill/>
          </a:ln>
        </p:spPr>
        <p:txBody>
          <a:bodyPr wrap="square" lIns="0" tIns="0" rIns="0" bIns="0" anchor="t">
            <a:noAutofit/>
          </a:bodyPr>
          <a:lstStyle/>
          <a:p>
            <a:pPr algn="l">
              <a:defRPr sz="2250" b="0">
                <a:solidFill>
                  <a:srgbClr val="F4F7F3"/>
                </a:solidFill>
                <a:latin typeface="Segoe UI"/>
                <a:ea typeface="Segoe UI"/>
                <a:cs typeface="Segoe UI"/>
              </a:defRPr>
            </a:pPr>
            <a:r>
              <a:rPr sz="2250" b="0">
                <a:solidFill>
                  <a:srgbClr val="F4F7F3"/>
                </a:solidFill>
                <a:latin typeface="Segoe UI"/>
                <a:ea typeface="Segoe UI"/>
                <a:cs typeface="Segoe UI"/>
              </a:rPr>
              <a:t>Les fonctionnalités acceptées</a:t>
            </a:r>
          </a:p>
          <a:p>
            <a:pPr algn="l">
              <a:defRPr sz="2250" b="0">
                <a:solidFill>
                  <a:srgbClr val="F4F7F3"/>
                </a:solidFill>
                <a:latin typeface="Segoe UI"/>
                <a:ea typeface="Segoe UI"/>
                <a:cs typeface="Segoe UI"/>
              </a:defRPr>
            </a:pPr>
            <a:r>
              <a:rPr sz="2250" b="0">
                <a:solidFill>
                  <a:srgbClr val="F4F7F3"/>
                </a:solidFill>
                <a:latin typeface="Segoe UI"/>
                <a:ea typeface="Segoe UI"/>
                <a:cs typeface="Segoe UI"/>
              </a:rPr>
              <a:t>et les corrections demandées.</a:t>
            </a:r>
          </a:p>
        </p:txBody>
      </p:sp>
      <p:sp>
        <p:nvSpPr>
          <p:cNvPr id="56" name="Rectangle 55">
            <a:extLst>
              <a:ext uri="{FF2B5EF4-FFF2-40B4-BE49-F238E27FC236}">
                <a16:creationId xmlns:a16="http://schemas.microsoft.com/office/drawing/2014/main" id="{BD2D3399-4D9F-470B-A6EC-6003D402F6B2}"/>
              </a:ext>
            </a:extLst>
          </p:cNvPr>
          <p:cNvSpPr>
            <a:spLocks noGrp="1"/>
          </p:cNvSpPr>
          <p:nvPr/>
        </p:nvSpPr>
        <p:spPr>
          <a:xfrm>
            <a:off x="609600" y="4667250"/>
            <a:ext cx="3762375" cy="419100"/>
          </a:xfrm>
          <a:prstGeom prst="rect">
            <a:avLst/>
          </a:prstGeom>
          <a:noFill/>
          <a:ln w="0">
            <a:noFill/>
          </a:ln>
        </p:spPr>
        <p:txBody>
          <a:bodyPr wrap="square" lIns="0" tIns="0" rIns="0" bIns="0" anchor="t">
            <a:noAutofit/>
          </a:bodyPr>
          <a:lstStyle/>
          <a:p>
            <a:pPr algn="l">
              <a:defRPr sz="2250" b="1">
                <a:solidFill>
                  <a:srgbClr val="BACDB7"/>
                </a:solidFill>
                <a:latin typeface="Segoe UI"/>
                <a:ea typeface="Segoe UI"/>
                <a:cs typeface="Segoe UI"/>
              </a:defRPr>
            </a:pPr>
            <a:r>
              <a:rPr sz="2250" b="1">
                <a:solidFill>
                  <a:srgbClr val="BACDB7"/>
                </a:solidFill>
                <a:latin typeface="Segoe UI"/>
                <a:ea typeface="Segoe UI"/>
                <a:cs typeface="Segoe UI"/>
              </a:rPr>
              <a:t>Le suivi des corrections</a:t>
            </a:r>
          </a:p>
        </p:txBody>
      </p:sp>
      <p:sp>
        <p:nvSpPr>
          <p:cNvPr id="57" name="Rectangle 56">
            <a:extLst>
              <a:ext uri="{FF2B5EF4-FFF2-40B4-BE49-F238E27FC236}">
                <a16:creationId xmlns:a16="http://schemas.microsoft.com/office/drawing/2014/main" id="{3047ED77-A966-4725-9A3F-F0182D9767A5}"/>
              </a:ext>
            </a:extLst>
          </p:cNvPr>
          <p:cNvSpPr>
            <a:spLocks noGrp="1"/>
          </p:cNvSpPr>
          <p:nvPr/>
        </p:nvSpPr>
        <p:spPr>
          <a:xfrm>
            <a:off x="4572000" y="4638675"/>
            <a:ext cx="7010400" cy="809625"/>
          </a:xfrm>
          <a:prstGeom prst="rect">
            <a:avLst/>
          </a:prstGeom>
          <a:noFill/>
          <a:ln w="0">
            <a:noFill/>
          </a:ln>
        </p:spPr>
        <p:txBody>
          <a:bodyPr wrap="square" lIns="0" tIns="0" rIns="0" bIns="0" anchor="t">
            <a:noAutofit/>
          </a:bodyPr>
          <a:lstStyle/>
          <a:p>
            <a:pPr algn="l">
              <a:defRPr sz="2250" b="0">
                <a:solidFill>
                  <a:srgbClr val="F4F7F3"/>
                </a:solidFill>
                <a:latin typeface="Segoe UI"/>
                <a:ea typeface="Segoe UI"/>
                <a:cs typeface="Segoe UI"/>
              </a:defRPr>
            </a:pPr>
            <a:r>
              <a:rPr sz="2250" b="0">
                <a:solidFill>
                  <a:srgbClr val="F4F7F3"/>
                </a:solidFill>
                <a:latin typeface="Segoe UI"/>
                <a:ea typeface="Segoe UI"/>
                <a:cs typeface="Segoe UI"/>
              </a:rPr>
              <a:t>Pour chaque correction : un responsable,</a:t>
            </a:r>
          </a:p>
          <a:p>
            <a:pPr algn="l">
              <a:defRPr sz="2250" b="0">
                <a:solidFill>
                  <a:srgbClr val="F4F7F3"/>
                </a:solidFill>
                <a:latin typeface="Segoe UI"/>
                <a:ea typeface="Segoe UI"/>
                <a:cs typeface="Segoe UI"/>
              </a:defRPr>
            </a:pPr>
            <a:r>
              <a:rPr sz="2250" b="0">
                <a:solidFill>
                  <a:srgbClr val="F4F7F3"/>
                </a:solidFill>
                <a:latin typeface="Segoe UI"/>
                <a:ea typeface="Segoe UI"/>
                <a:cs typeface="Segoe UI"/>
              </a:rPr>
              <a:t>une échéance et un contrôle.</a:t>
            </a:r>
          </a:p>
        </p:txBody>
      </p:sp>
      <p:sp>
        <p:nvSpPr>
          <p:cNvPr id="58" name="Rectangle 57">
            <a:extLst>
              <a:ext uri="{FF2B5EF4-FFF2-40B4-BE49-F238E27FC236}">
                <a16:creationId xmlns:a16="http://schemas.microsoft.com/office/drawing/2014/main" id="{5341B444-2687-449B-A50A-8F21927EFF8A}"/>
              </a:ext>
            </a:extLst>
          </p:cNvPr>
          <p:cNvSpPr>
            <a:spLocks noGrp="1"/>
          </p:cNvSpPr>
          <p:nvPr/>
        </p:nvSpPr>
        <p:spPr>
          <a:xfrm>
            <a:off x="609600" y="5848350"/>
            <a:ext cx="10972800" cy="400050"/>
          </a:xfrm>
          <a:prstGeom prst="rect">
            <a:avLst/>
          </a:prstGeom>
          <a:noFill/>
          <a:ln w="0">
            <a:noFill/>
          </a:ln>
        </p:spPr>
        <p:txBody>
          <a:bodyPr wrap="square" lIns="0" tIns="0" rIns="0" bIns="0" anchor="t">
            <a:noAutofit/>
          </a:bodyPr>
          <a:lstStyle/>
          <a:p>
            <a:pPr algn="l">
              <a:defRPr sz="1800" b="0">
                <a:solidFill>
                  <a:srgbClr val="BACDB7"/>
                </a:solidFill>
                <a:latin typeface="Segoe UI"/>
                <a:ea typeface="Segoe UI"/>
                <a:cs typeface="Segoe UI"/>
              </a:defRPr>
            </a:pPr>
            <a:r>
              <a:rPr sz="1800" b="0">
                <a:solidFill>
                  <a:srgbClr val="BACDB7"/>
                </a:solidFill>
                <a:latin typeface="Segoe UI"/>
                <a:ea typeface="Segoe UI"/>
                <a:cs typeface="Segoe UI"/>
              </a:rPr>
              <a:t>Décision sur le pilote proposée le 18 septembre, après les contrôles restants.</a:t>
            </a:r>
          </a:p>
        </p:txBody>
      </p:sp>
    </p:spTree>
    <p:extLst>
      <p:ext uri="{BB962C8B-B14F-4D97-AF65-F5344CB8AC3E}">
        <p14:creationId xmlns:p14="http://schemas.microsoft.com/office/powerpoint/2010/main" val="6523009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B2923"/>
        </a:solidFill>
        <a:effectLst/>
      </p:bgPr>
    </p:bg>
    <p:spTree>
      <p:nvGrpSpPr>
        <p:cNvPr id="1" name=""/>
        <p:cNvGrpSpPr/>
        <p:nvPr/>
      </p:nvGrpSpPr>
      <p:grpSpPr>
        <a:xfrm>
          <a:off x="0" y="0"/>
          <a:ext cx="0" cy="0"/>
          <a:chOff x="0" y="0"/>
          <a:chExt cx="0" cy="0"/>
        </a:xfrm>
      </p:grpSpPr>
      <p:pic>
        <p:nvPicPr>
          <p:cNvPr id="48" name="Image 47"/>
          <p:cNvPicPr>
            <a:picLocks noChangeAspect="1"/>
          </p:cNvPicPr>
          <p:nvPr/>
        </p:nvPicPr>
        <p:blipFill>
          <a:blip r:embed="rId3"/>
          <a:srcRect t="27" b="27"/>
          <a:stretch>
            <a:fillRect/>
          </a:stretch>
        </p:blipFill>
        <p:spPr>
          <a:xfrm>
            <a:off x="0" y="0"/>
            <a:ext cx="12192000" cy="6858000"/>
          </a:xfrm>
          <a:prstGeom prst="rect">
            <a:avLst/>
          </a:prstGeom>
        </p:spPr>
      </p:pic>
      <p:sp>
        <p:nvSpPr>
          <p:cNvPr id="33" name="Rectangle 32">
            <a:extLst>
              <a:ext uri="{FF2B5EF4-FFF2-40B4-BE49-F238E27FC236}">
                <a16:creationId xmlns:a16="http://schemas.microsoft.com/office/drawing/2014/main" id="{9EFDE185-DAB1-44B2-A57D-D982617175D4}"/>
              </a:ext>
            </a:extLst>
          </p:cNvPr>
          <p:cNvSpPr>
            <a:spLocks noGrp="1"/>
          </p:cNvSpPr>
          <p:nvPr/>
        </p:nvSpPr>
        <p:spPr>
          <a:xfrm>
            <a:off x="609600" y="609600"/>
            <a:ext cx="10972800" cy="704850"/>
          </a:xfrm>
          <a:prstGeom prst="rect">
            <a:avLst/>
          </a:prstGeom>
          <a:noFill/>
          <a:ln w="0">
            <a:noFill/>
          </a:ln>
        </p:spPr>
        <p:txBody>
          <a:bodyPr wrap="square" lIns="0" tIns="0" rIns="0" bIns="0" anchor="t">
            <a:noAutofit/>
          </a:bodyPr>
          <a:lstStyle/>
          <a:p>
            <a:pPr algn="l">
              <a:buNone/>
              <a:defRPr sz="3450" b="1">
                <a:solidFill>
                  <a:srgbClr val="F4F7F3"/>
                </a:solidFill>
                <a:latin typeface="Segoe UI"/>
                <a:ea typeface="Segoe UI"/>
                <a:cs typeface="Segoe UI"/>
              </a:defRPr>
            </a:pPr>
            <a:r>
              <a:rPr sz="3450" b="1">
                <a:solidFill>
                  <a:srgbClr val="F4F7F3"/>
                </a:solidFill>
                <a:latin typeface="Segoe UI"/>
                <a:ea typeface="Segoe UI"/>
                <a:cs typeface="Segoe UI"/>
              </a:rPr>
              <a:t>Les essais prévus avec 5 utilisateurs</a:t>
            </a:r>
          </a:p>
        </p:txBody>
      </p:sp>
      <p:sp>
        <p:nvSpPr>
          <p:cNvPr id="34" name="Rectangle 33">
            <a:extLst>
              <a:ext uri="{FF2B5EF4-FFF2-40B4-BE49-F238E27FC236}">
                <a16:creationId xmlns:a16="http://schemas.microsoft.com/office/drawing/2014/main" id="{28F93C94-64E3-4F69-96C8-9D7BC2BBE129}"/>
              </a:ext>
            </a:extLst>
          </p:cNvPr>
          <p:cNvSpPr>
            <a:spLocks noGrp="1"/>
          </p:cNvSpPr>
          <p:nvPr/>
        </p:nvSpPr>
        <p:spPr>
          <a:xfrm>
            <a:off x="609600" y="1438275"/>
            <a:ext cx="10972800" cy="457200"/>
          </a:xfrm>
          <a:prstGeom prst="rect">
            <a:avLst/>
          </a:prstGeom>
          <a:noFill/>
          <a:ln w="0">
            <a:noFill/>
          </a:ln>
        </p:spPr>
        <p:txBody>
          <a:bodyPr wrap="square" lIns="0" tIns="0" rIns="0" bIns="0" anchor="t">
            <a:noAutofit/>
          </a:bodyPr>
          <a:lstStyle/>
          <a:p>
            <a:pPr algn="l">
              <a:buNone/>
              <a:defRPr sz="1950" b="0">
                <a:solidFill>
                  <a:srgbClr val="C1D0C1"/>
                </a:solidFill>
                <a:latin typeface="Segoe UI"/>
                <a:ea typeface="Segoe UI"/>
                <a:cs typeface="Segoe UI"/>
              </a:defRPr>
            </a:pPr>
            <a:r>
              <a:rPr sz="1950" b="0">
                <a:solidFill>
                  <a:srgbClr val="C1D0C1"/>
                </a:solidFill>
                <a:latin typeface="Segoe UI"/>
                <a:ea typeface="Segoe UI"/>
                <a:cs typeface="Segoe UI"/>
              </a:rPr>
              <a:t>Proposition : 5 pratiquants, dont 2 débutants et 3 réguliers, avec l’avis d’1 coach</a:t>
            </a:r>
          </a:p>
        </p:txBody>
      </p:sp>
      <p:graphicFrame>
        <p:nvGraphicFramePr>
          <p:cNvPr id="51" name="Tableau 50"/>
          <p:cNvGraphicFramePr/>
          <p:nvPr/>
        </p:nvGraphicFramePr>
        <p:xfrm>
          <a:off x="609600" y="2038350"/>
          <a:ext cx="10972800" cy="2581275"/>
        </p:xfrm>
        <a:graphic>
          <a:graphicData uri="http://schemas.openxmlformats.org/drawingml/2006/table">
            <a:tbl>
              <a:tblPr/>
              <a:tblGrid>
                <a:gridCol w="28575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tblGrid>
              <a:tr h="466725">
                <a:tc>
                  <a:txBody>
                    <a:bodyPr/>
                    <a:lstStyle/>
                    <a:p>
                      <a:pPr algn="l">
                        <a:buNone/>
                      </a:pPr>
                      <a:r>
                        <a:rPr sz="1875" b="1">
                          <a:solidFill>
                            <a:srgbClr val="BACDB7"/>
                          </a:solidFill>
                          <a:latin typeface="Segoe UI"/>
                          <a:ea typeface="Segoe UI"/>
                          <a:cs typeface="Segoe UI"/>
                        </a:rPr>
                        <a:t>Critère</a:t>
                      </a:r>
                    </a:p>
                  </a:txBody>
                  <a:tcPr marL="95250" marR="76200" marT="0" marB="0" anchor="ctr">
                    <a:solidFill>
                      <a:srgbClr val="213B2E"/>
                    </a:solidFill>
                  </a:tcPr>
                </a:tc>
                <a:tc>
                  <a:txBody>
                    <a:bodyPr/>
                    <a:lstStyle/>
                    <a:p>
                      <a:pPr algn="l">
                        <a:buNone/>
                      </a:pPr>
                      <a:r>
                        <a:rPr sz="1875" b="1">
                          <a:solidFill>
                            <a:srgbClr val="BACDB7"/>
                          </a:solidFill>
                          <a:latin typeface="Segoe UI"/>
                          <a:ea typeface="Segoe UI"/>
                          <a:cs typeface="Segoe UI"/>
                        </a:rPr>
                        <a:t>Recueil prévu</a:t>
                      </a:r>
                    </a:p>
                  </a:txBody>
                  <a:tcPr marL="95250" marR="76200" marT="0" marB="0" anchor="ctr">
                    <a:solidFill>
                      <a:srgbClr val="213B2E"/>
                    </a:solidFill>
                  </a:tcPr>
                </a:tc>
                <a:tc>
                  <a:txBody>
                    <a:bodyPr/>
                    <a:lstStyle/>
                    <a:p>
                      <a:pPr algn="l">
                        <a:buNone/>
                      </a:pPr>
                      <a:r>
                        <a:rPr sz="1875" b="1">
                          <a:solidFill>
                            <a:srgbClr val="BACDB7"/>
                          </a:solidFill>
                          <a:latin typeface="Segoe UI"/>
                          <a:ea typeface="Segoe UI"/>
                          <a:cs typeface="Segoe UI"/>
                        </a:rPr>
                        <a:t>Cible</a:t>
                      </a:r>
                    </a:p>
                  </a:txBody>
                  <a:tcPr marL="95250" marR="76200" marT="0" marB="0" anchor="ctr">
                    <a:solidFill>
                      <a:srgbClr val="213B2E"/>
                    </a:solidFill>
                  </a:tcPr>
                </a:tc>
                <a:extLst>
                  <a:ext uri="{0D108BD9-81ED-4DB2-BD59-A6C34878D82A}">
                    <a16:rowId xmlns:a16="http://schemas.microsoft.com/office/drawing/2014/main" val="10000"/>
                  </a:ext>
                </a:extLst>
              </a:tr>
              <a:tr h="704850">
                <a:tc>
                  <a:txBody>
                    <a:bodyPr/>
                    <a:lstStyle/>
                    <a:p>
                      <a:pPr algn="l">
                        <a:buNone/>
                      </a:pPr>
                      <a:r>
                        <a:rPr sz="1875" b="0">
                          <a:solidFill>
                            <a:srgbClr val="F4F7F3"/>
                          </a:solidFill>
                          <a:latin typeface="Segoe UI"/>
                          <a:ea typeface="Segoe UI"/>
                          <a:cs typeface="Segoe UI"/>
                        </a:rPr>
                        <a:t>Compréhension</a:t>
                      </a:r>
                    </a:p>
                  </a:txBody>
                  <a:tcPr marL="95250" marR="76200" marT="0" marB="0" anchor="ctr">
                    <a:solidFill>
                      <a:srgbClr val="1B2923"/>
                    </a:solidFill>
                  </a:tcPr>
                </a:tc>
                <a:tc>
                  <a:txBody>
                    <a:bodyPr/>
                    <a:lstStyle/>
                    <a:p>
                      <a:pPr algn="l">
                        <a:buNone/>
                      </a:pPr>
                      <a:r>
                        <a:rPr sz="1875" b="0">
                          <a:solidFill>
                            <a:srgbClr val="F4F7F3"/>
                          </a:solidFill>
                          <a:latin typeface="Segoe UI"/>
                          <a:ea typeface="Segoe UI"/>
                          <a:cs typeface="Segoe UI"/>
                        </a:rPr>
                        <a:t>Questionnaire et observation du parcours</a:t>
                      </a:r>
                    </a:p>
                  </a:txBody>
                  <a:tcPr marL="95250" marR="76200" marT="0" marB="0" anchor="ctr">
                    <a:solidFill>
                      <a:srgbClr val="1B2923"/>
                    </a:solidFill>
                  </a:tcPr>
                </a:tc>
                <a:tc>
                  <a:txBody>
                    <a:bodyPr/>
                    <a:lstStyle/>
                    <a:p>
                      <a:pPr algn="l">
                        <a:buNone/>
                      </a:pPr>
                      <a:r>
                        <a:rPr sz="1875" b="0">
                          <a:solidFill>
                            <a:srgbClr val="F4F7F3"/>
                          </a:solidFill>
                          <a:latin typeface="Segoe UI"/>
                          <a:ea typeface="Segoe UI"/>
                          <a:cs typeface="Segoe UI"/>
                        </a:rPr>
                        <a:t>Au moins 4/5</a:t>
                      </a:r>
                    </a:p>
                  </a:txBody>
                  <a:tcPr marL="95250" marR="76200" marT="0" marB="0" anchor="ctr">
                    <a:solidFill>
                      <a:srgbClr val="1B2923"/>
                    </a:solidFill>
                  </a:tcPr>
                </a:tc>
                <a:extLst>
                  <a:ext uri="{0D108BD9-81ED-4DB2-BD59-A6C34878D82A}">
                    <a16:rowId xmlns:a16="http://schemas.microsoft.com/office/drawing/2014/main" val="10001"/>
                  </a:ext>
                </a:extLst>
              </a:tr>
              <a:tr h="704850">
                <a:tc>
                  <a:txBody>
                    <a:bodyPr/>
                    <a:lstStyle/>
                    <a:p>
                      <a:pPr algn="l">
                        <a:buNone/>
                      </a:pPr>
                      <a:r>
                        <a:rPr sz="1875" b="0">
                          <a:solidFill>
                            <a:srgbClr val="F4F7F3"/>
                          </a:solidFill>
                          <a:latin typeface="Segoe UI"/>
                          <a:ea typeface="Segoe UI"/>
                          <a:cs typeface="Segoe UI"/>
                        </a:rPr>
                        <a:t>Utilité des séances</a:t>
                      </a:r>
                    </a:p>
                  </a:txBody>
                  <a:tcPr marL="95250" marR="76200" marT="0" marB="0" anchor="ctr">
                    <a:solidFill>
                      <a:srgbClr val="1B2923"/>
                    </a:solidFill>
                  </a:tcPr>
                </a:tc>
                <a:tc>
                  <a:txBody>
                    <a:bodyPr/>
                    <a:lstStyle/>
                    <a:p>
                      <a:pPr algn="l">
                        <a:buNone/>
                      </a:pPr>
                      <a:r>
                        <a:rPr sz="1875" b="0">
                          <a:solidFill>
                            <a:srgbClr val="F4F7F3"/>
                          </a:solidFill>
                          <a:latin typeface="Segoe UI"/>
                          <a:ea typeface="Segoe UI"/>
                          <a:cs typeface="Segoe UI"/>
                        </a:rPr>
                        <a:t>Note et commentaire de chaque pratiquant</a:t>
                      </a:r>
                    </a:p>
                  </a:txBody>
                  <a:tcPr marL="95250" marR="76200" marT="0" marB="0" anchor="ctr">
                    <a:solidFill>
                      <a:srgbClr val="1B2923"/>
                    </a:solidFill>
                  </a:tcPr>
                </a:tc>
                <a:tc>
                  <a:txBody>
                    <a:bodyPr/>
                    <a:lstStyle/>
                    <a:p>
                      <a:pPr algn="l">
                        <a:buNone/>
                      </a:pPr>
                      <a:r>
                        <a:rPr sz="1875" b="0">
                          <a:solidFill>
                            <a:srgbClr val="F4F7F3"/>
                          </a:solidFill>
                          <a:latin typeface="Segoe UI"/>
                          <a:ea typeface="Segoe UI"/>
                          <a:cs typeface="Segoe UI"/>
                        </a:rPr>
                        <a:t>Au moins 4/5</a:t>
                      </a:r>
                    </a:p>
                  </a:txBody>
                  <a:tcPr marL="95250" marR="76200" marT="0" marB="0" anchor="ctr">
                    <a:solidFill>
                      <a:srgbClr val="1B2923"/>
                    </a:solidFill>
                  </a:tcPr>
                </a:tc>
                <a:extLst>
                  <a:ext uri="{0D108BD9-81ED-4DB2-BD59-A6C34878D82A}">
                    <a16:rowId xmlns:a16="http://schemas.microsoft.com/office/drawing/2014/main" val="10002"/>
                  </a:ext>
                </a:extLst>
              </a:tr>
              <a:tr h="704850">
                <a:tc>
                  <a:txBody>
                    <a:bodyPr/>
                    <a:lstStyle/>
                    <a:p>
                      <a:pPr algn="l">
                        <a:buNone/>
                      </a:pPr>
                      <a:r>
                        <a:rPr sz="1875" b="0">
                          <a:solidFill>
                            <a:srgbClr val="F4F7F3"/>
                          </a:solidFill>
                          <a:latin typeface="Segoe UI"/>
                          <a:ea typeface="Segoe UI"/>
                          <a:cs typeface="Segoe UI"/>
                        </a:rPr>
                        <a:t>Acceptabilité de l’attente</a:t>
                      </a:r>
                    </a:p>
                  </a:txBody>
                  <a:tcPr marL="95250" marR="76200" marT="0" marB="0" anchor="ctr">
                    <a:solidFill>
                      <a:srgbClr val="1B2923"/>
                    </a:solidFill>
                  </a:tcPr>
                </a:tc>
                <a:tc>
                  <a:txBody>
                    <a:bodyPr/>
                    <a:lstStyle/>
                    <a:p>
                      <a:pPr algn="l">
                        <a:buNone/>
                      </a:pPr>
                      <a:r>
                        <a:rPr sz="1875" b="0">
                          <a:solidFill>
                            <a:srgbClr val="F4F7F3"/>
                          </a:solidFill>
                          <a:latin typeface="Segoe UI"/>
                          <a:ea typeface="Segoe UI"/>
                          <a:cs typeface="Segoe UI"/>
                        </a:rPr>
                        <a:t>Note ressentie et temps chronométré distincts</a:t>
                      </a:r>
                    </a:p>
                  </a:txBody>
                  <a:tcPr marL="95250" marR="76200" marT="0" marB="0" anchor="ctr">
                    <a:solidFill>
                      <a:srgbClr val="1B2923"/>
                    </a:solidFill>
                  </a:tcPr>
                </a:tc>
                <a:tc>
                  <a:txBody>
                    <a:bodyPr/>
                    <a:lstStyle/>
                    <a:p>
                      <a:pPr algn="l">
                        <a:buNone/>
                      </a:pPr>
                      <a:r>
                        <a:rPr sz="1875" b="0" dirty="0">
                          <a:solidFill>
                            <a:srgbClr val="F4F7F3"/>
                          </a:solidFill>
                          <a:latin typeface="Segoe UI"/>
                          <a:ea typeface="Segoe UI"/>
                          <a:cs typeface="Segoe UI"/>
                        </a:rPr>
                        <a:t>Au </a:t>
                      </a:r>
                      <a:r>
                        <a:rPr sz="1875" b="0" dirty="0" err="1">
                          <a:solidFill>
                            <a:srgbClr val="F4F7F3"/>
                          </a:solidFill>
                          <a:latin typeface="Segoe UI"/>
                          <a:ea typeface="Segoe UI"/>
                          <a:cs typeface="Segoe UI"/>
                        </a:rPr>
                        <a:t>moins</a:t>
                      </a:r>
                      <a:r>
                        <a:rPr sz="1875" b="0" dirty="0">
                          <a:solidFill>
                            <a:srgbClr val="F4F7F3"/>
                          </a:solidFill>
                          <a:latin typeface="Segoe UI"/>
                          <a:ea typeface="Segoe UI"/>
                          <a:cs typeface="Segoe UI"/>
                        </a:rPr>
                        <a:t> 4/5</a:t>
                      </a:r>
                    </a:p>
                  </a:txBody>
                  <a:tcPr marL="95250" marR="76200" marT="0" marB="0" anchor="ctr">
                    <a:solidFill>
                      <a:srgbClr val="1B2923"/>
                    </a:solidFill>
                  </a:tcPr>
                </a:tc>
                <a:extLst>
                  <a:ext uri="{0D108BD9-81ED-4DB2-BD59-A6C34878D82A}">
                    <a16:rowId xmlns:a16="http://schemas.microsoft.com/office/drawing/2014/main" val="10003"/>
                  </a:ext>
                </a:extLst>
              </a:tr>
            </a:tbl>
          </a:graphicData>
        </a:graphic>
      </p:graphicFrame>
      <p:sp>
        <p:nvSpPr>
          <p:cNvPr id="37" name="Rectangle 36">
            <a:extLst>
              <a:ext uri="{FF2B5EF4-FFF2-40B4-BE49-F238E27FC236}">
                <a16:creationId xmlns:a16="http://schemas.microsoft.com/office/drawing/2014/main" id="{F6828A17-B065-47BC-8147-69FC1A0AE416}"/>
              </a:ext>
            </a:extLst>
          </p:cNvPr>
          <p:cNvSpPr>
            <a:spLocks noGrp="1"/>
          </p:cNvSpPr>
          <p:nvPr/>
        </p:nvSpPr>
        <p:spPr>
          <a:xfrm>
            <a:off x="609600" y="5276850"/>
            <a:ext cx="3476625" cy="333375"/>
          </a:xfrm>
          <a:prstGeom prst="rect">
            <a:avLst/>
          </a:prstGeom>
          <a:noFill/>
          <a:ln w="0">
            <a:noFill/>
          </a:ln>
        </p:spPr>
        <p:txBody>
          <a:bodyPr wrap="square" lIns="0" tIns="0" rIns="0" bIns="0" anchor="t">
            <a:noAutofit/>
          </a:bodyPr>
          <a:lstStyle/>
          <a:p>
            <a:pPr algn="l">
              <a:buNone/>
              <a:defRPr sz="2025" b="1">
                <a:solidFill>
                  <a:srgbClr val="D9BC7F"/>
                </a:solidFill>
                <a:latin typeface="Segoe UI"/>
                <a:ea typeface="Segoe UI"/>
                <a:cs typeface="Segoe UI"/>
              </a:defRPr>
            </a:pPr>
            <a:r>
              <a:rPr sz="2025" b="1">
                <a:solidFill>
                  <a:srgbClr val="D9BC7F"/>
                </a:solidFill>
                <a:latin typeface="Segoe UI"/>
                <a:ea typeface="Segoe UI"/>
                <a:cs typeface="Segoe UI"/>
              </a:rPr>
              <a:t>18 septembre</a:t>
            </a:r>
          </a:p>
        </p:txBody>
      </p:sp>
      <p:sp>
        <p:nvSpPr>
          <p:cNvPr id="38" name="Rectangle 37">
            <a:extLst>
              <a:ext uri="{FF2B5EF4-FFF2-40B4-BE49-F238E27FC236}">
                <a16:creationId xmlns:a16="http://schemas.microsoft.com/office/drawing/2014/main" id="{188F7475-1C3B-4041-B188-6821FAD5A7F3}"/>
              </a:ext>
            </a:extLst>
          </p:cNvPr>
          <p:cNvSpPr>
            <a:spLocks noGrp="1"/>
          </p:cNvSpPr>
          <p:nvPr/>
        </p:nvSpPr>
        <p:spPr>
          <a:xfrm>
            <a:off x="609600" y="5676900"/>
            <a:ext cx="3476625" cy="285750"/>
          </a:xfrm>
          <a:prstGeom prst="rect">
            <a:avLst/>
          </a:prstGeom>
          <a:noFill/>
          <a:ln w="0">
            <a:noFill/>
          </a:ln>
        </p:spPr>
        <p:txBody>
          <a:bodyPr wrap="square" lIns="0" tIns="0" rIns="0" bIns="0" anchor="t">
            <a:noAutofit/>
          </a:bodyPr>
          <a:lstStyle/>
          <a:p>
            <a:pPr algn="l">
              <a:buNone/>
              <a:defRPr sz="1800" b="0">
                <a:solidFill>
                  <a:srgbClr val="F4F7F3"/>
                </a:solidFill>
                <a:latin typeface="Segoe UI"/>
                <a:ea typeface="Segoe UI"/>
                <a:cs typeface="Segoe UI"/>
              </a:defRPr>
            </a:pPr>
            <a:r>
              <a:rPr sz="1800" b="0">
                <a:solidFill>
                  <a:srgbClr val="F4F7F3"/>
                </a:solidFill>
                <a:latin typeface="Segoe UI"/>
                <a:ea typeface="Segoe UI"/>
                <a:cs typeface="Segoe UI"/>
              </a:rPr>
              <a:t>Décision d’ouverture</a:t>
            </a:r>
          </a:p>
        </p:txBody>
      </p:sp>
      <p:sp>
        <p:nvSpPr>
          <p:cNvPr id="39" name="Rectangle 38">
            <a:extLst>
              <a:ext uri="{FF2B5EF4-FFF2-40B4-BE49-F238E27FC236}">
                <a16:creationId xmlns:a16="http://schemas.microsoft.com/office/drawing/2014/main" id="{CD649F7B-B8EA-4F2E-935C-CF542198BCF8}"/>
              </a:ext>
            </a:extLst>
          </p:cNvPr>
          <p:cNvSpPr>
            <a:spLocks noGrp="1"/>
          </p:cNvSpPr>
          <p:nvPr/>
        </p:nvSpPr>
        <p:spPr>
          <a:xfrm>
            <a:off x="4333875" y="5276850"/>
            <a:ext cx="3476625" cy="333375"/>
          </a:xfrm>
          <a:prstGeom prst="rect">
            <a:avLst/>
          </a:prstGeom>
          <a:noFill/>
          <a:ln w="0">
            <a:noFill/>
          </a:ln>
        </p:spPr>
        <p:txBody>
          <a:bodyPr wrap="square" lIns="0" tIns="0" rIns="0" bIns="0" anchor="t">
            <a:noAutofit/>
          </a:bodyPr>
          <a:lstStyle/>
          <a:p>
            <a:pPr algn="l">
              <a:buNone/>
              <a:defRPr sz="2025" b="1">
                <a:solidFill>
                  <a:srgbClr val="D9BC7F"/>
                </a:solidFill>
                <a:latin typeface="Segoe UI"/>
                <a:ea typeface="Segoe UI"/>
                <a:cs typeface="Segoe UI"/>
              </a:defRPr>
            </a:pPr>
            <a:r>
              <a:rPr sz="2025" b="1">
                <a:solidFill>
                  <a:srgbClr val="D9BC7F"/>
                </a:solidFill>
                <a:latin typeface="Segoe UI"/>
                <a:ea typeface="Segoe UI"/>
                <a:cs typeface="Segoe UI"/>
              </a:rPr>
              <a:t>21–25 septembre</a:t>
            </a:r>
          </a:p>
        </p:txBody>
      </p:sp>
      <p:sp>
        <p:nvSpPr>
          <p:cNvPr id="40" name="Rectangle 39">
            <a:extLst>
              <a:ext uri="{FF2B5EF4-FFF2-40B4-BE49-F238E27FC236}">
                <a16:creationId xmlns:a16="http://schemas.microsoft.com/office/drawing/2014/main" id="{67664C55-AC7D-4BB5-BE4B-BC93CD0F7168}"/>
              </a:ext>
            </a:extLst>
          </p:cNvPr>
          <p:cNvSpPr>
            <a:spLocks noGrp="1"/>
          </p:cNvSpPr>
          <p:nvPr/>
        </p:nvSpPr>
        <p:spPr>
          <a:xfrm>
            <a:off x="4333875" y="5676900"/>
            <a:ext cx="3476625" cy="285750"/>
          </a:xfrm>
          <a:prstGeom prst="rect">
            <a:avLst/>
          </a:prstGeom>
          <a:noFill/>
          <a:ln w="0">
            <a:noFill/>
          </a:ln>
        </p:spPr>
        <p:txBody>
          <a:bodyPr wrap="square" lIns="0" tIns="0" rIns="0" bIns="0" anchor="t">
            <a:noAutofit/>
          </a:bodyPr>
          <a:lstStyle/>
          <a:p>
            <a:pPr algn="l">
              <a:buNone/>
              <a:defRPr sz="1800" b="0">
                <a:solidFill>
                  <a:srgbClr val="F4F7F3"/>
                </a:solidFill>
                <a:latin typeface="Segoe UI"/>
                <a:ea typeface="Segoe UI"/>
                <a:cs typeface="Segoe UI"/>
              </a:defRPr>
            </a:pPr>
            <a:r>
              <a:rPr sz="1800" b="0">
                <a:solidFill>
                  <a:srgbClr val="F4F7F3"/>
                </a:solidFill>
                <a:latin typeface="Segoe UI"/>
                <a:ea typeface="Segoe UI"/>
                <a:cs typeface="Segoe UI"/>
              </a:rPr>
              <a:t>Essais utilisateurs</a:t>
            </a:r>
          </a:p>
        </p:txBody>
      </p:sp>
      <p:sp>
        <p:nvSpPr>
          <p:cNvPr id="41" name="Rectangle 40">
            <a:extLst>
              <a:ext uri="{FF2B5EF4-FFF2-40B4-BE49-F238E27FC236}">
                <a16:creationId xmlns:a16="http://schemas.microsoft.com/office/drawing/2014/main" id="{71A2BE32-F212-4D0A-BCCE-E02F0704FD35}"/>
              </a:ext>
            </a:extLst>
          </p:cNvPr>
          <p:cNvSpPr>
            <a:spLocks noGrp="1"/>
          </p:cNvSpPr>
          <p:nvPr/>
        </p:nvSpPr>
        <p:spPr>
          <a:xfrm>
            <a:off x="8058150" y="5276850"/>
            <a:ext cx="3476625" cy="333375"/>
          </a:xfrm>
          <a:prstGeom prst="rect">
            <a:avLst/>
          </a:prstGeom>
          <a:noFill/>
          <a:ln w="0">
            <a:noFill/>
          </a:ln>
        </p:spPr>
        <p:txBody>
          <a:bodyPr wrap="square" lIns="0" tIns="0" rIns="0" bIns="0" anchor="t">
            <a:noAutofit/>
          </a:bodyPr>
          <a:lstStyle/>
          <a:p>
            <a:pPr algn="l">
              <a:buNone/>
              <a:defRPr sz="2025" b="1">
                <a:solidFill>
                  <a:srgbClr val="D9BC7F"/>
                </a:solidFill>
                <a:latin typeface="Segoe UI"/>
                <a:ea typeface="Segoe UI"/>
                <a:cs typeface="Segoe UI"/>
              </a:defRPr>
            </a:pPr>
            <a:r>
              <a:rPr sz="2025" b="1">
                <a:solidFill>
                  <a:srgbClr val="D9BC7F"/>
                </a:solidFill>
                <a:latin typeface="Segoe UI"/>
                <a:ea typeface="Segoe UI"/>
                <a:cs typeface="Segoe UI"/>
              </a:rPr>
              <a:t>28 septembre</a:t>
            </a:r>
          </a:p>
        </p:txBody>
      </p:sp>
      <p:sp>
        <p:nvSpPr>
          <p:cNvPr id="42" name="Rectangle 41">
            <a:extLst>
              <a:ext uri="{FF2B5EF4-FFF2-40B4-BE49-F238E27FC236}">
                <a16:creationId xmlns:a16="http://schemas.microsoft.com/office/drawing/2014/main" id="{7CC064D4-3EF6-4695-A44F-4DD74A1118C1}"/>
              </a:ext>
            </a:extLst>
          </p:cNvPr>
          <p:cNvSpPr>
            <a:spLocks noGrp="1"/>
          </p:cNvSpPr>
          <p:nvPr/>
        </p:nvSpPr>
        <p:spPr>
          <a:xfrm>
            <a:off x="8058150" y="5676900"/>
            <a:ext cx="3476625" cy="285750"/>
          </a:xfrm>
          <a:prstGeom prst="rect">
            <a:avLst/>
          </a:prstGeom>
          <a:noFill/>
          <a:ln w="0">
            <a:noFill/>
          </a:ln>
        </p:spPr>
        <p:txBody>
          <a:bodyPr wrap="square" lIns="0" tIns="0" rIns="0" bIns="0" anchor="t">
            <a:noAutofit/>
          </a:bodyPr>
          <a:lstStyle/>
          <a:p>
            <a:pPr algn="l">
              <a:buNone/>
              <a:defRPr sz="1800" b="0">
                <a:solidFill>
                  <a:srgbClr val="F4F7F3"/>
                </a:solidFill>
                <a:latin typeface="Segoe UI"/>
                <a:ea typeface="Segoe UI"/>
                <a:cs typeface="Segoe UI"/>
              </a:defRPr>
            </a:pPr>
            <a:r>
              <a:rPr sz="1800" b="0">
                <a:solidFill>
                  <a:srgbClr val="F4F7F3"/>
                </a:solidFill>
                <a:latin typeface="Segoe UI"/>
                <a:ea typeface="Segoe UI"/>
                <a:cs typeface="Segoe UI"/>
              </a:rPr>
              <a:t>Synthèse et priorités</a:t>
            </a:r>
          </a:p>
        </p:txBody>
      </p:sp>
      <p:sp>
        <p:nvSpPr>
          <p:cNvPr id="44" name="Rectangle 43">
            <a:extLst>
              <a:ext uri="{FF2B5EF4-FFF2-40B4-BE49-F238E27FC236}">
                <a16:creationId xmlns:a16="http://schemas.microsoft.com/office/drawing/2014/main" id="{4773912A-DFAF-4F03-8A40-0C976AA31A5E}"/>
              </a:ext>
            </a:extLst>
          </p:cNvPr>
          <p:cNvSpPr>
            <a:spLocks noGrp="1"/>
          </p:cNvSpPr>
          <p:nvPr/>
        </p:nvSpPr>
        <p:spPr>
          <a:xfrm>
            <a:off x="609600" y="6457950"/>
            <a:ext cx="8382000" cy="219075"/>
          </a:xfrm>
          <a:prstGeom prst="rect">
            <a:avLst/>
          </a:prstGeom>
          <a:noFill/>
          <a:ln w="0">
            <a:noFill/>
          </a:ln>
        </p:spPr>
        <p:txBody>
          <a:bodyPr wrap="square" lIns="0" tIns="0" rIns="0" bIns="0" anchor="t">
            <a:noAutofit/>
          </a:bodyPr>
          <a:lstStyle/>
          <a:p>
            <a:pPr algn="l">
              <a:buNone/>
              <a:defRPr sz="1125" b="0">
                <a:solidFill>
                  <a:srgbClr val="C1D0C1"/>
                </a:solidFill>
                <a:latin typeface="Segoe UI"/>
                <a:ea typeface="Segoe UI"/>
                <a:cs typeface="Segoe UI"/>
              </a:defRPr>
            </a:pPr>
            <a:r>
              <a:rPr sz="1125" b="0">
                <a:solidFill>
                  <a:srgbClr val="C1D0C1"/>
                </a:solidFill>
                <a:latin typeface="Segoe UI"/>
                <a:ea typeface="Segoe UI"/>
                <a:cs typeface="Segoe UI"/>
              </a:rPr>
              <a:t>Alcide / Pilotage du projet</a:t>
            </a:r>
          </a:p>
        </p:txBody>
      </p:sp>
      <p:sp>
        <p:nvSpPr>
          <p:cNvPr id="45" name="Rectangle 44">
            <a:extLst>
              <a:ext uri="{FF2B5EF4-FFF2-40B4-BE49-F238E27FC236}">
                <a16:creationId xmlns:a16="http://schemas.microsoft.com/office/drawing/2014/main" id="{70B9DAFB-0AEE-4D0A-B372-BB257994192E}"/>
              </a:ext>
            </a:extLst>
          </p:cNvPr>
          <p:cNvSpPr>
            <a:spLocks noGrp="1"/>
          </p:cNvSpPr>
          <p:nvPr/>
        </p:nvSpPr>
        <p:spPr>
          <a:xfrm>
            <a:off x="11049000" y="6438900"/>
            <a:ext cx="533400" cy="228600"/>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23</a:t>
            </a:r>
          </a:p>
        </p:txBody>
      </p:sp>
    </p:spTree>
    <p:extLst>
      <p:ext uri="{BB962C8B-B14F-4D97-AF65-F5344CB8AC3E}">
        <p14:creationId xmlns:p14="http://schemas.microsoft.com/office/powerpoint/2010/main" val="6818451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B2923"/>
        </a:solidFill>
        <a:effectLst/>
      </p:bgPr>
    </p:bg>
    <p:spTree>
      <p:nvGrpSpPr>
        <p:cNvPr id="1" name=""/>
        <p:cNvGrpSpPr/>
        <p:nvPr/>
      </p:nvGrpSpPr>
      <p:grpSpPr>
        <a:xfrm>
          <a:off x="0" y="0"/>
          <a:ext cx="0" cy="0"/>
          <a:chOff x="0" y="0"/>
          <a:chExt cx="0" cy="0"/>
        </a:xfrm>
      </p:grpSpPr>
      <p:pic>
        <p:nvPicPr>
          <p:cNvPr id="34" name="Image 33"/>
          <p:cNvPicPr>
            <a:picLocks noChangeAspect="1"/>
          </p:cNvPicPr>
          <p:nvPr/>
        </p:nvPicPr>
        <p:blipFill>
          <a:blip r:embed="rId3"/>
          <a:srcRect t="27" b="27"/>
          <a:stretch>
            <a:fillRect/>
          </a:stretch>
        </p:blipFill>
        <p:spPr>
          <a:xfrm>
            <a:off x="0" y="0"/>
            <a:ext cx="12192000" cy="6858000"/>
          </a:xfrm>
          <a:prstGeom prst="rect">
            <a:avLst/>
          </a:prstGeom>
        </p:spPr>
      </p:pic>
      <p:sp>
        <p:nvSpPr>
          <p:cNvPr id="19" name="Rectangle 18">
            <a:extLst>
              <a:ext uri="{FF2B5EF4-FFF2-40B4-BE49-F238E27FC236}">
                <a16:creationId xmlns:a16="http://schemas.microsoft.com/office/drawing/2014/main" id="{1BDFAA6C-18B8-41C6-802E-CEDB6E4C32D6}"/>
              </a:ext>
            </a:extLst>
          </p:cNvPr>
          <p:cNvSpPr>
            <a:spLocks noGrp="1"/>
          </p:cNvSpPr>
          <p:nvPr/>
        </p:nvSpPr>
        <p:spPr>
          <a:xfrm>
            <a:off x="609600" y="6457950"/>
            <a:ext cx="8382000" cy="219075"/>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Alcide / Pilotage du projet</a:t>
            </a:r>
          </a:p>
        </p:txBody>
      </p:sp>
      <p:sp>
        <p:nvSpPr>
          <p:cNvPr id="21" name="Rectangle 20">
            <a:extLst>
              <a:ext uri="{FF2B5EF4-FFF2-40B4-BE49-F238E27FC236}">
                <a16:creationId xmlns:a16="http://schemas.microsoft.com/office/drawing/2014/main" id="{A6B54077-B5EB-4CDD-87BA-491836921A66}"/>
              </a:ext>
            </a:extLst>
          </p:cNvPr>
          <p:cNvSpPr>
            <a:spLocks noGrp="1"/>
          </p:cNvSpPr>
          <p:nvPr/>
        </p:nvSpPr>
        <p:spPr>
          <a:xfrm>
            <a:off x="609600" y="609600"/>
            <a:ext cx="10972800" cy="704850"/>
          </a:xfrm>
          <a:prstGeom prst="rect">
            <a:avLst/>
          </a:prstGeom>
          <a:noFill/>
          <a:ln w="0">
            <a:noFill/>
          </a:ln>
        </p:spPr>
        <p:txBody>
          <a:bodyPr wrap="square" lIns="0" tIns="0" rIns="0" bIns="0" anchor="t">
            <a:noAutofit/>
          </a:bodyPr>
          <a:lstStyle/>
          <a:p>
            <a:pPr algn="l">
              <a:buNone/>
              <a:defRPr sz="3750" b="1">
                <a:solidFill>
                  <a:srgbClr val="F4F7F3"/>
                </a:solidFill>
                <a:latin typeface="Segoe UI"/>
                <a:ea typeface="Segoe UI"/>
                <a:cs typeface="Segoe UI"/>
              </a:defRPr>
            </a:pPr>
            <a:r>
              <a:rPr sz="3750" b="1">
                <a:solidFill>
                  <a:srgbClr val="F4F7F3"/>
                </a:solidFill>
                <a:latin typeface="Segoe UI"/>
                <a:ea typeface="Segoe UI"/>
                <a:cs typeface="Segoe UI"/>
              </a:rPr>
              <a:t>Bilan et prochaines étapes</a:t>
            </a:r>
          </a:p>
        </p:txBody>
      </p:sp>
      <p:sp>
        <p:nvSpPr>
          <p:cNvPr id="22" name="Rectangle 21">
            <a:extLst>
              <a:ext uri="{FF2B5EF4-FFF2-40B4-BE49-F238E27FC236}">
                <a16:creationId xmlns:a16="http://schemas.microsoft.com/office/drawing/2014/main" id="{44C60FE3-73F9-4F17-8481-0B4A8AA42297}"/>
              </a:ext>
            </a:extLst>
          </p:cNvPr>
          <p:cNvSpPr>
            <a:spLocks noGrp="1"/>
          </p:cNvSpPr>
          <p:nvPr/>
        </p:nvSpPr>
        <p:spPr>
          <a:xfrm>
            <a:off x="609600" y="2076450"/>
            <a:ext cx="3209925" cy="733425"/>
          </a:xfrm>
          <a:prstGeom prst="rect">
            <a:avLst/>
          </a:prstGeom>
          <a:noFill/>
          <a:ln w="0">
            <a:noFill/>
          </a:ln>
        </p:spPr>
        <p:txBody>
          <a:bodyPr wrap="square" lIns="0" tIns="0" rIns="0" bIns="0" anchor="t">
            <a:noAutofit/>
          </a:bodyPr>
          <a:lstStyle/>
          <a:p>
            <a:pPr algn="l">
              <a:buNone/>
              <a:defRPr sz="2325" b="1">
                <a:solidFill>
                  <a:srgbClr val="BACDB7"/>
                </a:solidFill>
                <a:latin typeface="Segoe UI"/>
                <a:ea typeface="Segoe UI"/>
                <a:cs typeface="Segoe UI"/>
              </a:defRPr>
            </a:pPr>
            <a:r>
              <a:rPr sz="2325" b="1">
                <a:solidFill>
                  <a:srgbClr val="BACDB7"/>
                </a:solidFill>
                <a:latin typeface="Segoe UI"/>
                <a:ea typeface="Segoe UI"/>
                <a:cs typeface="Segoe UI"/>
              </a:rPr>
              <a:t>Parcours</a:t>
            </a:r>
          </a:p>
        </p:txBody>
      </p:sp>
      <p:sp>
        <p:nvSpPr>
          <p:cNvPr id="23" name="Rectangle 22">
            <a:extLst>
              <a:ext uri="{FF2B5EF4-FFF2-40B4-BE49-F238E27FC236}">
                <a16:creationId xmlns:a16="http://schemas.microsoft.com/office/drawing/2014/main" id="{7004A858-612D-481C-AE18-6A1813CEFA03}"/>
              </a:ext>
            </a:extLst>
          </p:cNvPr>
          <p:cNvSpPr>
            <a:spLocks noGrp="1"/>
          </p:cNvSpPr>
          <p:nvPr/>
        </p:nvSpPr>
        <p:spPr>
          <a:xfrm>
            <a:off x="4114800" y="2076450"/>
            <a:ext cx="7467600" cy="857250"/>
          </a:xfrm>
          <a:prstGeom prst="rect">
            <a:avLst/>
          </a:prstGeom>
          <a:noFill/>
          <a:ln w="0">
            <a:noFill/>
          </a:ln>
        </p:spPr>
        <p:txBody>
          <a:bodyPr wrap="square" lIns="0" tIns="0" rIns="0" bIns="0" anchor="t">
            <a:noAutofit/>
          </a:bodyPr>
          <a:lstStyle/>
          <a:p>
            <a:pPr algn="l">
              <a:buNone/>
              <a:defRPr sz="2325" b="0">
                <a:solidFill>
                  <a:srgbClr val="F4F7F3"/>
                </a:solidFill>
                <a:latin typeface="Segoe UI"/>
                <a:ea typeface="Segoe UI"/>
                <a:cs typeface="Segoe UI"/>
              </a:defRPr>
            </a:pPr>
            <a:r>
              <a:rPr sz="2325" b="0">
                <a:solidFill>
                  <a:srgbClr val="F4F7F3"/>
                </a:solidFill>
                <a:latin typeface="Segoe UI"/>
                <a:ea typeface="Segoe UI"/>
                <a:cs typeface="Segoe UI"/>
              </a:rPr>
              <a:t>Préparer, retrouver et suivre sa séance : parcours testé.</a:t>
            </a:r>
          </a:p>
        </p:txBody>
      </p:sp>
      <p:sp>
        <p:nvSpPr>
          <p:cNvPr id="24" name="Rectangle 23">
            <a:extLst>
              <a:ext uri="{FF2B5EF4-FFF2-40B4-BE49-F238E27FC236}">
                <a16:creationId xmlns:a16="http://schemas.microsoft.com/office/drawing/2014/main" id="{D56FDBFF-7363-4DB8-B94D-277DE04314B3}"/>
              </a:ext>
            </a:extLst>
          </p:cNvPr>
          <p:cNvSpPr>
            <a:spLocks noGrp="1"/>
          </p:cNvSpPr>
          <p:nvPr/>
        </p:nvSpPr>
        <p:spPr>
          <a:xfrm>
            <a:off x="609600" y="3028950"/>
            <a:ext cx="10972800" cy="9525"/>
          </a:xfrm>
          <a:prstGeom prst="rect">
            <a:avLst/>
          </a:prstGeom>
          <a:solidFill>
            <a:srgbClr val="5F7B69"/>
          </a:solidFill>
          <a:ln w="0">
            <a:noFill/>
          </a:ln>
        </p:spPr>
        <p:txBody>
          <a:bodyPr/>
          <a:lstStyle/>
          <a:p>
            <a:endParaRPr lang="fr-FR"/>
          </a:p>
        </p:txBody>
      </p:sp>
      <p:sp>
        <p:nvSpPr>
          <p:cNvPr id="25" name="Rectangle 24">
            <a:extLst>
              <a:ext uri="{FF2B5EF4-FFF2-40B4-BE49-F238E27FC236}">
                <a16:creationId xmlns:a16="http://schemas.microsoft.com/office/drawing/2014/main" id="{AE431C53-72E6-4B1B-8A8A-A5FBC38076F2}"/>
              </a:ext>
            </a:extLst>
          </p:cNvPr>
          <p:cNvSpPr>
            <a:spLocks noGrp="1"/>
          </p:cNvSpPr>
          <p:nvPr/>
        </p:nvSpPr>
        <p:spPr>
          <a:xfrm>
            <a:off x="609600" y="3238500"/>
            <a:ext cx="3209925" cy="733425"/>
          </a:xfrm>
          <a:prstGeom prst="rect">
            <a:avLst/>
          </a:prstGeom>
          <a:noFill/>
          <a:ln w="0">
            <a:noFill/>
          </a:ln>
        </p:spPr>
        <p:txBody>
          <a:bodyPr wrap="square" lIns="0" tIns="0" rIns="0" bIns="0" anchor="t">
            <a:noAutofit/>
          </a:bodyPr>
          <a:lstStyle/>
          <a:p>
            <a:pPr algn="l">
              <a:buNone/>
              <a:defRPr sz="2325" b="1">
                <a:solidFill>
                  <a:srgbClr val="BACDB7"/>
                </a:solidFill>
                <a:latin typeface="Segoe UI"/>
                <a:ea typeface="Segoe UI"/>
                <a:cs typeface="Segoe UI"/>
              </a:defRPr>
            </a:pPr>
            <a:r>
              <a:rPr sz="2325" b="1">
                <a:solidFill>
                  <a:srgbClr val="BACDB7"/>
                </a:solidFill>
                <a:latin typeface="Segoe UI"/>
                <a:ea typeface="Segoe UI"/>
                <a:cs typeface="Segoe UI"/>
              </a:rPr>
              <a:t>Équipe</a:t>
            </a:r>
          </a:p>
        </p:txBody>
      </p:sp>
      <p:sp>
        <p:nvSpPr>
          <p:cNvPr id="26" name="Rectangle 25">
            <a:extLst>
              <a:ext uri="{FF2B5EF4-FFF2-40B4-BE49-F238E27FC236}">
                <a16:creationId xmlns:a16="http://schemas.microsoft.com/office/drawing/2014/main" id="{DD1C8A6A-22A3-4FDE-BF79-6F0D25569E64}"/>
              </a:ext>
            </a:extLst>
          </p:cNvPr>
          <p:cNvSpPr>
            <a:spLocks noGrp="1"/>
          </p:cNvSpPr>
          <p:nvPr/>
        </p:nvSpPr>
        <p:spPr>
          <a:xfrm>
            <a:off x="4114800" y="3238500"/>
            <a:ext cx="7467600" cy="857250"/>
          </a:xfrm>
          <a:prstGeom prst="rect">
            <a:avLst/>
          </a:prstGeom>
          <a:noFill/>
          <a:ln w="0">
            <a:noFill/>
          </a:ln>
        </p:spPr>
        <p:txBody>
          <a:bodyPr wrap="square" lIns="0" tIns="0" rIns="0" bIns="0" anchor="t">
            <a:noAutofit/>
          </a:bodyPr>
          <a:lstStyle/>
          <a:p>
            <a:pPr algn="l">
              <a:buNone/>
              <a:defRPr sz="2325" b="0">
                <a:solidFill>
                  <a:srgbClr val="F4F7F3"/>
                </a:solidFill>
                <a:latin typeface="Segoe UI"/>
                <a:ea typeface="Segoe UI"/>
                <a:cs typeface="Segoe UI"/>
              </a:defRPr>
            </a:pPr>
            <a:r>
              <a:rPr sz="2325" b="0">
                <a:solidFill>
                  <a:srgbClr val="F4F7F3"/>
                </a:solidFill>
                <a:latin typeface="Segoe UI"/>
                <a:ea typeface="Segoe UI"/>
                <a:cs typeface="Segoe UI"/>
              </a:rPr>
              <a:t>Des responsabilités et des contrôles organisés</a:t>
            </a:r>
          </a:p>
          <a:p>
            <a:pPr algn="l">
              <a:buNone/>
              <a:defRPr sz="2325" b="0">
                <a:solidFill>
                  <a:srgbClr val="F4F7F3"/>
                </a:solidFill>
                <a:latin typeface="Segoe UI"/>
                <a:ea typeface="Segoe UI"/>
                <a:cs typeface="Segoe UI"/>
              </a:defRPr>
            </a:pPr>
            <a:r>
              <a:rPr sz="2325" b="0">
                <a:solidFill>
                  <a:srgbClr val="F4F7F3"/>
                </a:solidFill>
                <a:latin typeface="Segoe UI"/>
                <a:ea typeface="Segoe UI"/>
                <a:cs typeface="Segoe UI"/>
              </a:rPr>
              <a:t>pour préparer le premier pilote.</a:t>
            </a:r>
          </a:p>
        </p:txBody>
      </p:sp>
      <p:sp>
        <p:nvSpPr>
          <p:cNvPr id="27" name="Rectangle 26">
            <a:extLst>
              <a:ext uri="{FF2B5EF4-FFF2-40B4-BE49-F238E27FC236}">
                <a16:creationId xmlns:a16="http://schemas.microsoft.com/office/drawing/2014/main" id="{F75182C0-71DD-4FC6-9826-CE0199057376}"/>
              </a:ext>
            </a:extLst>
          </p:cNvPr>
          <p:cNvSpPr>
            <a:spLocks noGrp="1"/>
          </p:cNvSpPr>
          <p:nvPr/>
        </p:nvSpPr>
        <p:spPr>
          <a:xfrm>
            <a:off x="609600" y="4191000"/>
            <a:ext cx="10972800" cy="9525"/>
          </a:xfrm>
          <a:prstGeom prst="rect">
            <a:avLst/>
          </a:prstGeom>
          <a:solidFill>
            <a:srgbClr val="5F7B69"/>
          </a:solidFill>
          <a:ln w="0">
            <a:noFill/>
          </a:ln>
        </p:spPr>
        <p:txBody>
          <a:bodyPr/>
          <a:lstStyle/>
          <a:p>
            <a:endParaRPr lang="fr-FR"/>
          </a:p>
        </p:txBody>
      </p:sp>
      <p:sp>
        <p:nvSpPr>
          <p:cNvPr id="28" name="Rectangle 27">
            <a:extLst>
              <a:ext uri="{FF2B5EF4-FFF2-40B4-BE49-F238E27FC236}">
                <a16:creationId xmlns:a16="http://schemas.microsoft.com/office/drawing/2014/main" id="{EBC2B858-0040-4D9D-8F08-AC1A068EF1C5}"/>
              </a:ext>
            </a:extLst>
          </p:cNvPr>
          <p:cNvSpPr>
            <a:spLocks noGrp="1"/>
          </p:cNvSpPr>
          <p:nvPr/>
        </p:nvSpPr>
        <p:spPr>
          <a:xfrm>
            <a:off x="609600" y="4400550"/>
            <a:ext cx="3209925" cy="733425"/>
          </a:xfrm>
          <a:prstGeom prst="rect">
            <a:avLst/>
          </a:prstGeom>
          <a:noFill/>
          <a:ln w="0">
            <a:noFill/>
          </a:ln>
        </p:spPr>
        <p:txBody>
          <a:bodyPr wrap="square" lIns="0" tIns="0" rIns="0" bIns="0" anchor="t">
            <a:noAutofit/>
          </a:bodyPr>
          <a:lstStyle/>
          <a:p>
            <a:pPr algn="l">
              <a:buNone/>
              <a:defRPr sz="2325" b="1">
                <a:solidFill>
                  <a:srgbClr val="BACDB7"/>
                </a:solidFill>
                <a:latin typeface="Segoe UI"/>
                <a:ea typeface="Segoe UI"/>
                <a:cs typeface="Segoe UI"/>
              </a:defRPr>
            </a:pPr>
            <a:r>
              <a:rPr sz="2325" b="1">
                <a:solidFill>
                  <a:srgbClr val="BACDB7"/>
                </a:solidFill>
                <a:latin typeface="Segoe UI"/>
                <a:ea typeface="Segoe UI"/>
                <a:cs typeface="Segoe UI"/>
              </a:rPr>
              <a:t>Prochaine décision</a:t>
            </a:r>
          </a:p>
        </p:txBody>
      </p:sp>
      <p:sp>
        <p:nvSpPr>
          <p:cNvPr id="29" name="Rectangle 28">
            <a:extLst>
              <a:ext uri="{FF2B5EF4-FFF2-40B4-BE49-F238E27FC236}">
                <a16:creationId xmlns:a16="http://schemas.microsoft.com/office/drawing/2014/main" id="{0E7672B9-D531-43AE-8A59-A6B025E96BC0}"/>
              </a:ext>
            </a:extLst>
          </p:cNvPr>
          <p:cNvSpPr>
            <a:spLocks noGrp="1"/>
          </p:cNvSpPr>
          <p:nvPr/>
        </p:nvSpPr>
        <p:spPr>
          <a:xfrm>
            <a:off x="4114800" y="4400550"/>
            <a:ext cx="7467600" cy="857250"/>
          </a:xfrm>
          <a:prstGeom prst="rect">
            <a:avLst/>
          </a:prstGeom>
          <a:noFill/>
          <a:ln w="0">
            <a:noFill/>
          </a:ln>
        </p:spPr>
        <p:txBody>
          <a:bodyPr wrap="square" lIns="0" tIns="0" rIns="0" bIns="0" anchor="t">
            <a:noAutofit/>
          </a:bodyPr>
          <a:lstStyle/>
          <a:p>
            <a:pPr algn="l">
              <a:buNone/>
              <a:defRPr sz="2325" b="0">
                <a:solidFill>
                  <a:srgbClr val="F4F7F3"/>
                </a:solidFill>
                <a:latin typeface="Segoe UI"/>
                <a:ea typeface="Segoe UI"/>
                <a:cs typeface="Segoe UI"/>
              </a:defRPr>
            </a:pPr>
            <a:r>
              <a:rPr sz="2325" b="0">
                <a:solidFill>
                  <a:srgbClr val="F4F7F3"/>
                </a:solidFill>
                <a:latin typeface="Segoe UI"/>
                <a:ea typeface="Segoe UI"/>
                <a:cs typeface="Segoe UI"/>
              </a:rPr>
              <a:t>Décider du pilote avec 5 pratiquants le 18 septembre,</a:t>
            </a:r>
          </a:p>
          <a:p>
            <a:pPr algn="l">
              <a:buNone/>
              <a:defRPr sz="2325" b="0">
                <a:solidFill>
                  <a:srgbClr val="F4F7F3"/>
                </a:solidFill>
                <a:latin typeface="Segoe UI"/>
                <a:ea typeface="Segoe UI"/>
                <a:cs typeface="Segoe UI"/>
              </a:defRPr>
            </a:pPr>
            <a:r>
              <a:rPr sz="2325" b="0">
                <a:solidFill>
                  <a:srgbClr val="F4F7F3"/>
                </a:solidFill>
                <a:latin typeface="Segoe UI"/>
                <a:ea typeface="Segoe UI"/>
                <a:cs typeface="Segoe UI"/>
              </a:rPr>
              <a:t>après examen des résultats et réserves.</a:t>
            </a:r>
          </a:p>
        </p:txBody>
      </p:sp>
      <p:sp>
        <p:nvSpPr>
          <p:cNvPr id="32" name="Rectangle 31">
            <a:extLst>
              <a:ext uri="{FF2B5EF4-FFF2-40B4-BE49-F238E27FC236}">
                <a16:creationId xmlns:a16="http://schemas.microsoft.com/office/drawing/2014/main" id="{41FF7948-A644-40A4-A047-72C1C596F236}"/>
              </a:ext>
            </a:extLst>
          </p:cNvPr>
          <p:cNvSpPr>
            <a:spLocks noGrp="1"/>
          </p:cNvSpPr>
          <p:nvPr/>
        </p:nvSpPr>
        <p:spPr>
          <a:xfrm>
            <a:off x="11049000" y="6438900"/>
            <a:ext cx="533400" cy="228600"/>
          </a:xfrm>
          <a:prstGeom prst="rect">
            <a:avLst/>
          </a:prstGeom>
          <a:noFill/>
          <a:ln w="0">
            <a:noFill/>
          </a:ln>
        </p:spPr>
        <p:txBody>
          <a:bodyPr wrap="square" lIns="0" tIns="0" rIns="0" bIns="0" anchor="t">
            <a:noAutofit/>
          </a:bodyPr>
          <a:lstStyle/>
          <a:p>
            <a:pPr algn="l">
              <a:buNone/>
              <a:defRPr sz="1200" b="0">
                <a:solidFill>
                  <a:srgbClr val="C1D0C1"/>
                </a:solidFill>
                <a:latin typeface="Segoe UI"/>
                <a:ea typeface="Segoe UI"/>
                <a:cs typeface="Segoe UI"/>
              </a:defRPr>
            </a:pPr>
            <a:r>
              <a:rPr sz="1200" b="0">
                <a:solidFill>
                  <a:srgbClr val="C1D0C1"/>
                </a:solidFill>
                <a:latin typeface="Segoe UI"/>
                <a:ea typeface="Segoe UI"/>
                <a:cs typeface="Segoe UI"/>
              </a:rPr>
              <a:t>24</a:t>
            </a:r>
          </a:p>
        </p:txBody>
      </p:sp>
    </p:spTree>
    <p:extLst>
      <p:ext uri="{BB962C8B-B14F-4D97-AF65-F5344CB8AC3E}">
        <p14:creationId xmlns:p14="http://schemas.microsoft.com/office/powerpoint/2010/main" val="89358221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TotalTime>
  <Words>5246</Words>
  <Application>Microsoft Office PowerPoint</Application>
  <DocSecurity>0</DocSecurity>
  <PresentationFormat>Grand écran</PresentationFormat>
  <Paragraphs>723</Paragraphs>
  <Slides>24</Slides>
  <Notes>24</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24</vt:i4>
      </vt:variant>
    </vt:vector>
  </HeadingPairs>
  <TitlesOfParts>
    <vt:vector size="27" baseType="lpstr">
      <vt:lpstr>Calibri</vt:lpstr>
      <vt:lpstr>Segoe UI</vt:lpstr>
      <vt:lpstr>ChatGPT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MARGUET Kévin</cp:lastModifiedBy>
  <cp:revision>6</cp:revision>
  <dcterms:created xsi:type="dcterms:W3CDTF">2026-09-14T10:56:53Z</dcterms:created>
  <dcterms:modified xsi:type="dcterms:W3CDTF">2026-09-14T17:03:38Z</dcterms:modified>
</cp:coreProperties>
</file>